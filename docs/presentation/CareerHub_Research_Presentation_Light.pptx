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I am presenting a research proposal on an intelligent semantic professional identity framework for cross-platform recruitment form understanding and browser-assisted autofill — the CareerHub project.</a:t>
            </a:r>
          </a:p>
          <a:p/>
          <a:p>
            <a:r>
              <a:t>In one sentence: students maintain one verified professional profile, and an AI-powered browser extension semantically understands any recruitment form and fills it automatically, with confidence-scored predictions and human oversight.</a:t>
            </a:r>
          </a:p>
          <a:p/>
          <a:p>
            <a:r>
              <a:t>A working prototype already exists as a Turborepo monorepo — a Next.js web portal, an admin dashboard, a Chrome Manifest V3 extension, and a shared semantic-engine package with an ontology of 70+ professional attributes. This proposal formalizes the research questions behind that system.</a:t>
            </a:r>
          </a:p>
          <a:p/>
          <a:p>
            <a:r>
              <a:t>[Edit the guide name, department, and date placeholders in the bottom strip.]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platform on the left asks for the same information: name, education, experience, skills, links. A student applying for internships fills 80+ near-identical fields on LinkedIn, Internshala, Naukri, Wellfound, Google Careers, the university placement portal, hackathon portals, and individual company career sites.</a:t>
            </a:r>
          </a:p>
          <a:p/>
          <a:p>
            <a:r>
              <a:t>The dashboard on the right quantifies the cost: 80+ repeated fields per application cycle, 10+ platforms, roughly 20 hours lost per hiring season, and a high manual error rate — typos, outdated CGPA, inconsistent dates. (Figures are motivating estimates; the proposed benchmark dataset will let us measure them rigorously.)</a:t>
            </a:r>
          </a:p>
          <a:p/>
          <a:p>
            <a:r>
              <a:t>Key line: the problem is not one form — it is the same form, everywhere, forever.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left panel shows today's workflow: open a portal, create yet another account, upload the resume the portal cannot fully parse, then hand-fill roughly 80 fields — and repeat this loop for every platform. The three red 'Repeat Again' steps are the core inefficiency.</a:t>
            </a:r>
          </a:p>
          <a:p/>
          <a:p>
            <a:r>
              <a:t>Right panel — six systemic pain points: it is time consuming, effort is repeated, data drifts out of sync across platforms, manual entry introduces errors, no portal reuses an existing profile, and — most importantly for this research — no tool semantically understands what a form field is actually asking.</a:t>
            </a:r>
          </a:p>
          <a:p/>
          <a:p>
            <a:r>
              <a:t>Formally, our problem statement asks: how can a browser-based system leverage semantic understanding to map heterogeneous recruitment form fields to a standardized professional-profile ontology, with confidence-scored predictions and human oversight? This decomposes into six sub-problems (SP1–SP6): knowledge representation, semantic field understanding, multi-strategy fusion, confidence-gated automation, benchmarking, and privacy-preserving sharing.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surrounding node is a mature research or engineering domain: browser autofill, resume parsing, sentence embeddings, digital identity and SSI, recruitment AI, browser extensions, HTML form standards, and semantic search. Deliberately, nothing on the left is connected — that is the finding.</a:t>
            </a:r>
          </a:p>
          <a:p/>
          <a:p>
            <a:r>
              <a:t>Our literature review identified five concrete gaps: (1) no unified semantic-ontology system for recruitment form automation; (2) unresolved heterogeneity in ATS field naming across Greenhouse, Lever, Workday, Taleo, LinkedIn, and Indeed; (3) no public benchmark dataset for recruitment form field mapping — FUNSD covers scanned forms, not live web forms; (4) rigid rule-based autofill fails on unseen layouts, with no confidence-scored fallback; (5) privacy-preserving selective profile sharing is unexplored in recruitment.</a:t>
            </a:r>
          </a:p>
          <a:p/>
          <a:p>
            <a:r>
              <a:t>The right side is our contribution: a single framework in which all eight domains interoperate around one professional identity ontology.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heart of the proposal. Reading the pipeline top to bottom: the student maintains one professional profile in CareerHub. The CareerHub AI layer feeds a Semantic Understanding Engine — highlighted because it is the research core: a formal ontology of 70+ professional attributes with synonyms, relationships, and variations. A Manifest V3 browser extension carries that intelligence to any page, performs semantic field mapping using a hybrid of deterministic rules, keyword matching, and embedding similarity, and works across cross-platform recruitment portals. The result: automatic, intelligent, confidence-gated autofill.</a:t>
            </a:r>
          </a:p>
          <a:p/>
          <a:p>
            <a:r>
              <a:t>On the right — the target surface: consumer platforms (LinkedIn, Internshala, Naukri, Wellfound), modern ATS providers (Greenhouse, Lever, Ashby), big-tech career portals, and the long tail of custom company portals. The framework generalizes because it understands fields semantically instead of memorizing per-site templates.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Walking the pipeline: the user's CareerHub professional identity is loaded by the browser extension. On any recruitment page, the DOM extraction engine collects candidate inputs; metadata extraction captures label, name, id, placeholder, and ARIA context for each field. The AI stage — semantic embedding, field classification, and confidence ranking — maps each field to an ontology attribute with a calibrated score. Above the auto-fill threshold the field is filled; in the uncertain band the user confirms; below it the system defers. Then autofill executes and the form is submitted. Green nodes are human touchpoints — automation never removes oversight.</a:t>
            </a:r>
          </a:p>
          <a:p/>
          <a:p>
            <a:r>
              <a:t>The four model cards: all-MiniLM-L6-v2 for sentence embeddings, DeBERTa-v3 for form field understanding, LayoutLMv3 for resume parsing, and LightGBM for confidence fusion over all strategy scores.</a:t>
            </a:r>
          </a:p>
          <a:p/>
          <a:p>
            <a:r>
              <a:t>Note for questions: the current prototype implements the deterministic rule engine, keyword matcher, and TF-IDF semantic matcher inside the shared semantic-engine package; the transformer models shown here are the proposed research upgrades to be benchmarked against that statistical baseline.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a:t>
            </a:r>
          </a:p>
          <a:p/>
          <a:p>
            <a:r>
              <a:t>EXPLAIN: Read the pipeline left to right in three phases — browser phase (extension extracts the DOM and field metadata), AI phase in indigo (embedding, classification, confidence ranking, profile mapping), human phase in green (confirmation, then autofill). Then anchor each AI stage to its model card below: MiniLM for similarity, DeBERTa for context-aware classification, LightGBM to fuse strategy scores. Point out that LayoutLMv3 is deliberately marked FUTURE — current research focuses on the HTML dataset (next slide).</a:t>
            </a:r>
          </a:p>
          <a:p/>
          <a:p>
            <a:r>
              <a:t>DO NOT EXPLAIN: Chrome extension APIs, training hyperparameters, or the TF-IDF baseline internals — hold those for questions.</a:t>
            </a:r>
          </a:p>
          <a:p/>
          <a:p>
            <a:r>
              <a:t>EXPECTED QUESTIONS:</a:t>
            </a:r>
          </a:p>
          <a:p>
            <a:r>
              <a:t>Q: Why MiniLM instead of an LLM? A: 22M parameters, ~384-d vectors, millisecond CPU inference — it can run client-side, preserving privacy and latency budgets; an LLM adds cost and data-exposure risk for a similarity task.</a:t>
            </a:r>
          </a:p>
          <a:p>
            <a:r>
              <a:t>Q: Why is resume parsing future work? A: Phase 1 collects the HTML field dataset; resume extraction needs its own labeled corpus and does not block the core mapping research.</a:t>
            </a:r>
          </a:p>
          <a:p>
            <a:r>
              <a:t>Q: What does LightGBM actually learn? A: Given rule, keyword, and embedding scores plus field metadata features, it predicts whether a candidate mapping is correct — producing the calibrated confidence used for gating.</a:t>
            </a:r>
          </a:p>
          <a:p/>
          <a:p>
            <a:r>
              <a:t>KEYWORDS: sentence embedding, cosine similarity, transformer classification, gradient-boosted confidence fusion, confidence-gated automation.</a:t>
            </a:r>
          </a:p>
          <a:p/>
          <a:p>
            <a:r>
              <a:t>CONTRIBUTION: first recruitment-specific hybrid mapping pipeline with an explicit human-oversight gate.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 This is the core research deliverable slide — slow down.</a:t>
            </a:r>
          </a:p>
          <a:p/>
          <a:p>
            <a:r>
              <a:t>EXPLAIN: The collection pipeline: the extension visits recruitment websites, the DOM analyzer finds candidate fields, metadata extraction captures label, name, id, placeholder, XPath, CSS selector, ARIA attributes, and nearby text. The annotation platform adds human ground-truth labels, producing a versioned semantic dataset that becomes AI training data. Then the three artifacts: raw HTML dataset, dual-reviewed annotation dataset, and a portal knowledge graph linking portals, frameworks, and field dictionaries. Close on targets: 50+ websites, 20K+ fields, 100+ semantic categories.</a:t>
            </a:r>
          </a:p>
          <a:p/>
          <a:p>
            <a:r>
              <a:t>DO NOT EXPLAIN: Annotation tool UI, database schema — reference docs/research/Dataset_Design.md if pressed.</a:t>
            </a:r>
          </a:p>
          <a:p/>
          <a:p>
            <a:r>
              <a:t>EXPECTED QUESTIONS:</a:t>
            </a:r>
          </a:p>
          <a:p>
            <a:r>
              <a:t>Q: How do you ensure annotation quality? A: Dual reviewer workflow, per-label confidence, and version tracking (Card 02); disagreements are adjudicated.</a:t>
            </a:r>
          </a:p>
          <a:p>
            <a:r>
              <a:t>Q: Is scraping recruitment sites permitted? A: We collect only public form structure metadata — never user data or submissions — respecting robots.txt and site terms; the released dataset is anonymized field metadata.</a:t>
            </a:r>
          </a:p>
          <a:p>
            <a:r>
              <a:t>Q: Why is this novel? A: FUNSD and CommonForms cover scanned or generic forms; no public dataset maps live recruitment HTML fields to a professional ontology (Research Gap 3).</a:t>
            </a:r>
          </a:p>
          <a:p/>
          <a:p>
            <a:r>
              <a:t>KEYWORDS: ground truth, inter-annotator agreement, ontology mapping, benchmark dataset, DOM metadata.</a:t>
            </a:r>
          </a:p>
          <a:p/>
          <a:p>
            <a:r>
              <a:t>CONTRIBUTION: the first public benchmark dataset for recruitment form field mapping — enables reproducible comparison of rule-based, statistical, and transformer approaches.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~90 seconds. Do NOT read all fourteen rows.</a:t>
            </a:r>
          </a:p>
          <a:p/>
          <a:p>
            <a:r>
              <a:t>EXPLAIN: Walk only three rows — Purpose, Supported Information, and Confidence Score — then gesture at the pattern: the gray column is full of NO pills, the indigo column is full of YES pills and capabilities. Land the bottom line: Google Autofill stores browser data; CareerHub understands professional identity. That sentence is the slide.</a:t>
            </a:r>
          </a:p>
          <a:p/>
          <a:p>
            <a:r>
              <a:t>DO NOT EXPLAIN: Row-by-row details, browser internals, or password managers — the pattern matters more than any single row.</a:t>
            </a:r>
          </a:p>
          <a:p/>
          <a:p>
            <a:r>
              <a:t>EXPECTED QUESTIONS:</a:t>
            </a:r>
          </a:p>
          <a:p>
            <a:r>
              <a:t>Q: Why not build on top of Google Autofill? A: It is closed, its vocabulary is generic (name, address, payment), it exposes no confidence signal, and it cannot represent structured professional attributes like publications or projects.</a:t>
            </a:r>
          </a:p>
          <a:p>
            <a:r>
              <a:t>Q: What about password managers like 1Password? A: Same category — credential and contact autofill without domain semantics; our literature review covers them under Gap 1.</a:t>
            </a:r>
          </a:p>
          <a:p>
            <a:r>
              <a:t>Q: Is the comparison fair? A: Yes — we compare capability classes, not implementation quality; Google Autofill is excellent at what it targets.</a:t>
            </a:r>
          </a:p>
          <a:p/>
          <a:p>
            <a:r>
              <a:t>KEYWORDS: domain-specific ontology, semantic understanding, confidence score, capability gap.</a:t>
            </a:r>
          </a:p>
          <a:p/>
          <a:p>
            <a:r>
              <a:t>CONTRIBUTION: positions the work against the strongest deployed baseline and makes the research delta visually undeniable.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a:t>
            </a:r>
          </a:p>
          <a:p/>
          <a:p>
            <a:r>
              <a:t>EXPLAIN: Walk chronologically. Each card has a green dot (contribution) and a red dot (limitation): 2017 rule-based autofill frameworks break on unseen layouts; 2020 self-sovereign identity gives user-controlled credentials but was never applied to recruitment; 2020 autofill security work maps the attack surface for generic fields; 2024 sentence embeddings make semantic similarity cheap but nobody applied them to form fields; 2024 resume parsing extracts CVs one-way with no form mapping; 2026 PageGuide brings LLM page understanding without a profile ontology; 2026 CommonForms provides a large form corpus that is not recruitment-specific. The indigo card is us — the integration point. End on the bottom statement.</a:t>
            </a:r>
          </a:p>
          <a:p/>
          <a:p>
            <a:r>
              <a:t>DO NOT EXPLAIN: Full citations or methodology of each paper — keep a references slide/appendix ready instead (see docs/research/Literature_Review.md).</a:t>
            </a:r>
          </a:p>
          <a:p/>
          <a:p>
            <a:r>
              <a:t>EXPECTED QUESTIONS:</a:t>
            </a:r>
          </a:p>
          <a:p>
            <a:r>
              <a:t>Q: Which venues are these from? A: Have the bibliography ready; say venues range from security conferences to NLP venues, compiled in our literature review document.</a:t>
            </a:r>
          </a:p>
          <a:p>
            <a:r>
              <a:t>Q: Is integration alone a contribution? A: Integration plus the benchmark dataset plus confidence-gated mapping — each addresses a documented gap; novelty is the unified framework, validated empirically.</a:t>
            </a:r>
          </a:p>
          <a:p/>
          <a:p>
            <a:r>
              <a:t>KEYWORDS: research gap, self-sovereign identity, sentence embeddings, form understanding corpus, unified framework.</a:t>
            </a:r>
          </a:p>
          <a:p/>
          <a:p>
            <a:r>
              <a:t>CONTRIBUTION: situates the proposal in eight years of literature and shows the vacant intersection we occupy.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~90 seconds.</a:t>
            </a:r>
          </a:p>
          <a:p/>
          <a:p>
            <a:r>
              <a:t>EXPLAIN: Two evaluation lenses. Left — machine-learning metrics on the benchmark dataset: accuracy, precision, recall, F1, and top-1 semantic matching accuracy, each with an explicit target bar. Right — product metrics from instrumented user studies: time saved per application, autofill success rate, manual corrections per form, portal coverage, satisfaction, and collection coverage. Bottom — the four numbers that define success: 95%+ mapping accuracy, 20K+ records, 50+ websites, 100+ categories.</a:t>
            </a:r>
          </a:p>
          <a:p/>
          <a:p>
            <a:r>
              <a:t>DO NOT EXPLAIN: Formula definitions of precision/recall — this audience knows them; and do not promise the targets as results, they are targets.</a:t>
            </a:r>
          </a:p>
          <a:p/>
          <a:p>
            <a:r>
              <a:t>EXPECTED QUESTIONS:</a:t>
            </a:r>
          </a:p>
          <a:p>
            <a:r>
              <a:t>Q: Is 95% realistic? A: With confidence gating, yes — the system only auto-fills above threshold, trading coverage for precision; we will report the full coverage-accuracy curve, not just the headline number.</a:t>
            </a:r>
          </a:p>
          <a:p>
            <a:r>
              <a:t>Q: How is Time Saved measured? A: Controlled task study — same applications completed with and without CareerHub, instrumented timing, per docs/research/Evaluation_Metrics.md and Experiment_Design.md.</a:t>
            </a:r>
          </a:p>
          <a:p>
            <a:r>
              <a:t>Q: What is the baseline? A: The rule-plus-TF-IDF hybrid already in the semantic-engine package, plus Chrome Autofill as the deployed baseline.</a:t>
            </a:r>
          </a:p>
          <a:p/>
          <a:p>
            <a:r>
              <a:t>KEYWORDS: top-1 accuracy, macro F1, coverage-accuracy tradeoff, instrumented user study, benchmark.</a:t>
            </a:r>
          </a:p>
          <a:p/>
          <a:p>
            <a:r>
              <a:t>CONTRIBUTION: a dual evaluation protocol — ML rigor and product outcomes — defined before experimentation, enabling reproducible claims.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~90 seconds.</a:t>
            </a:r>
          </a:p>
          <a:p/>
          <a:p>
            <a:r>
              <a:t>EXPLAIN: Five concrete contributions across the top — C1 the universal professional identity ontology, C2 semantic HTML understanding, C3 the MV3 browser extension, C4 AI field mapping with confidence, C5 cross-platform autofill. Then the roadmap: Phase 1 dataset collection is ACTIVE now (June–July 2026), annotation in August, model training September–October, the AI autofill release in November, publication targeted December, and the startup product beyond 2027. Close with V2 (Firefox, Edge, Safari) and V3 (resume parser, AI resume builder, job recommendation, ATS optimization, identity cloud).</a:t>
            </a:r>
          </a:p>
          <a:p/>
          <a:p>
            <a:r>
              <a:t>DO NOT EXPLAIN: Startup business model details — this is a research defense; mention commercialization only as impact evidence.</a:t>
            </a:r>
          </a:p>
          <a:p/>
          <a:p>
            <a:r>
              <a:t>EXPECTED QUESTIONS:</a:t>
            </a:r>
          </a:p>
          <a:p>
            <a:r>
              <a:t>Q: Is six months realistic? A: The engineering substrate already exists (the monorepo platform, extension, and hybrid semantic engine); research phases sit on working infrastructure.</a:t>
            </a:r>
          </a:p>
          <a:p>
            <a:r>
              <a:t>Q: Target publication venue? A: An IEEE/ACM web or NLP venue — e.g., a WWW or EMNLP industry/dataset track — the benchmark dataset itself is publishable.</a:t>
            </a:r>
          </a:p>
          <a:p>
            <a:r>
              <a:t>Q: Which contribution is primary? A: C1+C4 together: ontology-grounded, confidence-gated field mapping, validated on the first public recruitment form benchmark.</a:t>
            </a:r>
          </a:p>
          <a:p/>
          <a:p>
            <a:r>
              <a:t>KEYWORDS: contribution mapping, phased execution, dataset track, commercialization pathway.</a:t>
            </a:r>
          </a:p>
          <a:p/>
          <a:p>
            <a:r>
              <a:t>CONTRIBUTION: makes the deliverables and their timeline explicit and auditable.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~30-45 seconds.</a:t>
            </a:r>
          </a:p>
          <a:p/>
          <a:p>
            <a:r>
              <a:t>EXPLAIN: Close on the vision chain — a professional identity, understood by AI, carried by the browser, applied to recruitment, extensible to the future. Deliver the line slowly: one professional profile, unlimited recruitment platforms. Thank the guide and the panel by name, then open the floor.</a:t>
            </a:r>
          </a:p>
          <a:p/>
          <a:p>
            <a:r>
              <a:t>DO NOT EXPLAIN: Anything new — never introduce content on a closing slide.</a:t>
            </a:r>
          </a:p>
          <a:p/>
          <a:p>
            <a:r>
              <a:t>EXPECTED QUESTIONS (general defense):</a:t>
            </a:r>
          </a:p>
          <a:p>
            <a:r>
              <a:t>Q: What is the single riskiest assumption? A: That 100+ semantic categories cover real-world recruitment fields; the dataset phase tests exactly this, and the ontology is versioned to absorb new categories.</a:t>
            </a:r>
          </a:p>
          <a:p>
            <a:r>
              <a:t>Q: What happens if transformer models underperform the TF-IDF baseline? A: The hybrid architecture keeps the strongest strategy per field — the benchmark makes that comparison honest, and a negative result is still publishable on the dataset track.</a:t>
            </a:r>
          </a:p>
          <a:p>
            <a:r>
              <a:t>Q: How does this help the institute? A: A public dataset, a reproducible benchmark, potential publication, and a deployable tool for the placement cell.</a:t>
            </a:r>
          </a:p>
          <a:p/>
          <a:p>
            <a:r>
              <a:t>KEYWORDS: unified framework, benchmark, confidence-gated autofill, professional identity ontology.</a:t>
            </a:r>
          </a:p>
          <a:p/>
          <a:p>
            <a:r>
              <a:t>CONTRIBUTION: the whole argument in one sentence — identity, understood semantically, everywhere.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7FA"/>
        </a:solidFill>
        <a:effectLst/>
      </p:bgPr>
    </p:bg>
    <p:spTree>
      <p:nvGrpSpPr>
        <p:cNvPr id="1" name=""/>
        <p:cNvGrpSpPr/>
        <p:nvPr/>
      </p:nvGrpSpPr>
      <p:grpSpPr/>
      <p:cxnSp>
        <p:nvCxnSpPr>
          <p:cNvPr id="2" name="Connector 1"/>
          <p:cNvCxnSpPr/>
          <p:nvPr/>
        </p:nvCxnSpPr>
        <p:spPr>
          <a:xfrm>
            <a:off x="8805672" y="576072"/>
            <a:ext cx="1463039" cy="274320"/>
          </a:xfrm>
          <a:prstGeom prst="line">
            <a:avLst/>
          </a:prstGeom>
          <a:ln w="9525">
            <a:solidFill>
              <a:srgbClr val="4F46E5">
                <a:alpha val="10000"/>
              </a:srgbClr>
            </a:solidFill>
          </a:ln>
          <a:effectLst/>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V="1">
            <a:off x="10268711" y="484632"/>
            <a:ext cx="1280161" cy="365760"/>
          </a:xfrm>
          <a:prstGeom prst="line">
            <a:avLst/>
          </a:prstGeom>
          <a:ln w="9525">
            <a:solidFill>
              <a:srgbClr val="4F46E5">
                <a:alpha val="10000"/>
              </a:srgbClr>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9537192" y="850392"/>
            <a:ext cx="731519" cy="731520"/>
          </a:xfrm>
          <a:prstGeom prst="line">
            <a:avLst/>
          </a:prstGeom>
          <a:ln w="9525">
            <a:solidFill>
              <a:srgbClr val="4F46E5">
                <a:alpha val="10000"/>
              </a:srgbClr>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9537192" y="1581912"/>
            <a:ext cx="2286000" cy="182880"/>
          </a:xfrm>
          <a:prstGeom prst="line">
            <a:avLst/>
          </a:prstGeom>
          <a:ln w="9525">
            <a:solidFill>
              <a:srgbClr val="4F46E5">
                <a:alpha val="10000"/>
              </a:srgbClr>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8165592" y="576072"/>
            <a:ext cx="640080" cy="274320"/>
          </a:xfrm>
          <a:prstGeom prst="line">
            <a:avLst/>
          </a:prstGeom>
          <a:ln w="9525">
            <a:solidFill>
              <a:srgbClr val="4F46E5">
                <a:alpha val="10000"/>
              </a:srgbClr>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24712" y="6336792"/>
            <a:ext cx="1463039" cy="182880"/>
          </a:xfrm>
          <a:prstGeom prst="line">
            <a:avLst/>
          </a:prstGeom>
          <a:ln w="9525">
            <a:solidFill>
              <a:srgbClr val="4F46E5">
                <a:alpha val="10000"/>
              </a:srgbClr>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576072" y="5422392"/>
            <a:ext cx="548640" cy="914400"/>
          </a:xfrm>
          <a:prstGeom prst="line">
            <a:avLst/>
          </a:prstGeom>
          <a:ln w="9525">
            <a:solidFill>
              <a:srgbClr val="4F46E5">
                <a:alpha val="10000"/>
              </a:srgbClr>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2587751" y="6245352"/>
            <a:ext cx="1188721" cy="274320"/>
          </a:xfrm>
          <a:prstGeom prst="line">
            <a:avLst/>
          </a:prstGeom>
          <a:ln w="9525">
            <a:solidFill>
              <a:srgbClr val="4F46E5">
                <a:alpha val="10000"/>
              </a:srgbClr>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10451592" y="5971032"/>
            <a:ext cx="1188719" cy="365760"/>
          </a:xfrm>
          <a:prstGeom prst="line">
            <a:avLst/>
          </a:prstGeom>
          <a:ln w="9525">
            <a:solidFill>
              <a:srgbClr val="4F46E5">
                <a:alpha val="10000"/>
              </a:srgbClr>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4782312" y="484632"/>
            <a:ext cx="1554480" cy="274320"/>
          </a:xfrm>
          <a:prstGeom prst="line">
            <a:avLst/>
          </a:prstGeom>
          <a:ln w="9525">
            <a:solidFill>
              <a:srgbClr val="4F46E5">
                <a:alpha val="10000"/>
              </a:srgbClr>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1548872" y="484632"/>
            <a:ext cx="274320" cy="1280160"/>
          </a:xfrm>
          <a:prstGeom prst="line">
            <a:avLst/>
          </a:prstGeom>
          <a:ln w="9525">
            <a:solidFill>
              <a:srgbClr val="4F46E5">
                <a:alpha val="10000"/>
              </a:srgbClr>
            </a:solidFill>
          </a:ln>
          <a:effectLst/>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778240" y="548640"/>
            <a:ext cx="54864" cy="54864"/>
          </a:xfrm>
          <a:prstGeom prst="ellipse">
            <a:avLst/>
          </a:prstGeom>
          <a:solidFill>
            <a:srgbClr val="4F46E5">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41280" y="822960"/>
            <a:ext cx="54864" cy="54864"/>
          </a:xfrm>
          <a:prstGeom prst="ellipse">
            <a:avLst/>
          </a:prstGeom>
          <a:solidFill>
            <a:srgbClr val="4F46E5">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521440" y="457200"/>
            <a:ext cx="54864" cy="54864"/>
          </a:xfrm>
          <a:prstGeom prst="ellipse">
            <a:avLst/>
          </a:prstGeom>
          <a:solidFill>
            <a:srgbClr val="4F46E5">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509760" y="1554480"/>
            <a:ext cx="54864" cy="54864"/>
          </a:xfrm>
          <a:prstGeom prst="ellipse">
            <a:avLst/>
          </a:prstGeom>
          <a:solidFill>
            <a:srgbClr val="4F46E5">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95760" y="1737360"/>
            <a:ext cx="54864" cy="54864"/>
          </a:xfrm>
          <a:prstGeom prst="ellipse">
            <a:avLst/>
          </a:prstGeom>
          <a:solidFill>
            <a:srgbClr val="4F46E5">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38160" y="822960"/>
            <a:ext cx="54864" cy="54864"/>
          </a:xfrm>
          <a:prstGeom prst="ellipse">
            <a:avLst/>
          </a:prstGeom>
          <a:solidFill>
            <a:srgbClr val="4F46E5">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97280" y="6309360"/>
            <a:ext cx="54864" cy="54864"/>
          </a:xfrm>
          <a:prstGeom prst="ellipse">
            <a:avLst/>
          </a:prstGeom>
          <a:solidFill>
            <a:srgbClr val="4F46E5">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2560320" y="6492240"/>
            <a:ext cx="54864" cy="54864"/>
          </a:xfrm>
          <a:prstGeom prst="ellipse">
            <a:avLst/>
          </a:prstGeom>
          <a:solidFill>
            <a:srgbClr val="4F46E5">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48640" y="5394960"/>
            <a:ext cx="54864" cy="54864"/>
          </a:xfrm>
          <a:prstGeom prst="ellipse">
            <a:avLst/>
          </a:prstGeom>
          <a:solidFill>
            <a:srgbClr val="4F46E5">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749039" y="6217920"/>
            <a:ext cx="54864" cy="54864"/>
          </a:xfrm>
          <a:prstGeom prst="ellipse">
            <a:avLst/>
          </a:prstGeom>
          <a:solidFill>
            <a:srgbClr val="4F46E5">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1612880" y="6309360"/>
            <a:ext cx="54864" cy="54864"/>
          </a:xfrm>
          <a:prstGeom prst="ellipse">
            <a:avLst/>
          </a:prstGeom>
          <a:solidFill>
            <a:srgbClr val="4F46E5">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424160" y="5943600"/>
            <a:ext cx="54864" cy="54864"/>
          </a:xfrm>
          <a:prstGeom prst="ellipse">
            <a:avLst/>
          </a:prstGeom>
          <a:solidFill>
            <a:srgbClr val="4F46E5">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09360" y="457200"/>
            <a:ext cx="54864" cy="54864"/>
          </a:xfrm>
          <a:prstGeom prst="ellipse">
            <a:avLst/>
          </a:prstGeom>
          <a:solidFill>
            <a:srgbClr val="4F46E5">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754880" y="731520"/>
            <a:ext cx="54864" cy="54864"/>
          </a:xfrm>
          <a:prstGeom prst="ellipse">
            <a:avLst/>
          </a:prstGeom>
          <a:solidFill>
            <a:srgbClr val="4F46E5">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1795760" y="4480560"/>
            <a:ext cx="54864" cy="54864"/>
          </a:xfrm>
          <a:prstGeom prst="ellipse">
            <a:avLst/>
          </a:prstGeom>
          <a:solidFill>
            <a:srgbClr val="4F46E5">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57200" y="640080"/>
            <a:ext cx="54864" cy="54864"/>
          </a:xfrm>
          <a:prstGeom prst="ellipse">
            <a:avLst/>
          </a:prstGeom>
          <a:solidFill>
            <a:srgbClr val="4F46E5">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2011680" y="457200"/>
            <a:ext cx="54864" cy="54864"/>
          </a:xfrm>
          <a:prstGeom prst="ellipse">
            <a:avLst/>
          </a:prstGeom>
          <a:solidFill>
            <a:srgbClr val="4F46E5">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22960" y="932688"/>
            <a:ext cx="2194560" cy="384048"/>
          </a:xfrm>
          <a:prstGeom prst="roundRect">
            <a:avLst>
              <a:gd name="adj" fmla="val 50000"/>
            </a:avLst>
          </a:prstGeom>
          <a:solidFill>
            <a:srgbClr val="4F46E5">
              <a:alpha val="14000"/>
            </a:srgbClr>
          </a:solidFill>
          <a:ln w="9525">
            <a:solidFill>
              <a:srgbClr val="4F46E5">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00" b="0" spc="300">
                <a:solidFill>
                  <a:srgbClr val="4338CA"/>
                </a:solidFill>
                <a:latin typeface="Inter Medium"/>
              </a:rPr>
              <a:t>RESEARCH PROPOSAL</a:t>
            </a:r>
          </a:p>
        </p:txBody>
      </p:sp>
      <p:sp>
        <p:nvSpPr>
          <p:cNvPr id="31" name="TextBox 30"/>
          <p:cNvSpPr txBox="1"/>
          <p:nvPr/>
        </p:nvSpPr>
        <p:spPr>
          <a:xfrm>
            <a:off x="822960" y="1481328"/>
            <a:ext cx="6903720" cy="2560320"/>
          </a:xfrm>
          <a:prstGeom prst="rect">
            <a:avLst/>
          </a:prstGeom>
          <a:noFill/>
        </p:spPr>
        <p:txBody>
          <a:bodyPr wrap="square" anchor="t" lIns="18288" rIns="18288" tIns="9144" bIns="9144">
            <a:spAutoFit/>
          </a:bodyPr>
          <a:lstStyle/>
          <a:p>
            <a:pPr algn="l">
              <a:lnSpc>
                <a:spcPct val="104000"/>
              </a:lnSpc>
            </a:pPr>
            <a:r>
              <a:rPr sz="3400" b="1">
                <a:solidFill>
                  <a:srgbClr val="121826"/>
                </a:solidFill>
                <a:latin typeface="Poppins ExtraBold"/>
              </a:rPr>
              <a:t>An Intelligent </a:t>
            </a:r>
            <a:r>
              <a:rPr sz="3400" b="1">
                <a:solidFill>
                  <a:srgbClr val="4338CA"/>
                </a:solidFill>
                <a:latin typeface="Poppins ExtraBold"/>
              </a:rPr>
              <a:t>Semantic Professional Identity Framework</a:t>
            </a:r>
            <a:r>
              <a:rPr sz="3400" b="1">
                <a:solidFill>
                  <a:srgbClr val="121826"/>
                </a:solidFill>
                <a:latin typeface="Poppins ExtraBold"/>
              </a:rPr>
              <a:t> for Cross-Platform Recruitment Form Understanding and Browser-Assisted Autofill</a:t>
            </a:r>
          </a:p>
        </p:txBody>
      </p:sp>
      <p:sp>
        <p:nvSpPr>
          <p:cNvPr id="32" name="TextBox 31"/>
          <p:cNvSpPr txBox="1"/>
          <p:nvPr/>
        </p:nvSpPr>
        <p:spPr>
          <a:xfrm>
            <a:off x="822960" y="4224528"/>
            <a:ext cx="6766560" cy="365760"/>
          </a:xfrm>
          <a:prstGeom prst="rect">
            <a:avLst/>
          </a:prstGeom>
          <a:noFill/>
        </p:spPr>
        <p:txBody>
          <a:bodyPr wrap="square" anchor="t" lIns="18288" rIns="18288" tIns="9144" bIns="9144">
            <a:spAutoFit/>
          </a:bodyPr>
          <a:lstStyle/>
          <a:p>
            <a:pPr algn="l">
              <a:lnSpc>
                <a:spcPct val="100000"/>
              </a:lnSpc>
            </a:pPr>
            <a:r>
              <a:rPr sz="1600" b="0">
                <a:solidFill>
                  <a:srgbClr val="5D6675"/>
                </a:solidFill>
                <a:latin typeface="Poppins SemiBold"/>
              </a:rPr>
              <a:t>NIT Summer Research Internship</a:t>
            </a:r>
            <a:r>
              <a:rPr sz="1600" b="0">
                <a:solidFill>
                  <a:srgbClr val="4338CA"/>
                </a:solidFill>
                <a:latin typeface="Poppins SemiBold"/>
              </a:rPr>
              <a:t>   ·   CareerHub</a:t>
            </a:r>
          </a:p>
        </p:txBody>
      </p:sp>
      <p:cxnSp>
        <p:nvCxnSpPr>
          <p:cNvPr id="33" name="Connector 32"/>
          <p:cNvCxnSpPr/>
          <p:nvPr/>
        </p:nvCxnSpPr>
        <p:spPr>
          <a:xfrm>
            <a:off x="9646920" y="3950208"/>
            <a:ext cx="978408" cy="118872"/>
          </a:xfrm>
          <a:prstGeom prst="line">
            <a:avLst/>
          </a:prstGeom>
          <a:ln w="15875">
            <a:solidFill>
              <a:srgbClr val="4F46E5">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10561320" y="3401568"/>
            <a:ext cx="411480" cy="237744"/>
          </a:xfrm>
          <a:prstGeom prst="line">
            <a:avLst/>
          </a:prstGeom>
          <a:ln w="15875">
            <a:solidFill>
              <a:srgbClr val="4F46E5">
                <a:alpha val="55000"/>
              </a:srgbClr>
            </a:solidFill>
          </a:ln>
          <a:effectLst/>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001000" y="1115568"/>
            <a:ext cx="3456432" cy="2286000"/>
          </a:xfrm>
          <a:prstGeom prst="roundRect">
            <a:avLst>
              <a:gd name="adj" fmla="val 8000"/>
            </a:avLst>
          </a:prstGeom>
          <a:solidFill>
            <a:srgbClr val="FFFFFF"/>
          </a:solidFill>
          <a:ln w="12700">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8001000" y="1517904"/>
            <a:ext cx="3456432" cy="0"/>
          </a:xfrm>
          <a:prstGeom prst="line">
            <a:avLst/>
          </a:prstGeom>
          <a:ln w="9525">
            <a:solidFill>
              <a:srgbClr val="E3E7EE">
                <a:alpha val="90000"/>
              </a:srgbClr>
            </a:solidFill>
          </a:ln>
          <a:effectLst/>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8211312" y="1280160"/>
            <a:ext cx="82296" cy="82296"/>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366760" y="1280160"/>
            <a:ext cx="82296" cy="8229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522208" y="1280160"/>
            <a:ext cx="82296" cy="82296"/>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9189720" y="1243584"/>
            <a:ext cx="2103120" cy="219456"/>
          </a:xfrm>
          <a:prstGeom prst="roundRect">
            <a:avLst>
              <a:gd name="adj" fmla="val 50000"/>
            </a:avLst>
          </a:prstGeom>
          <a:solidFill>
            <a:srgbClr val="EDF0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800" b="0">
                <a:solidFill>
                  <a:srgbClr val="5D6675"/>
                </a:solidFill>
                <a:latin typeface="Inter Medium"/>
              </a:rPr>
              <a:t>portal.company.com/apply</a:t>
            </a:r>
          </a:p>
        </p:txBody>
      </p:sp>
      <p:sp>
        <p:nvSpPr>
          <p:cNvPr id="41" name="Rounded Rectangle 40"/>
          <p:cNvSpPr/>
          <p:nvPr/>
        </p:nvSpPr>
        <p:spPr>
          <a:xfrm>
            <a:off x="8211312" y="1700784"/>
            <a:ext cx="914400" cy="82296"/>
          </a:xfrm>
          <a:prstGeom prst="roundRect">
            <a:avLst>
              <a:gd name="adj" fmla="val 50000"/>
            </a:avLst>
          </a:prstGeom>
          <a:solidFill>
            <a:srgbClr val="5D6675">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8211312" y="1847088"/>
            <a:ext cx="3035808" cy="274320"/>
          </a:xfrm>
          <a:prstGeom prst="roundRect">
            <a:avLst>
              <a:gd name="adj" fmla="val 16000"/>
            </a:avLst>
          </a:prstGeom>
          <a:solidFill>
            <a:srgbClr val="EDF0F5"/>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8339327" y="1947672"/>
            <a:ext cx="1371600" cy="73152"/>
          </a:xfrm>
          <a:prstGeom prst="roundRect">
            <a:avLst>
              <a:gd name="adj" fmla="val 50000"/>
            </a:avLst>
          </a:prstGeom>
          <a:solidFill>
            <a:srgbClr val="4F46E5">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1018520" y="1901952"/>
            <a:ext cx="146304" cy="146304"/>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8211312" y="2231136"/>
            <a:ext cx="914400" cy="82296"/>
          </a:xfrm>
          <a:prstGeom prst="roundRect">
            <a:avLst>
              <a:gd name="adj" fmla="val 50000"/>
            </a:avLst>
          </a:prstGeom>
          <a:solidFill>
            <a:srgbClr val="5D6675">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8211312" y="2377440"/>
            <a:ext cx="3035808" cy="274320"/>
          </a:xfrm>
          <a:prstGeom prst="roundRect">
            <a:avLst>
              <a:gd name="adj" fmla="val 16000"/>
            </a:avLst>
          </a:prstGeom>
          <a:solidFill>
            <a:srgbClr val="EDF0F5"/>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8339327" y="2478024"/>
            <a:ext cx="1691640" cy="73152"/>
          </a:xfrm>
          <a:prstGeom prst="roundRect">
            <a:avLst>
              <a:gd name="adj" fmla="val 50000"/>
            </a:avLst>
          </a:prstGeom>
          <a:solidFill>
            <a:srgbClr val="4F46E5">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1018520" y="2432304"/>
            <a:ext cx="146304" cy="146304"/>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8211312" y="2761488"/>
            <a:ext cx="914400" cy="82296"/>
          </a:xfrm>
          <a:prstGeom prst="roundRect">
            <a:avLst>
              <a:gd name="adj" fmla="val 50000"/>
            </a:avLst>
          </a:prstGeom>
          <a:solidFill>
            <a:srgbClr val="5D6675">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8211312" y="2907792"/>
            <a:ext cx="3035808" cy="274320"/>
          </a:xfrm>
          <a:prstGeom prst="roundRect">
            <a:avLst>
              <a:gd name="adj" fmla="val 16000"/>
            </a:avLst>
          </a:prstGeom>
          <a:solidFill>
            <a:srgbClr val="EDF0F5"/>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8339327" y="3008376"/>
            <a:ext cx="2011680" cy="73152"/>
          </a:xfrm>
          <a:prstGeom prst="roundRect">
            <a:avLst>
              <a:gd name="adj" fmla="val 50000"/>
            </a:avLst>
          </a:prstGeom>
          <a:solidFill>
            <a:srgbClr val="4F46E5">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11018520" y="2962656"/>
            <a:ext cx="146304" cy="146304"/>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7589520" y="3273552"/>
            <a:ext cx="2194560" cy="1371600"/>
          </a:xfrm>
          <a:prstGeom prst="roundRect">
            <a:avLst>
              <a:gd name="adj" fmla="val 12000"/>
            </a:avLst>
          </a:prstGeom>
          <a:solidFill>
            <a:srgbClr val="FFFFFF"/>
          </a:solidFill>
          <a:ln w="12700">
            <a:solidFill>
              <a:srgbClr val="4F46E5">
                <a:alpha val="60000"/>
              </a:srgbClr>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7790688" y="3456432"/>
            <a:ext cx="457200" cy="457200"/>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8394192" y="3529584"/>
            <a:ext cx="1188720" cy="109728"/>
          </a:xfrm>
          <a:prstGeom prst="roundRect">
            <a:avLst>
              <a:gd name="adj" fmla="val 50000"/>
            </a:avLst>
          </a:prstGeom>
          <a:solidFill>
            <a:srgbClr val="121826">
              <a:alpha val="7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8394192" y="3730752"/>
            <a:ext cx="868680" cy="82296"/>
          </a:xfrm>
          <a:prstGeom prst="roundRect">
            <a:avLst>
              <a:gd name="adj" fmla="val 50000"/>
            </a:avLst>
          </a:prstGeom>
          <a:solidFill>
            <a:srgbClr val="5D6675">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7790688" y="4133087"/>
            <a:ext cx="585216" cy="219456"/>
          </a:xfrm>
          <a:prstGeom prst="roundRect">
            <a:avLst>
              <a:gd name="adj" fmla="val 50000"/>
            </a:avLst>
          </a:prstGeom>
          <a:solidFill>
            <a:srgbClr val="EDF0F5"/>
          </a:solidFill>
          <a:ln w="6350">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750" b="0">
                <a:solidFill>
                  <a:srgbClr val="5D6675"/>
                </a:solidFill>
                <a:latin typeface="Inter Medium"/>
              </a:rPr>
              <a:t>Profile</a:t>
            </a:r>
          </a:p>
        </p:txBody>
      </p:sp>
      <p:sp>
        <p:nvSpPr>
          <p:cNvPr id="58" name="Rounded Rectangle 57"/>
          <p:cNvSpPr/>
          <p:nvPr/>
        </p:nvSpPr>
        <p:spPr>
          <a:xfrm>
            <a:off x="8449056" y="4133087"/>
            <a:ext cx="585216" cy="219456"/>
          </a:xfrm>
          <a:prstGeom prst="roundRect">
            <a:avLst>
              <a:gd name="adj" fmla="val 50000"/>
            </a:avLst>
          </a:prstGeom>
          <a:solidFill>
            <a:srgbClr val="EDF0F5"/>
          </a:solidFill>
          <a:ln w="6350">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750" b="0">
                <a:solidFill>
                  <a:srgbClr val="5D6675"/>
                </a:solidFill>
                <a:latin typeface="Inter Medium"/>
              </a:rPr>
              <a:t>Resume</a:t>
            </a:r>
          </a:p>
        </p:txBody>
      </p:sp>
      <p:sp>
        <p:nvSpPr>
          <p:cNvPr id="59" name="Rounded Rectangle 58"/>
          <p:cNvSpPr/>
          <p:nvPr/>
        </p:nvSpPr>
        <p:spPr>
          <a:xfrm>
            <a:off x="9107424" y="4133087"/>
            <a:ext cx="585216" cy="219456"/>
          </a:xfrm>
          <a:prstGeom prst="roundRect">
            <a:avLst>
              <a:gd name="adj" fmla="val 50000"/>
            </a:avLst>
          </a:prstGeom>
          <a:solidFill>
            <a:srgbClr val="EDF0F5"/>
          </a:solidFill>
          <a:ln w="6350">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750" b="0">
                <a:solidFill>
                  <a:srgbClr val="5D6675"/>
                </a:solidFill>
                <a:latin typeface="Inter Medium"/>
              </a:rPr>
              <a:t>Skills</a:t>
            </a:r>
          </a:p>
        </p:txBody>
      </p:sp>
      <p:sp>
        <p:nvSpPr>
          <p:cNvPr id="60" name="Oval 59"/>
          <p:cNvSpPr/>
          <p:nvPr/>
        </p:nvSpPr>
        <p:spPr>
          <a:xfrm>
            <a:off x="10424160" y="3529584"/>
            <a:ext cx="1133856" cy="1133856"/>
          </a:xfrm>
          <a:prstGeom prst="ellipse">
            <a:avLst/>
          </a:prstGeom>
          <a:noFill/>
          <a:ln w="12700">
            <a:solidFill>
              <a:srgbClr val="4F46E5">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10533888" y="3639312"/>
            <a:ext cx="914400" cy="914400"/>
          </a:xfrm>
          <a:prstGeom prst="ellipse">
            <a:avLst/>
          </a:prstGeom>
          <a:solidFill>
            <a:srgbClr val="4F46E5"/>
          </a:solidFill>
          <a:ln>
            <a:no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900" b="1">
                <a:solidFill>
                  <a:srgbClr val="FFFFFF"/>
                </a:solidFill>
                <a:latin typeface="Poppins ExtraBold"/>
              </a:rPr>
              <a:t>AI</a:t>
            </a:r>
          </a:p>
        </p:txBody>
      </p:sp>
      <p:cxnSp>
        <p:nvCxnSpPr>
          <p:cNvPr id="62" name="Connector 61"/>
          <p:cNvCxnSpPr/>
          <p:nvPr/>
        </p:nvCxnSpPr>
        <p:spPr>
          <a:xfrm>
            <a:off x="822960" y="5779008"/>
            <a:ext cx="10543032" cy="0"/>
          </a:xfrm>
          <a:prstGeom prst="line">
            <a:avLst/>
          </a:prstGeom>
          <a:ln w="9525">
            <a:solidFill>
              <a:srgbClr val="E3E7EE">
                <a:alpha val="70000"/>
              </a:srgbClr>
            </a:solidFill>
          </a:ln>
          <a:effectLst/>
        </p:spPr>
        <p:style>
          <a:lnRef idx="2">
            <a:schemeClr val="accent1"/>
          </a:lnRef>
          <a:fillRef idx="0">
            <a:schemeClr val="accent1"/>
          </a:fillRef>
          <a:effectRef idx="1">
            <a:schemeClr val="accent1"/>
          </a:effectRef>
          <a:fontRef idx="minor">
            <a:schemeClr val="tx1"/>
          </a:fontRef>
        </p:style>
      </p:cxnSp>
      <p:sp>
        <p:nvSpPr>
          <p:cNvPr id="63" name="Rounded Rectangle 62"/>
          <p:cNvSpPr/>
          <p:nvPr/>
        </p:nvSpPr>
        <p:spPr>
          <a:xfrm>
            <a:off x="822960" y="5989320"/>
            <a:ext cx="566928" cy="566928"/>
          </a:xfrm>
          <a:prstGeom prst="roundRect">
            <a:avLst>
              <a:gd name="adj" fmla="val 22000"/>
            </a:avLst>
          </a:prstGeom>
          <a:solidFill>
            <a:srgbClr val="EDF0F5"/>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300" b="1">
                <a:solidFill>
                  <a:srgbClr val="4338CA"/>
                </a:solidFill>
                <a:latin typeface="Poppins SemiBold"/>
              </a:rPr>
              <a:t>NIT</a:t>
            </a:r>
          </a:p>
        </p:txBody>
      </p:sp>
      <p:sp>
        <p:nvSpPr>
          <p:cNvPr id="64" name="TextBox 63"/>
          <p:cNvSpPr txBox="1"/>
          <p:nvPr/>
        </p:nvSpPr>
        <p:spPr>
          <a:xfrm>
            <a:off x="1600200" y="5989320"/>
            <a:ext cx="2377440" cy="219456"/>
          </a:xfrm>
          <a:prstGeom prst="rect">
            <a:avLst/>
          </a:prstGeom>
          <a:noFill/>
        </p:spPr>
        <p:txBody>
          <a:bodyPr wrap="square" anchor="t" lIns="18288" rIns="18288" tIns="9144" bIns="9144">
            <a:spAutoFit/>
          </a:bodyPr>
          <a:lstStyle/>
          <a:p>
            <a:pPr algn="l">
              <a:lnSpc>
                <a:spcPct val="100000"/>
              </a:lnSpc>
            </a:pPr>
            <a:r>
              <a:rPr sz="900" b="0" spc="250">
                <a:solidFill>
                  <a:srgbClr val="5D6675"/>
                </a:solidFill>
                <a:latin typeface="Inter Medium"/>
              </a:rPr>
              <a:t>PRESENTER</a:t>
            </a:r>
          </a:p>
        </p:txBody>
      </p:sp>
      <p:sp>
        <p:nvSpPr>
          <p:cNvPr id="65" name="TextBox 64"/>
          <p:cNvSpPr txBox="1"/>
          <p:nvPr/>
        </p:nvSpPr>
        <p:spPr>
          <a:xfrm>
            <a:off x="1600200" y="6236208"/>
            <a:ext cx="2377440" cy="292608"/>
          </a:xfrm>
          <a:prstGeom prst="rect">
            <a:avLst/>
          </a:prstGeom>
          <a:noFill/>
        </p:spPr>
        <p:txBody>
          <a:bodyPr wrap="square" anchor="t" lIns="18288" rIns="18288" tIns="9144" bIns="9144">
            <a:spAutoFit/>
          </a:bodyPr>
          <a:lstStyle/>
          <a:p>
            <a:pPr algn="l">
              <a:lnSpc>
                <a:spcPct val="100000"/>
              </a:lnSpc>
            </a:pPr>
            <a:r>
              <a:rPr sz="1300" b="0">
                <a:solidFill>
                  <a:srgbClr val="121826"/>
                </a:solidFill>
                <a:latin typeface="Inter Medium"/>
              </a:rPr>
              <a:t>Ashwani Kushwaha</a:t>
            </a:r>
          </a:p>
        </p:txBody>
      </p:sp>
      <p:sp>
        <p:nvSpPr>
          <p:cNvPr id="66" name="TextBox 65"/>
          <p:cNvSpPr txBox="1"/>
          <p:nvPr/>
        </p:nvSpPr>
        <p:spPr>
          <a:xfrm>
            <a:off x="4160520" y="5989320"/>
            <a:ext cx="2377440" cy="219456"/>
          </a:xfrm>
          <a:prstGeom prst="rect">
            <a:avLst/>
          </a:prstGeom>
          <a:noFill/>
        </p:spPr>
        <p:txBody>
          <a:bodyPr wrap="square" anchor="t" lIns="18288" rIns="18288" tIns="9144" bIns="9144">
            <a:spAutoFit/>
          </a:bodyPr>
          <a:lstStyle/>
          <a:p>
            <a:pPr algn="l">
              <a:lnSpc>
                <a:spcPct val="100000"/>
              </a:lnSpc>
            </a:pPr>
            <a:r>
              <a:rPr sz="900" b="0" spc="250">
                <a:solidFill>
                  <a:srgbClr val="5D6675"/>
                </a:solidFill>
                <a:latin typeface="Inter Medium"/>
              </a:rPr>
              <a:t>GUIDE</a:t>
            </a:r>
          </a:p>
        </p:txBody>
      </p:sp>
      <p:sp>
        <p:nvSpPr>
          <p:cNvPr id="67" name="TextBox 66"/>
          <p:cNvSpPr txBox="1"/>
          <p:nvPr/>
        </p:nvSpPr>
        <p:spPr>
          <a:xfrm>
            <a:off x="4160520" y="6236208"/>
            <a:ext cx="2377440" cy="292608"/>
          </a:xfrm>
          <a:prstGeom prst="rect">
            <a:avLst/>
          </a:prstGeom>
          <a:noFill/>
        </p:spPr>
        <p:txBody>
          <a:bodyPr wrap="square" anchor="t" lIns="18288" rIns="18288" tIns="9144" bIns="9144">
            <a:spAutoFit/>
          </a:bodyPr>
          <a:lstStyle/>
          <a:p>
            <a:pPr algn="l">
              <a:lnSpc>
                <a:spcPct val="100000"/>
              </a:lnSpc>
            </a:pPr>
            <a:r>
              <a:rPr sz="1300" b="0">
                <a:solidFill>
                  <a:srgbClr val="121826"/>
                </a:solidFill>
                <a:latin typeface="Inter Medium"/>
              </a:rPr>
              <a:t>Dr. Gunjan</a:t>
            </a:r>
          </a:p>
        </p:txBody>
      </p:sp>
      <p:sp>
        <p:nvSpPr>
          <p:cNvPr id="68" name="TextBox 67"/>
          <p:cNvSpPr txBox="1"/>
          <p:nvPr/>
        </p:nvSpPr>
        <p:spPr>
          <a:xfrm>
            <a:off x="6720840" y="5989320"/>
            <a:ext cx="2377440" cy="219456"/>
          </a:xfrm>
          <a:prstGeom prst="rect">
            <a:avLst/>
          </a:prstGeom>
          <a:noFill/>
        </p:spPr>
        <p:txBody>
          <a:bodyPr wrap="square" anchor="t" lIns="18288" rIns="18288" tIns="9144" bIns="9144">
            <a:spAutoFit/>
          </a:bodyPr>
          <a:lstStyle/>
          <a:p>
            <a:pPr algn="l">
              <a:lnSpc>
                <a:spcPct val="100000"/>
              </a:lnSpc>
            </a:pPr>
            <a:r>
              <a:rPr sz="900" b="0" spc="250">
                <a:solidFill>
                  <a:srgbClr val="5D6675"/>
                </a:solidFill>
                <a:latin typeface="Inter Medium"/>
              </a:rPr>
              <a:t>DEPARTMENT</a:t>
            </a:r>
          </a:p>
        </p:txBody>
      </p:sp>
      <p:sp>
        <p:nvSpPr>
          <p:cNvPr id="69" name="TextBox 68"/>
          <p:cNvSpPr txBox="1"/>
          <p:nvPr/>
        </p:nvSpPr>
        <p:spPr>
          <a:xfrm>
            <a:off x="6720840" y="6236208"/>
            <a:ext cx="2377440" cy="292608"/>
          </a:xfrm>
          <a:prstGeom prst="rect">
            <a:avLst/>
          </a:prstGeom>
          <a:noFill/>
        </p:spPr>
        <p:txBody>
          <a:bodyPr wrap="square" anchor="t" lIns="18288" rIns="18288" tIns="9144" bIns="9144">
            <a:spAutoFit/>
          </a:bodyPr>
          <a:lstStyle/>
          <a:p>
            <a:pPr algn="l">
              <a:lnSpc>
                <a:spcPct val="100000"/>
              </a:lnSpc>
            </a:pPr>
            <a:r>
              <a:rPr sz="1300" b="0">
                <a:solidFill>
                  <a:srgbClr val="121826"/>
                </a:solidFill>
                <a:latin typeface="Inter Medium"/>
              </a:rPr>
              <a:t>CSE</a:t>
            </a:r>
          </a:p>
        </p:txBody>
      </p:sp>
      <p:sp>
        <p:nvSpPr>
          <p:cNvPr id="70" name="TextBox 69"/>
          <p:cNvSpPr txBox="1"/>
          <p:nvPr/>
        </p:nvSpPr>
        <p:spPr>
          <a:xfrm>
            <a:off x="9281160" y="5989320"/>
            <a:ext cx="2377440" cy="219456"/>
          </a:xfrm>
          <a:prstGeom prst="rect">
            <a:avLst/>
          </a:prstGeom>
          <a:noFill/>
        </p:spPr>
        <p:txBody>
          <a:bodyPr wrap="square" anchor="t" lIns="18288" rIns="18288" tIns="9144" bIns="9144">
            <a:spAutoFit/>
          </a:bodyPr>
          <a:lstStyle/>
          <a:p>
            <a:pPr algn="l">
              <a:lnSpc>
                <a:spcPct val="100000"/>
              </a:lnSpc>
            </a:pPr>
            <a:r>
              <a:rPr sz="900" b="0" spc="250">
                <a:solidFill>
                  <a:srgbClr val="5D6675"/>
                </a:solidFill>
                <a:latin typeface="Inter Medium"/>
              </a:rPr>
              <a:t>DATE</a:t>
            </a:r>
          </a:p>
        </p:txBody>
      </p:sp>
      <p:sp>
        <p:nvSpPr>
          <p:cNvPr id="71" name="TextBox 70"/>
          <p:cNvSpPr txBox="1"/>
          <p:nvPr/>
        </p:nvSpPr>
        <p:spPr>
          <a:xfrm>
            <a:off x="9281160" y="6236208"/>
            <a:ext cx="2377440" cy="292608"/>
          </a:xfrm>
          <a:prstGeom prst="rect">
            <a:avLst/>
          </a:prstGeom>
          <a:noFill/>
        </p:spPr>
        <p:txBody>
          <a:bodyPr wrap="square" anchor="t" lIns="18288" rIns="18288" tIns="9144" bIns="9144">
            <a:spAutoFit/>
          </a:bodyPr>
          <a:lstStyle/>
          <a:p>
            <a:pPr algn="l">
              <a:lnSpc>
                <a:spcPct val="100000"/>
              </a:lnSpc>
            </a:pPr>
            <a:r>
              <a:rPr sz="1300" b="0">
                <a:solidFill>
                  <a:srgbClr val="121826"/>
                </a:solidFill>
                <a:latin typeface="Inter Medium"/>
              </a:rPr>
              <a:t>13 July 2026</a:t>
            </a:r>
          </a:p>
        </p:txBody>
      </p:sp>
      <p:sp>
        <p:nvSpPr>
          <p:cNvPr id="72" name="TextBox 71"/>
          <p:cNvSpPr txBox="1"/>
          <p:nvPr/>
        </p:nvSpPr>
        <p:spPr>
          <a:xfrm>
            <a:off x="10881360" y="6473952"/>
            <a:ext cx="1005840" cy="274320"/>
          </a:xfrm>
          <a:prstGeom prst="rect">
            <a:avLst/>
          </a:prstGeom>
          <a:noFill/>
        </p:spPr>
        <p:txBody>
          <a:bodyPr wrap="square" anchor="t" lIns="18288" rIns="18288" tIns="9144" bIns="9144">
            <a:spAutoFit/>
          </a:bodyPr>
          <a:lstStyle/>
          <a:p>
            <a:pPr algn="r">
              <a:lnSpc>
                <a:spcPct val="100000"/>
              </a:lnSpc>
            </a:pPr>
            <a:r>
              <a:rPr sz="1000" b="0">
                <a:solidFill>
                  <a:srgbClr val="5D6675"/>
                </a:solidFill>
                <a:latin typeface="Inter Medium"/>
              </a:rPr>
              <a:t>01 /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7FA"/>
        </a:solidFill>
        <a:effectLst/>
      </p:bgPr>
    </p:bg>
    <p:spTree>
      <p:nvGrpSpPr>
        <p:cNvPr id="1" name=""/>
        <p:cNvGrpSpPr/>
        <p:nvPr/>
      </p:nvGrpSpPr>
      <p:grpSpPr/>
      <p:sp>
        <p:nvSpPr>
          <p:cNvPr id="2" name="TextBox 1"/>
          <p:cNvSpPr txBox="1"/>
          <p:nvPr/>
        </p:nvSpPr>
        <p:spPr>
          <a:xfrm>
            <a:off x="841248" y="347472"/>
            <a:ext cx="7315200" cy="274320"/>
          </a:xfrm>
          <a:prstGeom prst="rect">
            <a:avLst/>
          </a:prstGeom>
          <a:noFill/>
        </p:spPr>
        <p:txBody>
          <a:bodyPr wrap="square" anchor="t" lIns="18288" rIns="18288" tIns="9144" bIns="9144">
            <a:spAutoFit/>
          </a:bodyPr>
          <a:lstStyle/>
          <a:p>
            <a:pPr algn="l">
              <a:lnSpc>
                <a:spcPct val="100000"/>
              </a:lnSpc>
            </a:pPr>
            <a:r>
              <a:rPr sz="1100" b="0" spc="300">
                <a:solidFill>
                  <a:srgbClr val="4338CA"/>
                </a:solidFill>
                <a:latin typeface="Inter Medium"/>
              </a:rPr>
              <a:t>MOTIVATION</a:t>
            </a:r>
          </a:p>
        </p:txBody>
      </p:sp>
      <p:sp>
        <p:nvSpPr>
          <p:cNvPr id="3" name="TextBox 2"/>
          <p:cNvSpPr txBox="1"/>
          <p:nvPr/>
        </p:nvSpPr>
        <p:spPr>
          <a:xfrm>
            <a:off x="822960" y="566928"/>
            <a:ext cx="10607040" cy="566928"/>
          </a:xfrm>
          <a:prstGeom prst="rect">
            <a:avLst/>
          </a:prstGeom>
          <a:noFill/>
        </p:spPr>
        <p:txBody>
          <a:bodyPr wrap="square" anchor="t" lIns="18288" rIns="18288" tIns="9144" bIns="9144">
            <a:spAutoFit/>
          </a:bodyPr>
          <a:lstStyle/>
          <a:p>
            <a:pPr algn="l">
              <a:lnSpc>
                <a:spcPct val="100000"/>
              </a:lnSpc>
            </a:pPr>
            <a:r>
              <a:rPr sz="3000" b="1">
                <a:solidFill>
                  <a:srgbClr val="121826"/>
                </a:solidFill>
                <a:latin typeface="Poppins ExtraBold"/>
              </a:rPr>
              <a:t>Why Does This Research Matter?</a:t>
            </a:r>
          </a:p>
        </p:txBody>
      </p:sp>
      <p:sp>
        <p:nvSpPr>
          <p:cNvPr id="4" name="Rounded Rectangle 3"/>
          <p:cNvSpPr/>
          <p:nvPr/>
        </p:nvSpPr>
        <p:spPr>
          <a:xfrm>
            <a:off x="841248" y="1133856"/>
            <a:ext cx="868680" cy="45720"/>
          </a:xfrm>
          <a:prstGeom prst="roundRect">
            <a:avLst>
              <a:gd name="adj" fmla="val 50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81360" y="6473952"/>
            <a:ext cx="1005840" cy="274320"/>
          </a:xfrm>
          <a:prstGeom prst="rect">
            <a:avLst/>
          </a:prstGeom>
          <a:noFill/>
        </p:spPr>
        <p:txBody>
          <a:bodyPr wrap="square" anchor="t" lIns="18288" rIns="18288" tIns="9144" bIns="9144">
            <a:spAutoFit/>
          </a:bodyPr>
          <a:lstStyle/>
          <a:p>
            <a:pPr algn="r">
              <a:lnSpc>
                <a:spcPct val="100000"/>
              </a:lnSpc>
            </a:pPr>
            <a:r>
              <a:rPr sz="1000" b="0">
                <a:solidFill>
                  <a:srgbClr val="5D6675"/>
                </a:solidFill>
                <a:latin typeface="Inter Medium"/>
              </a:rPr>
              <a:t>02 / 13</a:t>
            </a:r>
          </a:p>
        </p:txBody>
      </p:sp>
      <p:sp>
        <p:nvSpPr>
          <p:cNvPr id="6" name="TextBox 5"/>
          <p:cNvSpPr txBox="1"/>
          <p:nvPr/>
        </p:nvSpPr>
        <p:spPr>
          <a:xfrm>
            <a:off x="841248" y="6473952"/>
            <a:ext cx="4572000" cy="274320"/>
          </a:xfrm>
          <a:prstGeom prst="rect">
            <a:avLst/>
          </a:prstGeom>
          <a:noFill/>
        </p:spPr>
        <p:txBody>
          <a:bodyPr wrap="square" anchor="t" lIns="18288" rIns="18288" tIns="9144" bIns="9144">
            <a:spAutoFit/>
          </a:bodyPr>
          <a:lstStyle/>
          <a:p>
            <a:pPr algn="l">
              <a:lnSpc>
                <a:spcPct val="100000"/>
              </a:lnSpc>
            </a:pPr>
            <a:r>
              <a:rPr sz="950" b="0" spc="100">
                <a:solidFill>
                  <a:srgbClr val="5D6675"/>
                </a:solidFill>
                <a:latin typeface="Inter Medium"/>
              </a:rPr>
              <a:t>CareerHub · Semantic Professional Identity Framework</a:t>
            </a:r>
          </a:p>
        </p:txBody>
      </p:sp>
      <p:cxnSp>
        <p:nvCxnSpPr>
          <p:cNvPr id="7" name="Connector 6"/>
          <p:cNvCxnSpPr/>
          <p:nvPr/>
        </p:nvCxnSpPr>
        <p:spPr>
          <a:xfrm>
            <a:off x="2697480" y="1828800"/>
            <a:ext cx="0" cy="3675888"/>
          </a:xfrm>
          <a:prstGeom prst="line">
            <a:avLst/>
          </a:prstGeom>
          <a:ln w="19050">
            <a:solidFill>
              <a:srgbClr val="4F46E5">
                <a:alpha val="60000"/>
              </a:srgbClr>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1234440" y="1389888"/>
            <a:ext cx="2926080" cy="438912"/>
          </a:xfrm>
          <a:prstGeom prst="roundRect">
            <a:avLst>
              <a:gd name="adj" fmla="val 24000"/>
            </a:avLst>
          </a:prstGeom>
          <a:solidFill>
            <a:srgbClr val="4F46E5"/>
          </a:solidFill>
          <a:ln>
            <a:no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500" b="1">
                <a:solidFill>
                  <a:srgbClr val="FFFFFF"/>
                </a:solidFill>
                <a:latin typeface="Poppins SemiBold"/>
              </a:rPr>
              <a:t>Student</a:t>
            </a:r>
          </a:p>
        </p:txBody>
      </p:sp>
      <p:sp>
        <p:nvSpPr>
          <p:cNvPr id="9" name="Rounded Rectangle 8"/>
          <p:cNvSpPr/>
          <p:nvPr/>
        </p:nvSpPr>
        <p:spPr>
          <a:xfrm>
            <a:off x="1234440" y="1975104"/>
            <a:ext cx="2926080" cy="365760"/>
          </a:xfrm>
          <a:prstGeom prst="roundRect">
            <a:avLst>
              <a:gd name="adj" fmla="val 24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200" b="0">
                <a:solidFill>
                  <a:srgbClr val="121826"/>
                </a:solidFill>
                <a:latin typeface="Inter Medium"/>
              </a:rPr>
              <a:t>LinkedIn</a:t>
            </a:r>
          </a:p>
        </p:txBody>
      </p:sp>
      <p:sp>
        <p:nvSpPr>
          <p:cNvPr id="10" name="Rounded Rectangle 9"/>
          <p:cNvSpPr/>
          <p:nvPr/>
        </p:nvSpPr>
        <p:spPr>
          <a:xfrm>
            <a:off x="1234440" y="2409444"/>
            <a:ext cx="2926080" cy="365760"/>
          </a:xfrm>
          <a:prstGeom prst="roundRect">
            <a:avLst>
              <a:gd name="adj" fmla="val 24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200" b="0">
                <a:solidFill>
                  <a:srgbClr val="121826"/>
                </a:solidFill>
                <a:latin typeface="Inter Medium"/>
              </a:rPr>
              <a:t>Internshala</a:t>
            </a:r>
          </a:p>
        </p:txBody>
      </p:sp>
      <p:sp>
        <p:nvSpPr>
          <p:cNvPr id="11" name="Rounded Rectangle 10"/>
          <p:cNvSpPr/>
          <p:nvPr/>
        </p:nvSpPr>
        <p:spPr>
          <a:xfrm>
            <a:off x="1234440" y="2843784"/>
            <a:ext cx="2926080" cy="365760"/>
          </a:xfrm>
          <a:prstGeom prst="roundRect">
            <a:avLst>
              <a:gd name="adj" fmla="val 24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200" b="0">
                <a:solidFill>
                  <a:srgbClr val="121826"/>
                </a:solidFill>
                <a:latin typeface="Inter Medium"/>
              </a:rPr>
              <a:t>Naukri</a:t>
            </a:r>
          </a:p>
        </p:txBody>
      </p:sp>
      <p:sp>
        <p:nvSpPr>
          <p:cNvPr id="12" name="Rounded Rectangle 11"/>
          <p:cNvSpPr/>
          <p:nvPr/>
        </p:nvSpPr>
        <p:spPr>
          <a:xfrm>
            <a:off x="1234440" y="3278124"/>
            <a:ext cx="2926080" cy="365760"/>
          </a:xfrm>
          <a:prstGeom prst="roundRect">
            <a:avLst>
              <a:gd name="adj" fmla="val 24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200" b="0">
                <a:solidFill>
                  <a:srgbClr val="121826"/>
                </a:solidFill>
                <a:latin typeface="Inter Medium"/>
              </a:rPr>
              <a:t>Wellfound</a:t>
            </a:r>
          </a:p>
        </p:txBody>
      </p:sp>
      <p:sp>
        <p:nvSpPr>
          <p:cNvPr id="13" name="Rounded Rectangle 12"/>
          <p:cNvSpPr/>
          <p:nvPr/>
        </p:nvSpPr>
        <p:spPr>
          <a:xfrm>
            <a:off x="1234440" y="3712464"/>
            <a:ext cx="2926080" cy="365760"/>
          </a:xfrm>
          <a:prstGeom prst="roundRect">
            <a:avLst>
              <a:gd name="adj" fmla="val 24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200" b="0">
                <a:solidFill>
                  <a:srgbClr val="121826"/>
                </a:solidFill>
                <a:latin typeface="Inter Medium"/>
              </a:rPr>
              <a:t>Google Careers</a:t>
            </a:r>
          </a:p>
        </p:txBody>
      </p:sp>
      <p:sp>
        <p:nvSpPr>
          <p:cNvPr id="14" name="Rounded Rectangle 13"/>
          <p:cNvSpPr/>
          <p:nvPr/>
        </p:nvSpPr>
        <p:spPr>
          <a:xfrm>
            <a:off x="1234440" y="4146804"/>
            <a:ext cx="2926080" cy="365760"/>
          </a:xfrm>
          <a:prstGeom prst="roundRect">
            <a:avLst>
              <a:gd name="adj" fmla="val 24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200" b="0">
                <a:solidFill>
                  <a:srgbClr val="121826"/>
                </a:solidFill>
                <a:latin typeface="Inter Medium"/>
              </a:rPr>
              <a:t>University Portal</a:t>
            </a:r>
          </a:p>
        </p:txBody>
      </p:sp>
      <p:sp>
        <p:nvSpPr>
          <p:cNvPr id="15" name="Rounded Rectangle 14"/>
          <p:cNvSpPr/>
          <p:nvPr/>
        </p:nvSpPr>
        <p:spPr>
          <a:xfrm>
            <a:off x="1234440" y="4581144"/>
            <a:ext cx="2926080" cy="365760"/>
          </a:xfrm>
          <a:prstGeom prst="roundRect">
            <a:avLst>
              <a:gd name="adj" fmla="val 24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200" b="0">
                <a:solidFill>
                  <a:srgbClr val="121826"/>
                </a:solidFill>
                <a:latin typeface="Inter Medium"/>
              </a:rPr>
              <a:t>Hackathon Portal</a:t>
            </a:r>
          </a:p>
        </p:txBody>
      </p:sp>
      <p:sp>
        <p:nvSpPr>
          <p:cNvPr id="16" name="Rounded Rectangle 15"/>
          <p:cNvSpPr/>
          <p:nvPr/>
        </p:nvSpPr>
        <p:spPr>
          <a:xfrm>
            <a:off x="1234440" y="5015483"/>
            <a:ext cx="2926080" cy="365760"/>
          </a:xfrm>
          <a:prstGeom prst="roundRect">
            <a:avLst>
              <a:gd name="adj" fmla="val 24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200" b="0">
                <a:solidFill>
                  <a:srgbClr val="121826"/>
                </a:solidFill>
                <a:latin typeface="Inter Medium"/>
              </a:rPr>
              <a:t>Company Portal</a:t>
            </a:r>
          </a:p>
        </p:txBody>
      </p:sp>
      <p:sp>
        <p:nvSpPr>
          <p:cNvPr id="17" name="TextBox 16"/>
          <p:cNvSpPr txBox="1"/>
          <p:nvPr/>
        </p:nvSpPr>
        <p:spPr>
          <a:xfrm>
            <a:off x="914400" y="5687568"/>
            <a:ext cx="4663440" cy="685800"/>
          </a:xfrm>
          <a:prstGeom prst="rect">
            <a:avLst/>
          </a:prstGeom>
          <a:noFill/>
        </p:spPr>
        <p:txBody>
          <a:bodyPr wrap="square" anchor="t" lIns="18288" rIns="18288" tIns="9144" bIns="9144">
            <a:spAutoFit/>
          </a:bodyPr>
          <a:lstStyle/>
          <a:p>
            <a:pPr algn="l">
              <a:lnSpc>
                <a:spcPct val="115000"/>
              </a:lnSpc>
            </a:pPr>
            <a:r>
              <a:rPr sz="1300" b="0">
                <a:solidFill>
                  <a:srgbClr val="5D6675"/>
                </a:solidFill>
                <a:latin typeface="Inter"/>
              </a:rPr>
              <a:t>Students repeatedly create identical professional profiles across multiple recruitment platforms — wasting time and effort.</a:t>
            </a:r>
          </a:p>
        </p:txBody>
      </p:sp>
      <p:sp>
        <p:nvSpPr>
          <p:cNvPr id="18" name="Rounded Rectangle 17"/>
          <p:cNvSpPr/>
          <p:nvPr/>
        </p:nvSpPr>
        <p:spPr>
          <a:xfrm>
            <a:off x="5486400" y="1389888"/>
            <a:ext cx="5897880" cy="4224528"/>
          </a:xfrm>
          <a:prstGeom prst="roundRect">
            <a:avLst>
              <a:gd name="adj" fmla="val 7000"/>
            </a:avLst>
          </a:prstGeom>
          <a:solidFill>
            <a:srgbClr val="FFFFFF"/>
          </a:solidFill>
          <a:ln w="12700">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06440" y="1627632"/>
            <a:ext cx="4114800" cy="274320"/>
          </a:xfrm>
          <a:prstGeom prst="rect">
            <a:avLst/>
          </a:prstGeom>
          <a:noFill/>
        </p:spPr>
        <p:txBody>
          <a:bodyPr wrap="square" anchor="t" lIns="18288" rIns="18288" tIns="9144" bIns="9144">
            <a:spAutoFit/>
          </a:bodyPr>
          <a:lstStyle/>
          <a:p>
            <a:pPr algn="l">
              <a:lnSpc>
                <a:spcPct val="100000"/>
              </a:lnSpc>
            </a:pPr>
            <a:r>
              <a:rPr sz="1100" b="0" spc="300">
                <a:solidFill>
                  <a:srgbClr val="5D6675"/>
                </a:solidFill>
                <a:latin typeface="Inter Medium"/>
              </a:rPr>
              <a:t>THE COST OF REPETITION</a:t>
            </a:r>
          </a:p>
        </p:txBody>
      </p:sp>
      <p:sp>
        <p:nvSpPr>
          <p:cNvPr id="20" name="Rounded Rectangle 19"/>
          <p:cNvSpPr/>
          <p:nvPr/>
        </p:nvSpPr>
        <p:spPr>
          <a:xfrm>
            <a:off x="5806440" y="2029968"/>
            <a:ext cx="2633472" cy="1536192"/>
          </a:xfrm>
          <a:prstGeom prst="roundRect">
            <a:avLst>
              <a:gd name="adj" fmla="val 10000"/>
            </a:avLst>
          </a:prstGeom>
          <a:solidFill>
            <a:srgbClr val="EDF0F5"/>
          </a:solidFill>
          <a:ln w="9525">
            <a:solidFill>
              <a:srgbClr val="E3E7EE">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25896" y="2176272"/>
            <a:ext cx="2286000" cy="566928"/>
          </a:xfrm>
          <a:prstGeom prst="rect">
            <a:avLst/>
          </a:prstGeom>
          <a:noFill/>
        </p:spPr>
        <p:txBody>
          <a:bodyPr wrap="square" anchor="t" lIns="18288" rIns="18288" tIns="9144" bIns="9144">
            <a:spAutoFit/>
          </a:bodyPr>
          <a:lstStyle/>
          <a:p>
            <a:pPr algn="l">
              <a:lnSpc>
                <a:spcPct val="100000"/>
              </a:lnSpc>
            </a:pPr>
            <a:r>
              <a:rPr sz="3200" b="1">
                <a:solidFill>
                  <a:srgbClr val="4338CA"/>
                </a:solidFill>
                <a:latin typeface="Poppins ExtraBold"/>
              </a:rPr>
              <a:t>80+</a:t>
            </a:r>
          </a:p>
        </p:txBody>
      </p:sp>
      <p:sp>
        <p:nvSpPr>
          <p:cNvPr id="22" name="TextBox 21"/>
          <p:cNvSpPr txBox="1"/>
          <p:nvPr/>
        </p:nvSpPr>
        <p:spPr>
          <a:xfrm>
            <a:off x="6025896" y="2871216"/>
            <a:ext cx="2286000" cy="274320"/>
          </a:xfrm>
          <a:prstGeom prst="rect">
            <a:avLst/>
          </a:prstGeom>
          <a:noFill/>
        </p:spPr>
        <p:txBody>
          <a:bodyPr wrap="square" anchor="t" lIns="18288" rIns="18288" tIns="9144" bIns="9144">
            <a:spAutoFit/>
          </a:bodyPr>
          <a:lstStyle/>
          <a:p>
            <a:pPr algn="l">
              <a:lnSpc>
                <a:spcPct val="100000"/>
              </a:lnSpc>
            </a:pPr>
            <a:r>
              <a:rPr sz="1250" b="0">
                <a:solidFill>
                  <a:srgbClr val="121826"/>
                </a:solidFill>
                <a:latin typeface="Inter Medium"/>
              </a:rPr>
              <a:t>Repeated form fields</a:t>
            </a:r>
          </a:p>
        </p:txBody>
      </p:sp>
      <p:sp>
        <p:nvSpPr>
          <p:cNvPr id="23" name="TextBox 22"/>
          <p:cNvSpPr txBox="1"/>
          <p:nvPr/>
        </p:nvSpPr>
        <p:spPr>
          <a:xfrm>
            <a:off x="6025896" y="3145536"/>
            <a:ext cx="2286000" cy="274320"/>
          </a:xfrm>
          <a:prstGeom prst="rect">
            <a:avLst/>
          </a:prstGeom>
          <a:noFill/>
        </p:spPr>
        <p:txBody>
          <a:bodyPr wrap="square" anchor="t" lIns="18288" rIns="18288" tIns="9144" bIns="9144">
            <a:spAutoFit/>
          </a:bodyPr>
          <a:lstStyle/>
          <a:p>
            <a:pPr algn="l">
              <a:lnSpc>
                <a:spcPct val="100000"/>
              </a:lnSpc>
            </a:pPr>
            <a:r>
              <a:rPr sz="1000" b="0">
                <a:solidFill>
                  <a:srgbClr val="5D6675"/>
                </a:solidFill>
                <a:latin typeface="Inter"/>
              </a:rPr>
              <a:t>asked on every single portal</a:t>
            </a:r>
          </a:p>
        </p:txBody>
      </p:sp>
      <p:sp>
        <p:nvSpPr>
          <p:cNvPr id="24" name="Rounded Rectangle 23"/>
          <p:cNvSpPr/>
          <p:nvPr/>
        </p:nvSpPr>
        <p:spPr>
          <a:xfrm>
            <a:off x="8641080" y="2029968"/>
            <a:ext cx="2633472" cy="1536192"/>
          </a:xfrm>
          <a:prstGeom prst="roundRect">
            <a:avLst>
              <a:gd name="adj" fmla="val 10000"/>
            </a:avLst>
          </a:prstGeom>
          <a:solidFill>
            <a:srgbClr val="EDF0F5"/>
          </a:solidFill>
          <a:ln w="9525">
            <a:solidFill>
              <a:srgbClr val="E3E7EE">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860536" y="2176272"/>
            <a:ext cx="2286000" cy="566928"/>
          </a:xfrm>
          <a:prstGeom prst="rect">
            <a:avLst/>
          </a:prstGeom>
          <a:noFill/>
        </p:spPr>
        <p:txBody>
          <a:bodyPr wrap="square" anchor="t" lIns="18288" rIns="18288" tIns="9144" bIns="9144">
            <a:spAutoFit/>
          </a:bodyPr>
          <a:lstStyle/>
          <a:p>
            <a:pPr algn="l">
              <a:lnSpc>
                <a:spcPct val="100000"/>
              </a:lnSpc>
            </a:pPr>
            <a:r>
              <a:rPr sz="3200" b="1">
                <a:solidFill>
                  <a:srgbClr val="121826"/>
                </a:solidFill>
                <a:latin typeface="Poppins ExtraBold"/>
              </a:rPr>
              <a:t>10+</a:t>
            </a:r>
          </a:p>
        </p:txBody>
      </p:sp>
      <p:sp>
        <p:nvSpPr>
          <p:cNvPr id="26" name="TextBox 25"/>
          <p:cNvSpPr txBox="1"/>
          <p:nvPr/>
        </p:nvSpPr>
        <p:spPr>
          <a:xfrm>
            <a:off x="8860536" y="2871216"/>
            <a:ext cx="2286000" cy="274320"/>
          </a:xfrm>
          <a:prstGeom prst="rect">
            <a:avLst/>
          </a:prstGeom>
          <a:noFill/>
        </p:spPr>
        <p:txBody>
          <a:bodyPr wrap="square" anchor="t" lIns="18288" rIns="18288" tIns="9144" bIns="9144">
            <a:spAutoFit/>
          </a:bodyPr>
          <a:lstStyle/>
          <a:p>
            <a:pPr algn="l">
              <a:lnSpc>
                <a:spcPct val="100000"/>
              </a:lnSpc>
            </a:pPr>
            <a:r>
              <a:rPr sz="1250" b="0">
                <a:solidFill>
                  <a:srgbClr val="121826"/>
                </a:solidFill>
                <a:latin typeface="Inter Medium"/>
              </a:rPr>
              <a:t>Platforms per student</a:t>
            </a:r>
          </a:p>
        </p:txBody>
      </p:sp>
      <p:sp>
        <p:nvSpPr>
          <p:cNvPr id="27" name="TextBox 26"/>
          <p:cNvSpPr txBox="1"/>
          <p:nvPr/>
        </p:nvSpPr>
        <p:spPr>
          <a:xfrm>
            <a:off x="8860536" y="3145536"/>
            <a:ext cx="2286000" cy="274320"/>
          </a:xfrm>
          <a:prstGeom prst="rect">
            <a:avLst/>
          </a:prstGeom>
          <a:noFill/>
        </p:spPr>
        <p:txBody>
          <a:bodyPr wrap="square" anchor="t" lIns="18288" rIns="18288" tIns="9144" bIns="9144">
            <a:spAutoFit/>
          </a:bodyPr>
          <a:lstStyle/>
          <a:p>
            <a:pPr algn="l">
              <a:lnSpc>
                <a:spcPct val="100000"/>
              </a:lnSpc>
            </a:pPr>
            <a:r>
              <a:rPr sz="1000" b="0">
                <a:solidFill>
                  <a:srgbClr val="5D6675"/>
                </a:solidFill>
                <a:latin typeface="Inter"/>
              </a:rPr>
              <a:t>each with its own form</a:t>
            </a:r>
          </a:p>
        </p:txBody>
      </p:sp>
      <p:sp>
        <p:nvSpPr>
          <p:cNvPr id="28" name="Rounded Rectangle 27"/>
          <p:cNvSpPr/>
          <p:nvPr/>
        </p:nvSpPr>
        <p:spPr>
          <a:xfrm>
            <a:off x="5806440" y="3749039"/>
            <a:ext cx="2633472" cy="1536192"/>
          </a:xfrm>
          <a:prstGeom prst="roundRect">
            <a:avLst>
              <a:gd name="adj" fmla="val 10000"/>
            </a:avLst>
          </a:prstGeom>
          <a:solidFill>
            <a:srgbClr val="EDF0F5"/>
          </a:solidFill>
          <a:ln w="9525">
            <a:solidFill>
              <a:srgbClr val="E3E7EE">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025896" y="3895344"/>
            <a:ext cx="2286000" cy="566928"/>
          </a:xfrm>
          <a:prstGeom prst="rect">
            <a:avLst/>
          </a:prstGeom>
          <a:noFill/>
        </p:spPr>
        <p:txBody>
          <a:bodyPr wrap="square" anchor="t" lIns="18288" rIns="18288" tIns="9144" bIns="9144">
            <a:spAutoFit/>
          </a:bodyPr>
          <a:lstStyle/>
          <a:p>
            <a:pPr algn="l">
              <a:lnSpc>
                <a:spcPct val="100000"/>
              </a:lnSpc>
            </a:pPr>
            <a:r>
              <a:rPr sz="3200" b="1">
                <a:solidFill>
                  <a:srgbClr val="D97706"/>
                </a:solidFill>
                <a:latin typeface="Poppins ExtraBold"/>
              </a:rPr>
              <a:t>20 hrs</a:t>
            </a:r>
          </a:p>
        </p:txBody>
      </p:sp>
      <p:sp>
        <p:nvSpPr>
          <p:cNvPr id="30" name="TextBox 29"/>
          <p:cNvSpPr txBox="1"/>
          <p:nvPr/>
        </p:nvSpPr>
        <p:spPr>
          <a:xfrm>
            <a:off x="6025896" y="4590288"/>
            <a:ext cx="2286000" cy="274320"/>
          </a:xfrm>
          <a:prstGeom prst="rect">
            <a:avLst/>
          </a:prstGeom>
          <a:noFill/>
        </p:spPr>
        <p:txBody>
          <a:bodyPr wrap="square" anchor="t" lIns="18288" rIns="18288" tIns="9144" bIns="9144">
            <a:spAutoFit/>
          </a:bodyPr>
          <a:lstStyle/>
          <a:p>
            <a:pPr algn="l">
              <a:lnSpc>
                <a:spcPct val="100000"/>
              </a:lnSpc>
            </a:pPr>
            <a:r>
              <a:rPr sz="1250" b="0">
                <a:solidFill>
                  <a:srgbClr val="121826"/>
                </a:solidFill>
                <a:latin typeface="Inter Medium"/>
              </a:rPr>
              <a:t>Lost every season</a:t>
            </a:r>
          </a:p>
        </p:txBody>
      </p:sp>
      <p:sp>
        <p:nvSpPr>
          <p:cNvPr id="31" name="TextBox 30"/>
          <p:cNvSpPr txBox="1"/>
          <p:nvPr/>
        </p:nvSpPr>
        <p:spPr>
          <a:xfrm>
            <a:off x="6025896" y="4864607"/>
            <a:ext cx="2286000" cy="274320"/>
          </a:xfrm>
          <a:prstGeom prst="rect">
            <a:avLst/>
          </a:prstGeom>
          <a:noFill/>
        </p:spPr>
        <p:txBody>
          <a:bodyPr wrap="square" anchor="t" lIns="18288" rIns="18288" tIns="9144" bIns="9144">
            <a:spAutoFit/>
          </a:bodyPr>
          <a:lstStyle/>
          <a:p>
            <a:pPr algn="l">
              <a:lnSpc>
                <a:spcPct val="100000"/>
              </a:lnSpc>
            </a:pPr>
            <a:r>
              <a:rPr sz="1000" b="0">
                <a:solidFill>
                  <a:srgbClr val="5D6675"/>
                </a:solidFill>
                <a:latin typeface="Inter"/>
              </a:rPr>
              <a:t>re-typing the same data</a:t>
            </a:r>
          </a:p>
        </p:txBody>
      </p:sp>
      <p:sp>
        <p:nvSpPr>
          <p:cNvPr id="32" name="Rounded Rectangle 31"/>
          <p:cNvSpPr/>
          <p:nvPr/>
        </p:nvSpPr>
        <p:spPr>
          <a:xfrm>
            <a:off x="8641080" y="3749039"/>
            <a:ext cx="2633472" cy="1536192"/>
          </a:xfrm>
          <a:prstGeom prst="roundRect">
            <a:avLst>
              <a:gd name="adj" fmla="val 10000"/>
            </a:avLst>
          </a:prstGeom>
          <a:solidFill>
            <a:srgbClr val="EDF0F5"/>
          </a:solidFill>
          <a:ln w="9525">
            <a:solidFill>
              <a:srgbClr val="E3E7EE">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860536" y="3895344"/>
            <a:ext cx="2286000" cy="566928"/>
          </a:xfrm>
          <a:prstGeom prst="rect">
            <a:avLst/>
          </a:prstGeom>
          <a:noFill/>
        </p:spPr>
        <p:txBody>
          <a:bodyPr wrap="square" anchor="t" lIns="18288" rIns="18288" tIns="9144" bIns="9144">
            <a:spAutoFit/>
          </a:bodyPr>
          <a:lstStyle/>
          <a:p>
            <a:pPr algn="l">
              <a:lnSpc>
                <a:spcPct val="100000"/>
              </a:lnSpc>
            </a:pPr>
            <a:r>
              <a:rPr sz="3200" b="1">
                <a:solidFill>
                  <a:srgbClr val="B91C1C"/>
                </a:solidFill>
                <a:latin typeface="Poppins ExtraBold"/>
              </a:rPr>
              <a:t>High</a:t>
            </a:r>
          </a:p>
        </p:txBody>
      </p:sp>
      <p:sp>
        <p:nvSpPr>
          <p:cNvPr id="34" name="TextBox 33"/>
          <p:cNvSpPr txBox="1"/>
          <p:nvPr/>
        </p:nvSpPr>
        <p:spPr>
          <a:xfrm>
            <a:off x="8860536" y="4590288"/>
            <a:ext cx="2286000" cy="274320"/>
          </a:xfrm>
          <a:prstGeom prst="rect">
            <a:avLst/>
          </a:prstGeom>
          <a:noFill/>
        </p:spPr>
        <p:txBody>
          <a:bodyPr wrap="square" anchor="t" lIns="18288" rIns="18288" tIns="9144" bIns="9144">
            <a:spAutoFit/>
          </a:bodyPr>
          <a:lstStyle/>
          <a:p>
            <a:pPr algn="l">
              <a:lnSpc>
                <a:spcPct val="100000"/>
              </a:lnSpc>
            </a:pPr>
            <a:r>
              <a:rPr sz="1250" b="0">
                <a:solidFill>
                  <a:srgbClr val="121826"/>
                </a:solidFill>
                <a:latin typeface="Inter Medium"/>
              </a:rPr>
              <a:t>Manual error rate</a:t>
            </a:r>
          </a:p>
        </p:txBody>
      </p:sp>
      <p:sp>
        <p:nvSpPr>
          <p:cNvPr id="35" name="TextBox 34"/>
          <p:cNvSpPr txBox="1"/>
          <p:nvPr/>
        </p:nvSpPr>
        <p:spPr>
          <a:xfrm>
            <a:off x="8860536" y="4864607"/>
            <a:ext cx="2286000" cy="274320"/>
          </a:xfrm>
          <a:prstGeom prst="rect">
            <a:avLst/>
          </a:prstGeom>
          <a:noFill/>
        </p:spPr>
        <p:txBody>
          <a:bodyPr wrap="square" anchor="t" lIns="18288" rIns="18288" tIns="9144" bIns="9144">
            <a:spAutoFit/>
          </a:bodyPr>
          <a:lstStyle/>
          <a:p>
            <a:pPr algn="l">
              <a:lnSpc>
                <a:spcPct val="100000"/>
              </a:lnSpc>
            </a:pPr>
            <a:r>
              <a:rPr sz="1000" b="0">
                <a:solidFill>
                  <a:srgbClr val="5D6675"/>
                </a:solidFill>
                <a:latin typeface="Inter"/>
              </a:rPr>
              <a:t>typos and stale information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7FA"/>
        </a:solidFill>
        <a:effectLst/>
      </p:bgPr>
    </p:bg>
    <p:spTree>
      <p:nvGrpSpPr>
        <p:cNvPr id="1" name=""/>
        <p:cNvGrpSpPr/>
        <p:nvPr/>
      </p:nvGrpSpPr>
      <p:grpSpPr/>
      <p:sp>
        <p:nvSpPr>
          <p:cNvPr id="2" name="TextBox 1"/>
          <p:cNvSpPr txBox="1"/>
          <p:nvPr/>
        </p:nvSpPr>
        <p:spPr>
          <a:xfrm>
            <a:off x="841248" y="347472"/>
            <a:ext cx="7315200" cy="274320"/>
          </a:xfrm>
          <a:prstGeom prst="rect">
            <a:avLst/>
          </a:prstGeom>
          <a:noFill/>
        </p:spPr>
        <p:txBody>
          <a:bodyPr wrap="square" anchor="t" lIns="18288" rIns="18288" tIns="9144" bIns="9144">
            <a:spAutoFit/>
          </a:bodyPr>
          <a:lstStyle/>
          <a:p>
            <a:pPr algn="l">
              <a:lnSpc>
                <a:spcPct val="100000"/>
              </a:lnSpc>
            </a:pPr>
            <a:r>
              <a:rPr sz="1100" b="0" spc="300">
                <a:solidFill>
                  <a:srgbClr val="4338CA"/>
                </a:solidFill>
                <a:latin typeface="Inter Medium"/>
              </a:rPr>
              <a:t>PROBLEM STATEMENT</a:t>
            </a:r>
          </a:p>
        </p:txBody>
      </p:sp>
      <p:sp>
        <p:nvSpPr>
          <p:cNvPr id="3" name="TextBox 2"/>
          <p:cNvSpPr txBox="1"/>
          <p:nvPr/>
        </p:nvSpPr>
        <p:spPr>
          <a:xfrm>
            <a:off x="822960" y="566928"/>
            <a:ext cx="10607040" cy="566928"/>
          </a:xfrm>
          <a:prstGeom prst="rect">
            <a:avLst/>
          </a:prstGeom>
          <a:noFill/>
        </p:spPr>
        <p:txBody>
          <a:bodyPr wrap="square" anchor="t" lIns="18288" rIns="18288" tIns="9144" bIns="9144">
            <a:spAutoFit/>
          </a:bodyPr>
          <a:lstStyle/>
          <a:p>
            <a:pPr algn="l">
              <a:lnSpc>
                <a:spcPct val="100000"/>
              </a:lnSpc>
            </a:pPr>
            <a:r>
              <a:rPr sz="3000" b="1">
                <a:solidFill>
                  <a:srgbClr val="121826"/>
                </a:solidFill>
                <a:latin typeface="Poppins ExtraBold"/>
              </a:rPr>
              <a:t>Problem Statement</a:t>
            </a:r>
          </a:p>
        </p:txBody>
      </p:sp>
      <p:sp>
        <p:nvSpPr>
          <p:cNvPr id="4" name="Rounded Rectangle 3"/>
          <p:cNvSpPr/>
          <p:nvPr/>
        </p:nvSpPr>
        <p:spPr>
          <a:xfrm>
            <a:off x="841248" y="1133856"/>
            <a:ext cx="868680" cy="45720"/>
          </a:xfrm>
          <a:prstGeom prst="roundRect">
            <a:avLst>
              <a:gd name="adj" fmla="val 50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81360" y="6473952"/>
            <a:ext cx="1005840" cy="274320"/>
          </a:xfrm>
          <a:prstGeom prst="rect">
            <a:avLst/>
          </a:prstGeom>
          <a:noFill/>
        </p:spPr>
        <p:txBody>
          <a:bodyPr wrap="square" anchor="t" lIns="18288" rIns="18288" tIns="9144" bIns="9144">
            <a:spAutoFit/>
          </a:bodyPr>
          <a:lstStyle/>
          <a:p>
            <a:pPr algn="r">
              <a:lnSpc>
                <a:spcPct val="100000"/>
              </a:lnSpc>
            </a:pPr>
            <a:r>
              <a:rPr sz="1000" b="0">
                <a:solidFill>
                  <a:srgbClr val="5D6675"/>
                </a:solidFill>
                <a:latin typeface="Inter Medium"/>
              </a:rPr>
              <a:t>03 / 13</a:t>
            </a:r>
          </a:p>
        </p:txBody>
      </p:sp>
      <p:sp>
        <p:nvSpPr>
          <p:cNvPr id="6" name="TextBox 5"/>
          <p:cNvSpPr txBox="1"/>
          <p:nvPr/>
        </p:nvSpPr>
        <p:spPr>
          <a:xfrm>
            <a:off x="841248" y="6473952"/>
            <a:ext cx="4572000" cy="274320"/>
          </a:xfrm>
          <a:prstGeom prst="rect">
            <a:avLst/>
          </a:prstGeom>
          <a:noFill/>
        </p:spPr>
        <p:txBody>
          <a:bodyPr wrap="square" anchor="t" lIns="18288" rIns="18288" tIns="9144" bIns="9144">
            <a:spAutoFit/>
          </a:bodyPr>
          <a:lstStyle/>
          <a:p>
            <a:pPr algn="l">
              <a:lnSpc>
                <a:spcPct val="100000"/>
              </a:lnSpc>
            </a:pPr>
            <a:r>
              <a:rPr sz="950" b="0" spc="100">
                <a:solidFill>
                  <a:srgbClr val="5D6675"/>
                </a:solidFill>
                <a:latin typeface="Inter Medium"/>
              </a:rPr>
              <a:t>CareerHub · Semantic Professional Identity Framework</a:t>
            </a:r>
          </a:p>
        </p:txBody>
      </p:sp>
      <p:sp>
        <p:nvSpPr>
          <p:cNvPr id="7" name="Rounded Rectangle 6"/>
          <p:cNvSpPr/>
          <p:nvPr/>
        </p:nvSpPr>
        <p:spPr>
          <a:xfrm>
            <a:off x="822960" y="1325880"/>
            <a:ext cx="4892040" cy="4114800"/>
          </a:xfrm>
          <a:prstGeom prst="roundRect">
            <a:avLst>
              <a:gd name="adj" fmla="val 7000"/>
            </a:avLst>
          </a:prstGeom>
          <a:solidFill>
            <a:srgbClr val="FFFFFF"/>
          </a:solidFill>
          <a:ln w="12700">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517904"/>
            <a:ext cx="3657600" cy="256032"/>
          </a:xfrm>
          <a:prstGeom prst="rect">
            <a:avLst/>
          </a:prstGeom>
          <a:noFill/>
        </p:spPr>
        <p:txBody>
          <a:bodyPr wrap="square" anchor="t" lIns="18288" rIns="18288" tIns="9144" bIns="9144">
            <a:spAutoFit/>
          </a:bodyPr>
          <a:lstStyle/>
          <a:p>
            <a:pPr algn="l">
              <a:lnSpc>
                <a:spcPct val="100000"/>
              </a:lnSpc>
            </a:pPr>
            <a:r>
              <a:rPr sz="1100" b="0" spc="300">
                <a:solidFill>
                  <a:srgbClr val="5D6675"/>
                </a:solidFill>
                <a:latin typeface="Inter Medium"/>
              </a:rPr>
              <a:t>CURRENT WORKFLOW</a:t>
            </a:r>
          </a:p>
        </p:txBody>
      </p:sp>
      <p:cxnSp>
        <p:nvCxnSpPr>
          <p:cNvPr id="9" name="Connector 8"/>
          <p:cNvCxnSpPr/>
          <p:nvPr/>
        </p:nvCxnSpPr>
        <p:spPr>
          <a:xfrm>
            <a:off x="3268980" y="2011680"/>
            <a:ext cx="0" cy="3246120"/>
          </a:xfrm>
          <a:prstGeom prst="line">
            <a:avLst/>
          </a:prstGeom>
          <a:ln w="15875">
            <a:solidFill>
              <a:srgbClr val="9AA3B2">
                <a:alpha val="90000"/>
              </a:srgbClr>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1783080" y="1847088"/>
            <a:ext cx="2971800" cy="310896"/>
          </a:xfrm>
          <a:prstGeom prst="roundRect">
            <a:avLst>
              <a:gd name="adj" fmla="val 24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200" b="1">
                <a:solidFill>
                  <a:srgbClr val="FFFFFF"/>
                </a:solidFill>
                <a:latin typeface="Poppins SemiBold"/>
              </a:rPr>
              <a:t>Student</a:t>
            </a:r>
          </a:p>
        </p:txBody>
      </p:sp>
      <p:sp>
        <p:nvSpPr>
          <p:cNvPr id="11" name="Rounded Rectangle 10"/>
          <p:cNvSpPr/>
          <p:nvPr/>
        </p:nvSpPr>
        <p:spPr>
          <a:xfrm>
            <a:off x="1783080" y="2237536"/>
            <a:ext cx="2971800" cy="310896"/>
          </a:xfrm>
          <a:prstGeom prst="roundRect">
            <a:avLst>
              <a:gd name="adj" fmla="val 24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50" b="0">
                <a:solidFill>
                  <a:srgbClr val="121826"/>
                </a:solidFill>
                <a:latin typeface="Inter Medium"/>
              </a:rPr>
              <a:t>Open Portal</a:t>
            </a:r>
          </a:p>
        </p:txBody>
      </p:sp>
      <p:sp>
        <p:nvSpPr>
          <p:cNvPr id="12" name="Rounded Rectangle 11"/>
          <p:cNvSpPr/>
          <p:nvPr/>
        </p:nvSpPr>
        <p:spPr>
          <a:xfrm>
            <a:off x="1783080" y="2627985"/>
            <a:ext cx="2971800" cy="310896"/>
          </a:xfrm>
          <a:prstGeom prst="roundRect">
            <a:avLst>
              <a:gd name="adj" fmla="val 24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50" b="0">
                <a:solidFill>
                  <a:srgbClr val="121826"/>
                </a:solidFill>
                <a:latin typeface="Inter Medium"/>
              </a:rPr>
              <a:t>Create Profile</a:t>
            </a:r>
          </a:p>
        </p:txBody>
      </p:sp>
      <p:sp>
        <p:nvSpPr>
          <p:cNvPr id="13" name="Rounded Rectangle 12"/>
          <p:cNvSpPr/>
          <p:nvPr/>
        </p:nvSpPr>
        <p:spPr>
          <a:xfrm>
            <a:off x="1783080" y="3018434"/>
            <a:ext cx="2971800" cy="310896"/>
          </a:xfrm>
          <a:prstGeom prst="roundRect">
            <a:avLst>
              <a:gd name="adj" fmla="val 24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50" b="0">
                <a:solidFill>
                  <a:srgbClr val="121826"/>
                </a:solidFill>
                <a:latin typeface="Inter Medium"/>
              </a:rPr>
              <a:t>Upload Resume</a:t>
            </a:r>
          </a:p>
        </p:txBody>
      </p:sp>
      <p:sp>
        <p:nvSpPr>
          <p:cNvPr id="14" name="Rounded Rectangle 13"/>
          <p:cNvSpPr/>
          <p:nvPr/>
        </p:nvSpPr>
        <p:spPr>
          <a:xfrm>
            <a:off x="1783080" y="3408883"/>
            <a:ext cx="2971800" cy="310896"/>
          </a:xfrm>
          <a:prstGeom prst="roundRect">
            <a:avLst>
              <a:gd name="adj" fmla="val 24000"/>
            </a:avLst>
          </a:prstGeom>
          <a:solidFill>
            <a:srgbClr val="D97706">
              <a:alpha val="14000"/>
            </a:srgbClr>
          </a:solidFill>
          <a:ln w="9525">
            <a:solidFill>
              <a:srgbClr val="D97706">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50" b="0">
                <a:solidFill>
                  <a:srgbClr val="92400E"/>
                </a:solidFill>
                <a:latin typeface="Inter Medium"/>
              </a:rPr>
              <a:t>Fill 80 Fields</a:t>
            </a:r>
          </a:p>
        </p:txBody>
      </p:sp>
      <p:sp>
        <p:nvSpPr>
          <p:cNvPr id="15" name="Rounded Rectangle 14"/>
          <p:cNvSpPr/>
          <p:nvPr/>
        </p:nvSpPr>
        <p:spPr>
          <a:xfrm>
            <a:off x="1783080" y="3799331"/>
            <a:ext cx="2971800" cy="310896"/>
          </a:xfrm>
          <a:prstGeom prst="roundRect">
            <a:avLst>
              <a:gd name="adj" fmla="val 24000"/>
            </a:avLst>
          </a:prstGeom>
          <a:solidFill>
            <a:srgbClr val="DC2626">
              <a:alpha val="14000"/>
            </a:srgbClr>
          </a:solidFill>
          <a:ln w="9525">
            <a:solidFill>
              <a:srgbClr val="DC2626">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50" b="0">
                <a:solidFill>
                  <a:srgbClr val="B91C1C"/>
                </a:solidFill>
                <a:latin typeface="Inter Medium"/>
              </a:rPr>
              <a:t>Repeat Again</a:t>
            </a:r>
          </a:p>
        </p:txBody>
      </p:sp>
      <p:sp>
        <p:nvSpPr>
          <p:cNvPr id="16" name="Rounded Rectangle 15"/>
          <p:cNvSpPr/>
          <p:nvPr/>
        </p:nvSpPr>
        <p:spPr>
          <a:xfrm>
            <a:off x="1783080" y="4189780"/>
            <a:ext cx="2971800" cy="310896"/>
          </a:xfrm>
          <a:prstGeom prst="roundRect">
            <a:avLst>
              <a:gd name="adj" fmla="val 24000"/>
            </a:avLst>
          </a:prstGeom>
          <a:solidFill>
            <a:srgbClr val="DC2626">
              <a:alpha val="14000"/>
            </a:srgbClr>
          </a:solidFill>
          <a:ln w="9525">
            <a:solidFill>
              <a:srgbClr val="DC2626">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50" b="0">
                <a:solidFill>
                  <a:srgbClr val="B91C1C"/>
                </a:solidFill>
                <a:latin typeface="Inter Medium"/>
              </a:rPr>
              <a:t>Repeat Again</a:t>
            </a:r>
          </a:p>
        </p:txBody>
      </p:sp>
      <p:sp>
        <p:nvSpPr>
          <p:cNvPr id="17" name="Rounded Rectangle 16"/>
          <p:cNvSpPr/>
          <p:nvPr/>
        </p:nvSpPr>
        <p:spPr>
          <a:xfrm>
            <a:off x="1783080" y="4580229"/>
            <a:ext cx="2971800" cy="310896"/>
          </a:xfrm>
          <a:prstGeom prst="roundRect">
            <a:avLst>
              <a:gd name="adj" fmla="val 24000"/>
            </a:avLst>
          </a:prstGeom>
          <a:solidFill>
            <a:srgbClr val="DC2626">
              <a:alpha val="14000"/>
            </a:srgbClr>
          </a:solidFill>
          <a:ln w="9525">
            <a:solidFill>
              <a:srgbClr val="DC2626">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50" b="0">
                <a:solidFill>
                  <a:srgbClr val="B91C1C"/>
                </a:solidFill>
                <a:latin typeface="Inter Medium"/>
              </a:rPr>
              <a:t>Repeat Again</a:t>
            </a:r>
          </a:p>
        </p:txBody>
      </p:sp>
      <p:sp>
        <p:nvSpPr>
          <p:cNvPr id="18" name="Rounded Rectangle 17"/>
          <p:cNvSpPr/>
          <p:nvPr/>
        </p:nvSpPr>
        <p:spPr>
          <a:xfrm>
            <a:off x="1783080" y="4970678"/>
            <a:ext cx="2971800" cy="310896"/>
          </a:xfrm>
          <a:prstGeom prst="roundRect">
            <a:avLst>
              <a:gd name="adj" fmla="val 24000"/>
            </a:avLst>
          </a:prstGeom>
          <a:solidFill>
            <a:srgbClr val="059669">
              <a:alpha val="14000"/>
            </a:srgbClr>
          </a:solidFill>
          <a:ln w="9525">
            <a:solidFill>
              <a:srgbClr val="059669">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50" b="0">
                <a:solidFill>
                  <a:srgbClr val="047857"/>
                </a:solidFill>
                <a:latin typeface="Inter Medium"/>
              </a:rPr>
              <a:t>Submit</a:t>
            </a:r>
          </a:p>
        </p:txBody>
      </p:sp>
      <p:sp>
        <p:nvSpPr>
          <p:cNvPr id="19" name="TextBox 18"/>
          <p:cNvSpPr txBox="1"/>
          <p:nvPr/>
        </p:nvSpPr>
        <p:spPr>
          <a:xfrm>
            <a:off x="6035040" y="1371600"/>
            <a:ext cx="3657600" cy="256032"/>
          </a:xfrm>
          <a:prstGeom prst="rect">
            <a:avLst/>
          </a:prstGeom>
          <a:noFill/>
        </p:spPr>
        <p:txBody>
          <a:bodyPr wrap="square" anchor="t" lIns="18288" rIns="18288" tIns="9144" bIns="9144">
            <a:spAutoFit/>
          </a:bodyPr>
          <a:lstStyle/>
          <a:p>
            <a:pPr algn="l">
              <a:lnSpc>
                <a:spcPct val="100000"/>
              </a:lnSpc>
            </a:pPr>
            <a:r>
              <a:rPr sz="1100" b="0" spc="300">
                <a:solidFill>
                  <a:srgbClr val="5D6675"/>
                </a:solidFill>
                <a:latin typeface="Inter Medium"/>
              </a:rPr>
              <a:t>PAIN POINTS</a:t>
            </a:r>
          </a:p>
        </p:txBody>
      </p:sp>
      <p:sp>
        <p:nvSpPr>
          <p:cNvPr id="20" name="Rounded Rectangle 19"/>
          <p:cNvSpPr/>
          <p:nvPr/>
        </p:nvSpPr>
        <p:spPr>
          <a:xfrm>
            <a:off x="6035040" y="1719072"/>
            <a:ext cx="2606040" cy="1115568"/>
          </a:xfrm>
          <a:prstGeom prst="roundRect">
            <a:avLst>
              <a:gd name="adj" fmla="val 10000"/>
            </a:avLst>
          </a:prstGeom>
          <a:solidFill>
            <a:srgbClr val="FFFFFF"/>
          </a:solidFill>
          <a:ln w="9525">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217920" y="1883664"/>
            <a:ext cx="384048" cy="384048"/>
          </a:xfrm>
          <a:prstGeom prst="roundRect">
            <a:avLst>
              <a:gd name="adj" fmla="val 30000"/>
            </a:avLst>
          </a:prstGeom>
          <a:solidFill>
            <a:srgbClr val="D97706">
              <a:alpha val="16000"/>
            </a:srgbClr>
          </a:solidFill>
          <a:ln w="9525">
            <a:solidFill>
              <a:srgbClr val="D97706">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Pie 21"/>
          <p:cNvSpPr/>
          <p:nvPr/>
        </p:nvSpPr>
        <p:spPr>
          <a:xfrm>
            <a:off x="6317772" y="1983516"/>
            <a:ext cx="184343" cy="184343"/>
          </a:xfrm>
          <a:prstGeom prst="pi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0" y="2359152"/>
            <a:ext cx="2286000" cy="438912"/>
          </a:xfrm>
          <a:prstGeom prst="rect">
            <a:avLst/>
          </a:prstGeom>
          <a:noFill/>
        </p:spPr>
        <p:txBody>
          <a:bodyPr wrap="square" anchor="t" lIns="18288" rIns="18288" tIns="9144" bIns="9144">
            <a:spAutoFit/>
          </a:bodyPr>
          <a:lstStyle/>
          <a:p>
            <a:pPr algn="l">
              <a:lnSpc>
                <a:spcPct val="100000"/>
              </a:lnSpc>
            </a:pPr>
            <a:r>
              <a:rPr sz="1250" b="0">
                <a:solidFill>
                  <a:srgbClr val="121826"/>
                </a:solidFill>
                <a:latin typeface="Inter Medium"/>
              </a:rPr>
              <a:t>Time Consuming</a:t>
            </a:r>
          </a:p>
        </p:txBody>
      </p:sp>
      <p:sp>
        <p:nvSpPr>
          <p:cNvPr id="24" name="Rounded Rectangle 23"/>
          <p:cNvSpPr/>
          <p:nvPr/>
        </p:nvSpPr>
        <p:spPr>
          <a:xfrm>
            <a:off x="8823959" y="1719072"/>
            <a:ext cx="2606040" cy="1115568"/>
          </a:xfrm>
          <a:prstGeom prst="roundRect">
            <a:avLst>
              <a:gd name="adj" fmla="val 10000"/>
            </a:avLst>
          </a:prstGeom>
          <a:solidFill>
            <a:srgbClr val="FFFFFF"/>
          </a:solidFill>
          <a:ln w="9525">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006839" y="1883664"/>
            <a:ext cx="384048" cy="384048"/>
          </a:xfrm>
          <a:prstGeom prst="roundRect">
            <a:avLst>
              <a:gd name="adj" fmla="val 30000"/>
            </a:avLst>
          </a:prstGeom>
          <a:solidFill>
            <a:srgbClr val="4F46E5">
              <a:alpha val="16000"/>
            </a:srgbClr>
          </a:solidFill>
          <a:ln w="9525">
            <a:solidFill>
              <a:srgbClr val="4F46E5">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lock Arc 25"/>
          <p:cNvSpPr/>
          <p:nvPr/>
        </p:nvSpPr>
        <p:spPr>
          <a:xfrm>
            <a:off x="9106692" y="1983516"/>
            <a:ext cx="184343" cy="184343"/>
          </a:xfrm>
          <a:prstGeom prst="blockArc">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06839" y="2359152"/>
            <a:ext cx="2286000" cy="438912"/>
          </a:xfrm>
          <a:prstGeom prst="rect">
            <a:avLst/>
          </a:prstGeom>
          <a:noFill/>
        </p:spPr>
        <p:txBody>
          <a:bodyPr wrap="square" anchor="t" lIns="18288" rIns="18288" tIns="9144" bIns="9144">
            <a:spAutoFit/>
          </a:bodyPr>
          <a:lstStyle/>
          <a:p>
            <a:pPr algn="l">
              <a:lnSpc>
                <a:spcPct val="100000"/>
              </a:lnSpc>
            </a:pPr>
            <a:r>
              <a:rPr sz="1250" b="0">
                <a:solidFill>
                  <a:srgbClr val="121826"/>
                </a:solidFill>
                <a:latin typeface="Inter Medium"/>
              </a:rPr>
              <a:t>Repeated Effort</a:t>
            </a:r>
          </a:p>
        </p:txBody>
      </p:sp>
      <p:sp>
        <p:nvSpPr>
          <p:cNvPr id="28" name="Rounded Rectangle 27"/>
          <p:cNvSpPr/>
          <p:nvPr/>
        </p:nvSpPr>
        <p:spPr>
          <a:xfrm>
            <a:off x="6035040" y="2999232"/>
            <a:ext cx="2606040" cy="1115568"/>
          </a:xfrm>
          <a:prstGeom prst="roundRect">
            <a:avLst>
              <a:gd name="adj" fmla="val 10000"/>
            </a:avLst>
          </a:prstGeom>
          <a:solidFill>
            <a:srgbClr val="FFFFFF"/>
          </a:solidFill>
          <a:ln w="9525">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217920" y="3163824"/>
            <a:ext cx="384048" cy="384048"/>
          </a:xfrm>
          <a:prstGeom prst="roundRect">
            <a:avLst>
              <a:gd name="adj" fmla="val 30000"/>
            </a:avLst>
          </a:prstGeom>
          <a:solidFill>
            <a:srgbClr val="D97706">
              <a:alpha val="16000"/>
            </a:srgbClr>
          </a:solidFill>
          <a:ln w="9525">
            <a:solidFill>
              <a:srgbClr val="D97706">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Isosceles Triangle 29"/>
          <p:cNvSpPr/>
          <p:nvPr/>
        </p:nvSpPr>
        <p:spPr>
          <a:xfrm>
            <a:off x="6317772" y="3263676"/>
            <a:ext cx="184343" cy="184343"/>
          </a:xfrm>
          <a:prstGeom prst="triangl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17920" y="3639311"/>
            <a:ext cx="2286000" cy="438912"/>
          </a:xfrm>
          <a:prstGeom prst="rect">
            <a:avLst/>
          </a:prstGeom>
          <a:noFill/>
        </p:spPr>
        <p:txBody>
          <a:bodyPr wrap="square" anchor="t" lIns="18288" rIns="18288" tIns="9144" bIns="9144">
            <a:spAutoFit/>
          </a:bodyPr>
          <a:lstStyle/>
          <a:p>
            <a:pPr algn="l">
              <a:lnSpc>
                <a:spcPct val="100000"/>
              </a:lnSpc>
            </a:pPr>
            <a:r>
              <a:rPr sz="1250" b="0">
                <a:solidFill>
                  <a:srgbClr val="121826"/>
                </a:solidFill>
                <a:latin typeface="Inter Medium"/>
              </a:rPr>
              <a:t>Data Inconsistency</a:t>
            </a:r>
          </a:p>
        </p:txBody>
      </p:sp>
      <p:sp>
        <p:nvSpPr>
          <p:cNvPr id="32" name="Rounded Rectangle 31"/>
          <p:cNvSpPr/>
          <p:nvPr/>
        </p:nvSpPr>
        <p:spPr>
          <a:xfrm>
            <a:off x="8823959" y="2999232"/>
            <a:ext cx="2606040" cy="1115568"/>
          </a:xfrm>
          <a:prstGeom prst="roundRect">
            <a:avLst>
              <a:gd name="adj" fmla="val 10000"/>
            </a:avLst>
          </a:prstGeom>
          <a:solidFill>
            <a:srgbClr val="FFFFFF"/>
          </a:solidFill>
          <a:ln w="9525">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006839" y="3163824"/>
            <a:ext cx="384048" cy="384048"/>
          </a:xfrm>
          <a:prstGeom prst="roundRect">
            <a:avLst>
              <a:gd name="adj" fmla="val 30000"/>
            </a:avLst>
          </a:prstGeom>
          <a:solidFill>
            <a:srgbClr val="DC2626">
              <a:alpha val="16000"/>
            </a:srgbClr>
          </a:solidFill>
          <a:ln w="9525">
            <a:solidFill>
              <a:srgbClr val="DC2626">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ctagon 33"/>
          <p:cNvSpPr/>
          <p:nvPr/>
        </p:nvSpPr>
        <p:spPr>
          <a:xfrm>
            <a:off x="9106692" y="3263676"/>
            <a:ext cx="184343" cy="184343"/>
          </a:xfrm>
          <a:prstGeom prst="octagon">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006839" y="3639311"/>
            <a:ext cx="2286000" cy="438912"/>
          </a:xfrm>
          <a:prstGeom prst="rect">
            <a:avLst/>
          </a:prstGeom>
          <a:noFill/>
        </p:spPr>
        <p:txBody>
          <a:bodyPr wrap="square" anchor="t" lIns="18288" rIns="18288" tIns="9144" bIns="9144">
            <a:spAutoFit/>
          </a:bodyPr>
          <a:lstStyle/>
          <a:p>
            <a:pPr algn="l">
              <a:lnSpc>
                <a:spcPct val="100000"/>
              </a:lnSpc>
            </a:pPr>
            <a:r>
              <a:rPr sz="1250" b="0">
                <a:solidFill>
                  <a:srgbClr val="121826"/>
                </a:solidFill>
                <a:latin typeface="Inter Medium"/>
              </a:rPr>
              <a:t>Manual Errors</a:t>
            </a:r>
          </a:p>
        </p:txBody>
      </p:sp>
      <p:sp>
        <p:nvSpPr>
          <p:cNvPr id="36" name="Rounded Rectangle 35"/>
          <p:cNvSpPr/>
          <p:nvPr/>
        </p:nvSpPr>
        <p:spPr>
          <a:xfrm>
            <a:off x="6035040" y="4279392"/>
            <a:ext cx="2606040" cy="1115568"/>
          </a:xfrm>
          <a:prstGeom prst="roundRect">
            <a:avLst>
              <a:gd name="adj" fmla="val 10000"/>
            </a:avLst>
          </a:prstGeom>
          <a:solidFill>
            <a:srgbClr val="FFFFFF"/>
          </a:solidFill>
          <a:ln w="9525">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217920" y="4443983"/>
            <a:ext cx="384048" cy="384048"/>
          </a:xfrm>
          <a:prstGeom prst="roundRect">
            <a:avLst>
              <a:gd name="adj" fmla="val 30000"/>
            </a:avLst>
          </a:prstGeom>
          <a:solidFill>
            <a:srgbClr val="5D6675">
              <a:alpha val="16000"/>
            </a:srgbClr>
          </a:solidFill>
          <a:ln w="9525">
            <a:solidFill>
              <a:srgbClr val="5D6675">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ame 37"/>
          <p:cNvSpPr/>
          <p:nvPr/>
        </p:nvSpPr>
        <p:spPr>
          <a:xfrm>
            <a:off x="6317772" y="4543836"/>
            <a:ext cx="184343" cy="184343"/>
          </a:xfrm>
          <a:prstGeom prst="frame">
            <a:avLst/>
          </a:prstGeom>
          <a:solidFill>
            <a:srgbClr val="5D66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17920" y="4919472"/>
            <a:ext cx="2286000" cy="438912"/>
          </a:xfrm>
          <a:prstGeom prst="rect">
            <a:avLst/>
          </a:prstGeom>
          <a:noFill/>
        </p:spPr>
        <p:txBody>
          <a:bodyPr wrap="square" anchor="t" lIns="18288" rIns="18288" tIns="9144" bIns="9144">
            <a:spAutoFit/>
          </a:bodyPr>
          <a:lstStyle/>
          <a:p>
            <a:pPr algn="l">
              <a:lnSpc>
                <a:spcPct val="100000"/>
              </a:lnSpc>
            </a:pPr>
            <a:r>
              <a:rPr sz="1250" b="0">
                <a:solidFill>
                  <a:srgbClr val="121826"/>
                </a:solidFill>
                <a:latin typeface="Inter Medium"/>
              </a:rPr>
              <a:t>No Profile Reuse</a:t>
            </a:r>
          </a:p>
        </p:txBody>
      </p:sp>
      <p:sp>
        <p:nvSpPr>
          <p:cNvPr id="40" name="Rounded Rectangle 39"/>
          <p:cNvSpPr/>
          <p:nvPr/>
        </p:nvSpPr>
        <p:spPr>
          <a:xfrm>
            <a:off x="8823959" y="4279392"/>
            <a:ext cx="2606040" cy="1115568"/>
          </a:xfrm>
          <a:prstGeom prst="roundRect">
            <a:avLst>
              <a:gd name="adj" fmla="val 10000"/>
            </a:avLst>
          </a:prstGeom>
          <a:solidFill>
            <a:srgbClr val="FFFFFF"/>
          </a:solidFill>
          <a:ln w="9525">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9006839" y="4443983"/>
            <a:ext cx="384048" cy="384048"/>
          </a:xfrm>
          <a:prstGeom prst="roundRect">
            <a:avLst>
              <a:gd name="adj" fmla="val 30000"/>
            </a:avLst>
          </a:prstGeom>
          <a:solidFill>
            <a:srgbClr val="4338CA">
              <a:alpha val="16000"/>
            </a:srgbClr>
          </a:solidFill>
          <a:ln w="9525">
            <a:solidFill>
              <a:srgbClr val="4338CA">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Hexagon 41"/>
          <p:cNvSpPr/>
          <p:nvPr/>
        </p:nvSpPr>
        <p:spPr>
          <a:xfrm>
            <a:off x="9106692" y="4543836"/>
            <a:ext cx="184343" cy="184343"/>
          </a:xfrm>
          <a:prstGeom prst="hexagon">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006839" y="4919472"/>
            <a:ext cx="2286000" cy="438912"/>
          </a:xfrm>
          <a:prstGeom prst="rect">
            <a:avLst/>
          </a:prstGeom>
          <a:noFill/>
        </p:spPr>
        <p:txBody>
          <a:bodyPr wrap="square" anchor="t" lIns="18288" rIns="18288" tIns="9144" bIns="9144">
            <a:spAutoFit/>
          </a:bodyPr>
          <a:lstStyle/>
          <a:p>
            <a:pPr algn="l">
              <a:lnSpc>
                <a:spcPct val="100000"/>
              </a:lnSpc>
            </a:pPr>
            <a:r>
              <a:rPr sz="1250" b="0">
                <a:solidFill>
                  <a:srgbClr val="121826"/>
                </a:solidFill>
                <a:latin typeface="Inter Medium"/>
              </a:rPr>
              <a:t>No Semantic Understanding</a:t>
            </a:r>
          </a:p>
        </p:txBody>
      </p:sp>
      <p:sp>
        <p:nvSpPr>
          <p:cNvPr id="44" name="Rounded Rectangle 43"/>
          <p:cNvSpPr/>
          <p:nvPr/>
        </p:nvSpPr>
        <p:spPr>
          <a:xfrm>
            <a:off x="822960" y="5596128"/>
            <a:ext cx="10561320" cy="713232"/>
          </a:xfrm>
          <a:prstGeom prst="roundRect">
            <a:avLst>
              <a:gd name="adj" fmla="val 10000"/>
            </a:avLst>
          </a:prstGeom>
          <a:solidFill>
            <a:srgbClr val="FFFFFF"/>
          </a:solidFill>
          <a:ln w="9525">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22960" y="5596128"/>
            <a:ext cx="64008" cy="713232"/>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78992" y="5596128"/>
            <a:ext cx="457200" cy="713232"/>
          </a:xfrm>
          <a:prstGeom prst="rect">
            <a:avLst/>
          </a:prstGeom>
          <a:noFill/>
        </p:spPr>
        <p:txBody>
          <a:bodyPr wrap="square" anchor="ctr" lIns="18288" rIns="18288" tIns="9144" bIns="9144">
            <a:spAutoFit/>
          </a:bodyPr>
          <a:lstStyle/>
          <a:p>
            <a:pPr algn="l">
              <a:lnSpc>
                <a:spcPct val="100000"/>
              </a:lnSpc>
            </a:pPr>
            <a:r>
              <a:rPr sz="3400" b="1">
                <a:solidFill>
                  <a:srgbClr val="4F46E5"/>
                </a:solidFill>
                <a:latin typeface="Poppins ExtraBold"/>
              </a:rPr>
              <a:t>“</a:t>
            </a:r>
          </a:p>
        </p:txBody>
      </p:sp>
      <p:sp>
        <p:nvSpPr>
          <p:cNvPr id="47" name="TextBox 46"/>
          <p:cNvSpPr txBox="1"/>
          <p:nvPr/>
        </p:nvSpPr>
        <p:spPr>
          <a:xfrm>
            <a:off x="1517904" y="5596128"/>
            <a:ext cx="9692640" cy="713232"/>
          </a:xfrm>
          <a:prstGeom prst="rect">
            <a:avLst/>
          </a:prstGeom>
          <a:noFill/>
        </p:spPr>
        <p:txBody>
          <a:bodyPr wrap="square" anchor="ctr" lIns="18288" rIns="18288" tIns="9144" bIns="9144">
            <a:spAutoFit/>
          </a:bodyPr>
          <a:lstStyle/>
          <a:p>
            <a:pPr algn="l">
              <a:lnSpc>
                <a:spcPct val="100000"/>
              </a:lnSpc>
            </a:pPr>
            <a:r>
              <a:rPr sz="1550" b="0">
                <a:solidFill>
                  <a:srgbClr val="121826"/>
                </a:solidFill>
                <a:latin typeface="Poppins SemiBold"/>
              </a:rPr>
              <a:t>Current recruitment platforms optimize recruiter workflows rather than applicant experience.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7FA"/>
        </a:solidFill>
        <a:effectLst/>
      </p:bgPr>
    </p:bg>
    <p:spTree>
      <p:nvGrpSpPr>
        <p:cNvPr id="1" name=""/>
        <p:cNvGrpSpPr/>
        <p:nvPr/>
      </p:nvGrpSpPr>
      <p:grpSpPr/>
      <p:sp>
        <p:nvSpPr>
          <p:cNvPr id="2" name="TextBox 1"/>
          <p:cNvSpPr txBox="1"/>
          <p:nvPr/>
        </p:nvSpPr>
        <p:spPr>
          <a:xfrm>
            <a:off x="841248" y="347472"/>
            <a:ext cx="7315200" cy="274320"/>
          </a:xfrm>
          <a:prstGeom prst="rect">
            <a:avLst/>
          </a:prstGeom>
          <a:noFill/>
        </p:spPr>
        <p:txBody>
          <a:bodyPr wrap="square" anchor="t" lIns="18288" rIns="18288" tIns="9144" bIns="9144">
            <a:spAutoFit/>
          </a:bodyPr>
          <a:lstStyle/>
          <a:p>
            <a:pPr algn="l">
              <a:lnSpc>
                <a:spcPct val="100000"/>
              </a:lnSpc>
            </a:pPr>
            <a:r>
              <a:rPr sz="1100" b="0" spc="300">
                <a:solidFill>
                  <a:srgbClr val="4338CA"/>
                </a:solidFill>
                <a:latin typeface="Inter Medium"/>
              </a:rPr>
              <a:t>LITERATURE LANDSCAPE</a:t>
            </a:r>
          </a:p>
        </p:txBody>
      </p:sp>
      <p:sp>
        <p:nvSpPr>
          <p:cNvPr id="3" name="TextBox 2"/>
          <p:cNvSpPr txBox="1"/>
          <p:nvPr/>
        </p:nvSpPr>
        <p:spPr>
          <a:xfrm>
            <a:off x="822960" y="566928"/>
            <a:ext cx="10607040" cy="566928"/>
          </a:xfrm>
          <a:prstGeom prst="rect">
            <a:avLst/>
          </a:prstGeom>
          <a:noFill/>
        </p:spPr>
        <p:txBody>
          <a:bodyPr wrap="square" anchor="t" lIns="18288" rIns="18288" tIns="9144" bIns="9144">
            <a:spAutoFit/>
          </a:bodyPr>
          <a:lstStyle/>
          <a:p>
            <a:pPr algn="l">
              <a:lnSpc>
                <a:spcPct val="100000"/>
              </a:lnSpc>
            </a:pPr>
            <a:r>
              <a:rPr sz="3000" b="1">
                <a:solidFill>
                  <a:srgbClr val="121826"/>
                </a:solidFill>
                <a:latin typeface="Poppins ExtraBold"/>
              </a:rPr>
              <a:t>Literature Landscape &amp; Research Gap</a:t>
            </a:r>
          </a:p>
        </p:txBody>
      </p:sp>
      <p:sp>
        <p:nvSpPr>
          <p:cNvPr id="4" name="Rounded Rectangle 3"/>
          <p:cNvSpPr/>
          <p:nvPr/>
        </p:nvSpPr>
        <p:spPr>
          <a:xfrm>
            <a:off x="841248" y="1133856"/>
            <a:ext cx="868680" cy="45720"/>
          </a:xfrm>
          <a:prstGeom prst="roundRect">
            <a:avLst>
              <a:gd name="adj" fmla="val 50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81360" y="6473952"/>
            <a:ext cx="1005840" cy="274320"/>
          </a:xfrm>
          <a:prstGeom prst="rect">
            <a:avLst/>
          </a:prstGeom>
          <a:noFill/>
        </p:spPr>
        <p:txBody>
          <a:bodyPr wrap="square" anchor="t" lIns="18288" rIns="18288" tIns="9144" bIns="9144">
            <a:spAutoFit/>
          </a:bodyPr>
          <a:lstStyle/>
          <a:p>
            <a:pPr algn="r">
              <a:lnSpc>
                <a:spcPct val="100000"/>
              </a:lnSpc>
            </a:pPr>
            <a:r>
              <a:rPr sz="1000" b="0">
                <a:solidFill>
                  <a:srgbClr val="5D6675"/>
                </a:solidFill>
                <a:latin typeface="Inter Medium"/>
              </a:rPr>
              <a:t>04 / 13</a:t>
            </a:r>
          </a:p>
        </p:txBody>
      </p:sp>
      <p:sp>
        <p:nvSpPr>
          <p:cNvPr id="6" name="TextBox 5"/>
          <p:cNvSpPr txBox="1"/>
          <p:nvPr/>
        </p:nvSpPr>
        <p:spPr>
          <a:xfrm>
            <a:off x="841248" y="6473952"/>
            <a:ext cx="4572000" cy="274320"/>
          </a:xfrm>
          <a:prstGeom prst="rect">
            <a:avLst/>
          </a:prstGeom>
          <a:noFill/>
        </p:spPr>
        <p:txBody>
          <a:bodyPr wrap="square" anchor="t" lIns="18288" rIns="18288" tIns="9144" bIns="9144">
            <a:spAutoFit/>
          </a:bodyPr>
          <a:lstStyle/>
          <a:p>
            <a:pPr algn="l">
              <a:lnSpc>
                <a:spcPct val="100000"/>
              </a:lnSpc>
            </a:pPr>
            <a:r>
              <a:rPr sz="950" b="0" spc="100">
                <a:solidFill>
                  <a:srgbClr val="5D6675"/>
                </a:solidFill>
                <a:latin typeface="Inter Medium"/>
              </a:rPr>
              <a:t>CareerHub · Semantic Professional Identity Framework</a:t>
            </a:r>
          </a:p>
        </p:txBody>
      </p:sp>
      <p:sp>
        <p:nvSpPr>
          <p:cNvPr id="7" name="Rounded Rectangle 6"/>
          <p:cNvSpPr/>
          <p:nvPr/>
        </p:nvSpPr>
        <p:spPr>
          <a:xfrm>
            <a:off x="2331720" y="1975103"/>
            <a:ext cx="1371600" cy="402336"/>
          </a:xfrm>
          <a:prstGeom prst="roundRect">
            <a:avLst>
              <a:gd name="adj" fmla="val 24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5D6675"/>
                </a:solidFill>
                <a:latin typeface="Inter Medium"/>
              </a:rPr>
              <a:t>Browser Autofill</a:t>
            </a:r>
          </a:p>
        </p:txBody>
      </p:sp>
      <p:sp>
        <p:nvSpPr>
          <p:cNvPr id="8" name="Rounded Rectangle 7"/>
          <p:cNvSpPr/>
          <p:nvPr/>
        </p:nvSpPr>
        <p:spPr>
          <a:xfrm>
            <a:off x="3611945" y="2408974"/>
            <a:ext cx="1371600" cy="402336"/>
          </a:xfrm>
          <a:prstGeom prst="roundRect">
            <a:avLst>
              <a:gd name="adj" fmla="val 24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5D6675"/>
                </a:solidFill>
                <a:latin typeface="Inter Medium"/>
              </a:rPr>
              <a:t>Resume Parsing</a:t>
            </a:r>
          </a:p>
        </p:txBody>
      </p:sp>
      <p:sp>
        <p:nvSpPr>
          <p:cNvPr id="9" name="Rounded Rectangle 8"/>
          <p:cNvSpPr/>
          <p:nvPr/>
        </p:nvSpPr>
        <p:spPr>
          <a:xfrm>
            <a:off x="4142231" y="3456432"/>
            <a:ext cx="1371600" cy="402336"/>
          </a:xfrm>
          <a:prstGeom prst="roundRect">
            <a:avLst>
              <a:gd name="adj" fmla="val 24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5D6675"/>
                </a:solidFill>
                <a:latin typeface="Inter Medium"/>
              </a:rPr>
              <a:t>Sentence Embeddings</a:t>
            </a:r>
          </a:p>
        </p:txBody>
      </p:sp>
      <p:sp>
        <p:nvSpPr>
          <p:cNvPr id="10" name="Rounded Rectangle 9"/>
          <p:cNvSpPr/>
          <p:nvPr/>
        </p:nvSpPr>
        <p:spPr>
          <a:xfrm>
            <a:off x="3611945" y="4503889"/>
            <a:ext cx="1371600" cy="402336"/>
          </a:xfrm>
          <a:prstGeom prst="roundRect">
            <a:avLst>
              <a:gd name="adj" fmla="val 24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5D6675"/>
                </a:solidFill>
                <a:latin typeface="Inter Medium"/>
              </a:rPr>
              <a:t>Digital Identity</a:t>
            </a:r>
          </a:p>
        </p:txBody>
      </p:sp>
      <p:sp>
        <p:nvSpPr>
          <p:cNvPr id="11" name="Rounded Rectangle 10"/>
          <p:cNvSpPr/>
          <p:nvPr/>
        </p:nvSpPr>
        <p:spPr>
          <a:xfrm>
            <a:off x="2331720" y="4937760"/>
            <a:ext cx="1371600" cy="402336"/>
          </a:xfrm>
          <a:prstGeom prst="roundRect">
            <a:avLst>
              <a:gd name="adj" fmla="val 24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5D6675"/>
                </a:solidFill>
                <a:latin typeface="Inter Medium"/>
              </a:rPr>
              <a:t>Recruitment AI</a:t>
            </a:r>
          </a:p>
        </p:txBody>
      </p:sp>
      <p:sp>
        <p:nvSpPr>
          <p:cNvPr id="12" name="Rounded Rectangle 11"/>
          <p:cNvSpPr/>
          <p:nvPr/>
        </p:nvSpPr>
        <p:spPr>
          <a:xfrm>
            <a:off x="1051494" y="4503889"/>
            <a:ext cx="1371600" cy="402336"/>
          </a:xfrm>
          <a:prstGeom prst="roundRect">
            <a:avLst>
              <a:gd name="adj" fmla="val 24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5D6675"/>
                </a:solidFill>
                <a:latin typeface="Inter Medium"/>
              </a:rPr>
              <a:t>Browser Extensions</a:t>
            </a:r>
          </a:p>
        </p:txBody>
      </p:sp>
      <p:sp>
        <p:nvSpPr>
          <p:cNvPr id="13" name="Rounded Rectangle 12"/>
          <p:cNvSpPr/>
          <p:nvPr/>
        </p:nvSpPr>
        <p:spPr>
          <a:xfrm>
            <a:off x="521207" y="3456432"/>
            <a:ext cx="1371600" cy="402336"/>
          </a:xfrm>
          <a:prstGeom prst="roundRect">
            <a:avLst>
              <a:gd name="adj" fmla="val 24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5D6675"/>
                </a:solidFill>
                <a:latin typeface="Inter Medium"/>
              </a:rPr>
              <a:t>HTML Forms</a:t>
            </a:r>
          </a:p>
        </p:txBody>
      </p:sp>
      <p:sp>
        <p:nvSpPr>
          <p:cNvPr id="14" name="Rounded Rectangle 13"/>
          <p:cNvSpPr/>
          <p:nvPr/>
        </p:nvSpPr>
        <p:spPr>
          <a:xfrm>
            <a:off x="1051494" y="2408974"/>
            <a:ext cx="1371600" cy="402336"/>
          </a:xfrm>
          <a:prstGeom prst="roundRect">
            <a:avLst>
              <a:gd name="adj" fmla="val 24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5D6675"/>
                </a:solidFill>
                <a:latin typeface="Inter Medium"/>
              </a:rPr>
              <a:t>Semantic Search</a:t>
            </a:r>
          </a:p>
        </p:txBody>
      </p:sp>
      <p:sp>
        <p:nvSpPr>
          <p:cNvPr id="15" name="Oval 14"/>
          <p:cNvSpPr/>
          <p:nvPr/>
        </p:nvSpPr>
        <p:spPr>
          <a:xfrm>
            <a:off x="2148839" y="2788920"/>
            <a:ext cx="1737360" cy="1737360"/>
          </a:xfrm>
          <a:prstGeom prst="ellipse">
            <a:avLst/>
          </a:prstGeom>
          <a:solidFill>
            <a:srgbClr val="DC2626"/>
          </a:solidFill>
          <a:ln>
            <a:no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5000"/>
              </a:lnSpc>
            </a:pPr>
            <a:r>
              <a:rPr sz="1400" b="1">
                <a:solidFill>
                  <a:srgbClr val="FFFFFF"/>
                </a:solidFill>
                <a:latin typeface="Poppins ExtraBold"/>
              </a:rPr>
              <a:t>NO UNIFIED</a:t>
            </a:r>
          </a:p>
          <a:p>
            <a:pPr algn="ctr">
              <a:lnSpc>
                <a:spcPct val="105000"/>
              </a:lnSpc>
            </a:pPr>
            <a:r>
              <a:rPr sz="1400" b="1">
                <a:solidFill>
                  <a:srgbClr val="FFFFFF"/>
                </a:solidFill>
                <a:latin typeface="Poppins ExtraBold"/>
              </a:rPr>
              <a:t>FRAMEWORK</a:t>
            </a:r>
          </a:p>
        </p:txBody>
      </p:sp>
      <p:sp>
        <p:nvSpPr>
          <p:cNvPr id="16" name="TextBox 15"/>
          <p:cNvSpPr txBox="1"/>
          <p:nvPr/>
        </p:nvSpPr>
        <p:spPr>
          <a:xfrm>
            <a:off x="1417320" y="5742432"/>
            <a:ext cx="3200400" cy="502920"/>
          </a:xfrm>
          <a:prstGeom prst="rect">
            <a:avLst/>
          </a:prstGeom>
          <a:noFill/>
        </p:spPr>
        <p:txBody>
          <a:bodyPr wrap="square" anchor="t" lIns="18288" rIns="18288" tIns="9144" bIns="9144">
            <a:spAutoFit/>
          </a:bodyPr>
          <a:lstStyle/>
          <a:p>
            <a:pPr algn="ctr">
              <a:lnSpc>
                <a:spcPct val="100000"/>
              </a:lnSpc>
            </a:pPr>
            <a:r>
              <a:rPr sz="1100" b="0">
                <a:solidFill>
                  <a:srgbClr val="B91C1C"/>
                </a:solidFill>
                <a:latin typeface="Inter"/>
              </a:rPr>
              <a:t>Isolated domains — none interoperate</a:t>
            </a:r>
          </a:p>
        </p:txBody>
      </p:sp>
      <p:sp>
        <p:nvSpPr>
          <p:cNvPr id="17" name="TextBox 16"/>
          <p:cNvSpPr txBox="1"/>
          <p:nvPr/>
        </p:nvSpPr>
        <p:spPr>
          <a:xfrm>
            <a:off x="5468112" y="2999232"/>
            <a:ext cx="1371600" cy="256032"/>
          </a:xfrm>
          <a:prstGeom prst="rect">
            <a:avLst/>
          </a:prstGeom>
          <a:noFill/>
        </p:spPr>
        <p:txBody>
          <a:bodyPr wrap="square" anchor="t" lIns="18288" rIns="18288" tIns="9144" bIns="9144">
            <a:spAutoFit/>
          </a:bodyPr>
          <a:lstStyle/>
          <a:p>
            <a:pPr algn="ctr">
              <a:lnSpc>
                <a:spcPct val="100000"/>
              </a:lnSpc>
            </a:pPr>
            <a:r>
              <a:rPr sz="950" b="0" spc="250">
                <a:solidFill>
                  <a:srgbClr val="4338CA"/>
                </a:solidFill>
                <a:latin typeface="Inter Medium"/>
              </a:rPr>
              <a:t>OUR RESEARCH</a:t>
            </a:r>
          </a:p>
        </p:txBody>
      </p:sp>
      <p:sp>
        <p:nvSpPr>
          <p:cNvPr id="18" name="Right Arrow 17"/>
          <p:cNvSpPr/>
          <p:nvPr/>
        </p:nvSpPr>
        <p:spPr>
          <a:xfrm>
            <a:off x="5779008" y="3364992"/>
            <a:ext cx="749808" cy="548640"/>
          </a:xfrm>
          <a:prstGeom prst="rightArrow">
            <a:avLst/>
          </a:prstGeom>
          <a:solidFill>
            <a:srgbClr val="4F46E5"/>
          </a:solidFill>
          <a:ln>
            <a:no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flipV="1">
            <a:off x="9235440" y="2176272"/>
            <a:ext cx="0" cy="1481328"/>
          </a:xfrm>
          <a:prstGeom prst="line">
            <a:avLst/>
          </a:prstGeom>
          <a:ln w="12700">
            <a:solidFill>
              <a:srgbClr val="059669">
                <a:alpha val="70000"/>
              </a:srgbClr>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9235440" y="2610142"/>
            <a:ext cx="1280225" cy="1047458"/>
          </a:xfrm>
          <a:prstGeom prst="line">
            <a:avLst/>
          </a:prstGeom>
          <a:ln w="12700">
            <a:solidFill>
              <a:srgbClr val="059669">
                <a:alpha val="70000"/>
              </a:srgbClr>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235440" y="3657600"/>
            <a:ext cx="1810512" cy="0"/>
          </a:xfrm>
          <a:prstGeom prst="line">
            <a:avLst/>
          </a:prstGeom>
          <a:ln w="12700">
            <a:solidFill>
              <a:srgbClr val="059669">
                <a:alpha val="70000"/>
              </a:srgbClr>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235440" y="3657600"/>
            <a:ext cx="1280225" cy="1047457"/>
          </a:xfrm>
          <a:prstGeom prst="line">
            <a:avLst/>
          </a:prstGeom>
          <a:ln w="12700">
            <a:solidFill>
              <a:srgbClr val="059669">
                <a:alpha val="70000"/>
              </a:srgbClr>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235440" y="3657600"/>
            <a:ext cx="0" cy="1481328"/>
          </a:xfrm>
          <a:prstGeom prst="line">
            <a:avLst/>
          </a:prstGeom>
          <a:ln w="12700">
            <a:solidFill>
              <a:srgbClr val="059669">
                <a:alpha val="70000"/>
              </a:srgbClr>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7955214" y="3657600"/>
            <a:ext cx="1280226" cy="1047457"/>
          </a:xfrm>
          <a:prstGeom prst="line">
            <a:avLst/>
          </a:prstGeom>
          <a:ln w="12700">
            <a:solidFill>
              <a:srgbClr val="059669">
                <a:alpha val="70000"/>
              </a:srgbClr>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7424927" y="3657600"/>
            <a:ext cx="1810513" cy="0"/>
          </a:xfrm>
          <a:prstGeom prst="line">
            <a:avLst/>
          </a:prstGeom>
          <a:ln w="12700">
            <a:solidFill>
              <a:srgbClr val="059669">
                <a:alpha val="70000"/>
              </a:srgbClr>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7955214" y="2610142"/>
            <a:ext cx="1280226" cy="1047458"/>
          </a:xfrm>
          <a:prstGeom prst="line">
            <a:avLst/>
          </a:prstGeom>
          <a:ln w="12700">
            <a:solidFill>
              <a:srgbClr val="059669">
                <a:alpha val="70000"/>
              </a:srgbClr>
            </a:solidFill>
          </a:ln>
          <a:effectLst/>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8302752" y="2724912"/>
            <a:ext cx="1865376" cy="1865376"/>
          </a:xfrm>
          <a:prstGeom prst="ellipse">
            <a:avLst/>
          </a:prstGeom>
          <a:solidFill>
            <a:srgbClr val="4F46E5"/>
          </a:solidFill>
          <a:ln>
            <a:no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10000"/>
              </a:lnSpc>
            </a:pPr>
            <a:r>
              <a:rPr sz="1050" b="1">
                <a:solidFill>
                  <a:srgbClr val="FFFFFF"/>
                </a:solidFill>
                <a:latin typeface="Poppins SemiBold"/>
              </a:rPr>
              <a:t>UNIFIED SEMANTIC</a:t>
            </a:r>
          </a:p>
          <a:p>
            <a:pPr algn="ctr">
              <a:lnSpc>
                <a:spcPct val="110000"/>
              </a:lnSpc>
            </a:pPr>
            <a:r>
              <a:rPr sz="1050" b="1">
                <a:solidFill>
                  <a:srgbClr val="FFFFFF"/>
                </a:solidFill>
                <a:latin typeface="Poppins SemiBold"/>
              </a:rPr>
              <a:t>PROFESSIONAL IDENTITY</a:t>
            </a:r>
          </a:p>
          <a:p>
            <a:pPr algn="ctr">
              <a:lnSpc>
                <a:spcPct val="110000"/>
              </a:lnSpc>
            </a:pPr>
            <a:r>
              <a:rPr sz="1050" b="1">
                <a:solidFill>
                  <a:srgbClr val="FFFFFF"/>
                </a:solidFill>
                <a:latin typeface="Poppins SemiBold"/>
              </a:rPr>
              <a:t>FRAMEWORK</a:t>
            </a:r>
          </a:p>
        </p:txBody>
      </p:sp>
      <p:sp>
        <p:nvSpPr>
          <p:cNvPr id="28" name="Rounded Rectangle 27"/>
          <p:cNvSpPr/>
          <p:nvPr/>
        </p:nvSpPr>
        <p:spPr>
          <a:xfrm>
            <a:off x="8549640" y="1975103"/>
            <a:ext cx="1371600" cy="402336"/>
          </a:xfrm>
          <a:prstGeom prst="roundRect">
            <a:avLst>
              <a:gd name="adj" fmla="val 24000"/>
            </a:avLst>
          </a:prstGeom>
          <a:solidFill>
            <a:srgbClr val="FFFFFF"/>
          </a:solidFill>
          <a:ln w="9525">
            <a:solidFill>
              <a:srgbClr val="059669">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121826"/>
                </a:solidFill>
                <a:latin typeface="Inter Medium"/>
              </a:rPr>
              <a:t>Browser Autofill</a:t>
            </a:r>
          </a:p>
        </p:txBody>
      </p:sp>
      <p:sp>
        <p:nvSpPr>
          <p:cNvPr id="29" name="Rounded Rectangle 28"/>
          <p:cNvSpPr/>
          <p:nvPr/>
        </p:nvSpPr>
        <p:spPr>
          <a:xfrm>
            <a:off x="9829865" y="2408974"/>
            <a:ext cx="1371600" cy="402336"/>
          </a:xfrm>
          <a:prstGeom prst="roundRect">
            <a:avLst>
              <a:gd name="adj" fmla="val 24000"/>
            </a:avLst>
          </a:prstGeom>
          <a:solidFill>
            <a:srgbClr val="FFFFFF"/>
          </a:solidFill>
          <a:ln w="9525">
            <a:solidFill>
              <a:srgbClr val="059669">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121826"/>
                </a:solidFill>
                <a:latin typeface="Inter Medium"/>
              </a:rPr>
              <a:t>Resume Parsing</a:t>
            </a:r>
          </a:p>
        </p:txBody>
      </p:sp>
      <p:sp>
        <p:nvSpPr>
          <p:cNvPr id="30" name="Rounded Rectangle 29"/>
          <p:cNvSpPr/>
          <p:nvPr/>
        </p:nvSpPr>
        <p:spPr>
          <a:xfrm>
            <a:off x="10360152" y="3456432"/>
            <a:ext cx="1371600" cy="402336"/>
          </a:xfrm>
          <a:prstGeom prst="roundRect">
            <a:avLst>
              <a:gd name="adj" fmla="val 24000"/>
            </a:avLst>
          </a:prstGeom>
          <a:solidFill>
            <a:srgbClr val="FFFFFF"/>
          </a:solidFill>
          <a:ln w="9525">
            <a:solidFill>
              <a:srgbClr val="059669">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121826"/>
                </a:solidFill>
                <a:latin typeface="Inter Medium"/>
              </a:rPr>
              <a:t>Sentence Embeddings</a:t>
            </a:r>
          </a:p>
        </p:txBody>
      </p:sp>
      <p:sp>
        <p:nvSpPr>
          <p:cNvPr id="31" name="Rounded Rectangle 30"/>
          <p:cNvSpPr/>
          <p:nvPr/>
        </p:nvSpPr>
        <p:spPr>
          <a:xfrm>
            <a:off x="9829865" y="4503889"/>
            <a:ext cx="1371600" cy="402336"/>
          </a:xfrm>
          <a:prstGeom prst="roundRect">
            <a:avLst>
              <a:gd name="adj" fmla="val 24000"/>
            </a:avLst>
          </a:prstGeom>
          <a:solidFill>
            <a:srgbClr val="FFFFFF"/>
          </a:solidFill>
          <a:ln w="9525">
            <a:solidFill>
              <a:srgbClr val="059669">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121826"/>
                </a:solidFill>
                <a:latin typeface="Inter Medium"/>
              </a:rPr>
              <a:t>Digital Identity</a:t>
            </a:r>
          </a:p>
        </p:txBody>
      </p:sp>
      <p:sp>
        <p:nvSpPr>
          <p:cNvPr id="32" name="Rounded Rectangle 31"/>
          <p:cNvSpPr/>
          <p:nvPr/>
        </p:nvSpPr>
        <p:spPr>
          <a:xfrm>
            <a:off x="8549640" y="4937760"/>
            <a:ext cx="1371600" cy="402336"/>
          </a:xfrm>
          <a:prstGeom prst="roundRect">
            <a:avLst>
              <a:gd name="adj" fmla="val 24000"/>
            </a:avLst>
          </a:prstGeom>
          <a:solidFill>
            <a:srgbClr val="FFFFFF"/>
          </a:solidFill>
          <a:ln w="9525">
            <a:solidFill>
              <a:srgbClr val="059669">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121826"/>
                </a:solidFill>
                <a:latin typeface="Inter Medium"/>
              </a:rPr>
              <a:t>Recruitment AI</a:t>
            </a:r>
          </a:p>
        </p:txBody>
      </p:sp>
      <p:sp>
        <p:nvSpPr>
          <p:cNvPr id="33" name="Rounded Rectangle 32"/>
          <p:cNvSpPr/>
          <p:nvPr/>
        </p:nvSpPr>
        <p:spPr>
          <a:xfrm>
            <a:off x="7269414" y="4503889"/>
            <a:ext cx="1371600" cy="402336"/>
          </a:xfrm>
          <a:prstGeom prst="roundRect">
            <a:avLst>
              <a:gd name="adj" fmla="val 24000"/>
            </a:avLst>
          </a:prstGeom>
          <a:solidFill>
            <a:srgbClr val="FFFFFF"/>
          </a:solidFill>
          <a:ln w="9525">
            <a:solidFill>
              <a:srgbClr val="059669">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121826"/>
                </a:solidFill>
                <a:latin typeface="Inter Medium"/>
              </a:rPr>
              <a:t>Browser Extensions</a:t>
            </a:r>
          </a:p>
        </p:txBody>
      </p:sp>
      <p:sp>
        <p:nvSpPr>
          <p:cNvPr id="34" name="Rounded Rectangle 33"/>
          <p:cNvSpPr/>
          <p:nvPr/>
        </p:nvSpPr>
        <p:spPr>
          <a:xfrm>
            <a:off x="6739127" y="3456432"/>
            <a:ext cx="1371600" cy="402336"/>
          </a:xfrm>
          <a:prstGeom prst="roundRect">
            <a:avLst>
              <a:gd name="adj" fmla="val 24000"/>
            </a:avLst>
          </a:prstGeom>
          <a:solidFill>
            <a:srgbClr val="FFFFFF"/>
          </a:solidFill>
          <a:ln w="9525">
            <a:solidFill>
              <a:srgbClr val="059669">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121826"/>
                </a:solidFill>
                <a:latin typeface="Inter Medium"/>
              </a:rPr>
              <a:t>HTML Forms</a:t>
            </a:r>
          </a:p>
        </p:txBody>
      </p:sp>
      <p:sp>
        <p:nvSpPr>
          <p:cNvPr id="35" name="Rounded Rectangle 34"/>
          <p:cNvSpPr/>
          <p:nvPr/>
        </p:nvSpPr>
        <p:spPr>
          <a:xfrm>
            <a:off x="7269414" y="2408974"/>
            <a:ext cx="1371600" cy="402336"/>
          </a:xfrm>
          <a:prstGeom prst="roundRect">
            <a:avLst>
              <a:gd name="adj" fmla="val 24000"/>
            </a:avLst>
          </a:prstGeom>
          <a:solidFill>
            <a:srgbClr val="FFFFFF"/>
          </a:solidFill>
          <a:ln w="9525">
            <a:solidFill>
              <a:srgbClr val="059669">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121826"/>
                </a:solidFill>
                <a:latin typeface="Inter Medium"/>
              </a:rPr>
              <a:t>Semantic Search</a:t>
            </a:r>
          </a:p>
        </p:txBody>
      </p:sp>
      <p:sp>
        <p:nvSpPr>
          <p:cNvPr id="36" name="TextBox 35"/>
          <p:cNvSpPr txBox="1"/>
          <p:nvPr/>
        </p:nvSpPr>
        <p:spPr>
          <a:xfrm>
            <a:off x="7635240" y="5742432"/>
            <a:ext cx="3200400" cy="502920"/>
          </a:xfrm>
          <a:prstGeom prst="rect">
            <a:avLst/>
          </a:prstGeom>
          <a:noFill/>
        </p:spPr>
        <p:txBody>
          <a:bodyPr wrap="square" anchor="t" lIns="18288" rIns="18288" tIns="9144" bIns="9144">
            <a:spAutoFit/>
          </a:bodyPr>
          <a:lstStyle/>
          <a:p>
            <a:pPr algn="ctr">
              <a:lnSpc>
                <a:spcPct val="100000"/>
              </a:lnSpc>
            </a:pPr>
            <a:r>
              <a:rPr sz="1100" b="0">
                <a:solidFill>
                  <a:srgbClr val="047857"/>
                </a:solidFill>
                <a:latin typeface="Inter"/>
              </a:rPr>
              <a:t>One framework connects them all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7FA"/>
        </a:solidFill>
        <a:effectLst/>
      </p:bgPr>
    </p:bg>
    <p:spTree>
      <p:nvGrpSpPr>
        <p:cNvPr id="1" name=""/>
        <p:cNvGrpSpPr/>
        <p:nvPr/>
      </p:nvGrpSpPr>
      <p:grpSpPr/>
      <p:sp>
        <p:nvSpPr>
          <p:cNvPr id="2" name="TextBox 1"/>
          <p:cNvSpPr txBox="1"/>
          <p:nvPr/>
        </p:nvSpPr>
        <p:spPr>
          <a:xfrm>
            <a:off x="841248" y="347472"/>
            <a:ext cx="7315200" cy="274320"/>
          </a:xfrm>
          <a:prstGeom prst="rect">
            <a:avLst/>
          </a:prstGeom>
          <a:noFill/>
        </p:spPr>
        <p:txBody>
          <a:bodyPr wrap="square" anchor="t" lIns="18288" rIns="18288" tIns="9144" bIns="9144">
            <a:spAutoFit/>
          </a:bodyPr>
          <a:lstStyle/>
          <a:p>
            <a:pPr algn="l">
              <a:lnSpc>
                <a:spcPct val="100000"/>
              </a:lnSpc>
            </a:pPr>
            <a:r>
              <a:rPr sz="1100" b="0" spc="300">
                <a:solidFill>
                  <a:srgbClr val="4338CA"/>
                </a:solidFill>
                <a:latin typeface="Inter Medium"/>
              </a:rPr>
              <a:t>PROPOSED SOLUTION</a:t>
            </a:r>
          </a:p>
        </p:txBody>
      </p:sp>
      <p:sp>
        <p:nvSpPr>
          <p:cNvPr id="3" name="TextBox 2"/>
          <p:cNvSpPr txBox="1"/>
          <p:nvPr/>
        </p:nvSpPr>
        <p:spPr>
          <a:xfrm>
            <a:off x="822960" y="566928"/>
            <a:ext cx="10607040" cy="566928"/>
          </a:xfrm>
          <a:prstGeom prst="rect">
            <a:avLst/>
          </a:prstGeom>
          <a:noFill/>
        </p:spPr>
        <p:txBody>
          <a:bodyPr wrap="square" anchor="t" lIns="18288" rIns="18288" tIns="9144" bIns="9144">
            <a:spAutoFit/>
          </a:bodyPr>
          <a:lstStyle/>
          <a:p>
            <a:pPr algn="l">
              <a:lnSpc>
                <a:spcPct val="100000"/>
              </a:lnSpc>
            </a:pPr>
            <a:r>
              <a:rPr sz="3000" b="1">
                <a:solidFill>
                  <a:srgbClr val="121826"/>
                </a:solidFill>
                <a:latin typeface="Poppins ExtraBold"/>
              </a:rPr>
              <a:t>Proposed Solution</a:t>
            </a:r>
          </a:p>
        </p:txBody>
      </p:sp>
      <p:sp>
        <p:nvSpPr>
          <p:cNvPr id="4" name="Rounded Rectangle 3"/>
          <p:cNvSpPr/>
          <p:nvPr/>
        </p:nvSpPr>
        <p:spPr>
          <a:xfrm>
            <a:off x="841248" y="1133856"/>
            <a:ext cx="868680" cy="45720"/>
          </a:xfrm>
          <a:prstGeom prst="roundRect">
            <a:avLst>
              <a:gd name="adj" fmla="val 50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81360" y="6473952"/>
            <a:ext cx="1005840" cy="274320"/>
          </a:xfrm>
          <a:prstGeom prst="rect">
            <a:avLst/>
          </a:prstGeom>
          <a:noFill/>
        </p:spPr>
        <p:txBody>
          <a:bodyPr wrap="square" anchor="t" lIns="18288" rIns="18288" tIns="9144" bIns="9144">
            <a:spAutoFit/>
          </a:bodyPr>
          <a:lstStyle/>
          <a:p>
            <a:pPr algn="r">
              <a:lnSpc>
                <a:spcPct val="100000"/>
              </a:lnSpc>
            </a:pPr>
            <a:r>
              <a:rPr sz="1000" b="0">
                <a:solidFill>
                  <a:srgbClr val="5D6675"/>
                </a:solidFill>
                <a:latin typeface="Inter Medium"/>
              </a:rPr>
              <a:t>05 / 13</a:t>
            </a:r>
          </a:p>
        </p:txBody>
      </p:sp>
      <p:sp>
        <p:nvSpPr>
          <p:cNvPr id="6" name="TextBox 5"/>
          <p:cNvSpPr txBox="1"/>
          <p:nvPr/>
        </p:nvSpPr>
        <p:spPr>
          <a:xfrm>
            <a:off x="841248" y="6473952"/>
            <a:ext cx="4572000" cy="274320"/>
          </a:xfrm>
          <a:prstGeom prst="rect">
            <a:avLst/>
          </a:prstGeom>
          <a:noFill/>
        </p:spPr>
        <p:txBody>
          <a:bodyPr wrap="square" anchor="t" lIns="18288" rIns="18288" tIns="9144" bIns="9144">
            <a:spAutoFit/>
          </a:bodyPr>
          <a:lstStyle/>
          <a:p>
            <a:pPr algn="l">
              <a:lnSpc>
                <a:spcPct val="100000"/>
              </a:lnSpc>
            </a:pPr>
            <a:r>
              <a:rPr sz="950" b="0" spc="100">
                <a:solidFill>
                  <a:srgbClr val="5D6675"/>
                </a:solidFill>
                <a:latin typeface="Inter Medium"/>
              </a:rPr>
              <a:t>CareerHub · Semantic Professional Identity Framework</a:t>
            </a:r>
          </a:p>
        </p:txBody>
      </p:sp>
      <p:cxnSp>
        <p:nvCxnSpPr>
          <p:cNvPr id="7" name="Connector 6"/>
          <p:cNvCxnSpPr/>
          <p:nvPr/>
        </p:nvCxnSpPr>
        <p:spPr>
          <a:xfrm>
            <a:off x="1243584" y="1691640"/>
            <a:ext cx="0" cy="4206240"/>
          </a:xfrm>
          <a:prstGeom prst="line">
            <a:avLst/>
          </a:prstGeom>
          <a:ln w="15875">
            <a:solidFill>
              <a:srgbClr val="4F46E5">
                <a:alpha val="45000"/>
              </a:srgbClr>
            </a:solidFill>
          </a:ln>
          <a:effectLst/>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822960" y="1389888"/>
            <a:ext cx="5806440" cy="548640"/>
          </a:xfrm>
          <a:prstGeom prst="roundRect">
            <a:avLst>
              <a:gd name="adj" fmla="val 18000"/>
            </a:avLst>
          </a:prstGeom>
          <a:solidFill>
            <a:srgbClr val="FFFFFF"/>
          </a:solidFill>
          <a:ln w="9525">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87552" y="1499616"/>
            <a:ext cx="329184" cy="329184"/>
          </a:xfrm>
          <a:prstGeom prst="roundRect">
            <a:avLst>
              <a:gd name="adj" fmla="val 30000"/>
            </a:avLst>
          </a:prstGeom>
          <a:solidFill>
            <a:srgbClr val="4F46E5">
              <a:alpha val="16000"/>
            </a:srgbClr>
          </a:solidFill>
          <a:ln w="6350">
            <a:solidFill>
              <a:srgbClr val="4F46E5">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00" b="0">
                <a:solidFill>
                  <a:srgbClr val="4338CA"/>
                </a:solidFill>
                <a:latin typeface="Inter Medium"/>
              </a:rPr>
              <a:t>01</a:t>
            </a:r>
          </a:p>
        </p:txBody>
      </p:sp>
      <p:sp>
        <p:nvSpPr>
          <p:cNvPr id="10" name="TextBox 9"/>
          <p:cNvSpPr txBox="1"/>
          <p:nvPr/>
        </p:nvSpPr>
        <p:spPr>
          <a:xfrm>
            <a:off x="1481328" y="1389888"/>
            <a:ext cx="3566160" cy="548640"/>
          </a:xfrm>
          <a:prstGeom prst="rect">
            <a:avLst/>
          </a:prstGeom>
          <a:noFill/>
        </p:spPr>
        <p:txBody>
          <a:bodyPr wrap="square" anchor="ctr" lIns="18288" rIns="18288" tIns="9144" bIns="9144">
            <a:spAutoFit/>
          </a:bodyPr>
          <a:lstStyle/>
          <a:p>
            <a:pPr algn="l">
              <a:lnSpc>
                <a:spcPct val="100000"/>
              </a:lnSpc>
            </a:pPr>
            <a:r>
              <a:rPr sz="1450" b="0">
                <a:solidFill>
                  <a:srgbClr val="121826"/>
                </a:solidFill>
                <a:latin typeface="Poppins SemiBold"/>
              </a:rPr>
              <a:t>One Professional Profile</a:t>
            </a:r>
          </a:p>
        </p:txBody>
      </p:sp>
      <p:sp>
        <p:nvSpPr>
          <p:cNvPr id="11" name="TextBox 10"/>
          <p:cNvSpPr txBox="1"/>
          <p:nvPr/>
        </p:nvSpPr>
        <p:spPr>
          <a:xfrm>
            <a:off x="4160520" y="1389888"/>
            <a:ext cx="2286000" cy="548640"/>
          </a:xfrm>
          <a:prstGeom prst="rect">
            <a:avLst/>
          </a:prstGeom>
          <a:noFill/>
        </p:spPr>
        <p:txBody>
          <a:bodyPr wrap="square" anchor="ctr" lIns="18288" rIns="18288" tIns="9144" bIns="9144">
            <a:spAutoFit/>
          </a:bodyPr>
          <a:lstStyle/>
          <a:p>
            <a:pPr algn="r">
              <a:lnSpc>
                <a:spcPct val="100000"/>
              </a:lnSpc>
            </a:pPr>
            <a:r>
              <a:rPr sz="1000" b="0">
                <a:solidFill>
                  <a:srgbClr val="5D6675"/>
                </a:solidFill>
                <a:latin typeface="Inter"/>
              </a:rPr>
              <a:t>single source of truth</a:t>
            </a:r>
          </a:p>
        </p:txBody>
      </p:sp>
      <p:sp>
        <p:nvSpPr>
          <p:cNvPr id="12" name="Rounded Rectangle 11"/>
          <p:cNvSpPr/>
          <p:nvPr/>
        </p:nvSpPr>
        <p:spPr>
          <a:xfrm>
            <a:off x="822960" y="2071116"/>
            <a:ext cx="5806440" cy="548640"/>
          </a:xfrm>
          <a:prstGeom prst="roundRect">
            <a:avLst>
              <a:gd name="adj" fmla="val 18000"/>
            </a:avLst>
          </a:prstGeom>
          <a:solidFill>
            <a:srgbClr val="FFFFFF"/>
          </a:solidFill>
          <a:ln w="9525">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87552" y="2180844"/>
            <a:ext cx="329184" cy="329184"/>
          </a:xfrm>
          <a:prstGeom prst="roundRect">
            <a:avLst>
              <a:gd name="adj" fmla="val 30000"/>
            </a:avLst>
          </a:prstGeom>
          <a:solidFill>
            <a:srgbClr val="4F46E5">
              <a:alpha val="16000"/>
            </a:srgbClr>
          </a:solidFill>
          <a:ln w="6350">
            <a:solidFill>
              <a:srgbClr val="4F46E5">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00" b="0">
                <a:solidFill>
                  <a:srgbClr val="4338CA"/>
                </a:solidFill>
                <a:latin typeface="Inter Medium"/>
              </a:rPr>
              <a:t>02</a:t>
            </a:r>
          </a:p>
        </p:txBody>
      </p:sp>
      <p:sp>
        <p:nvSpPr>
          <p:cNvPr id="14" name="TextBox 13"/>
          <p:cNvSpPr txBox="1"/>
          <p:nvPr/>
        </p:nvSpPr>
        <p:spPr>
          <a:xfrm>
            <a:off x="1481328" y="2071116"/>
            <a:ext cx="3566160" cy="548640"/>
          </a:xfrm>
          <a:prstGeom prst="rect">
            <a:avLst/>
          </a:prstGeom>
          <a:noFill/>
        </p:spPr>
        <p:txBody>
          <a:bodyPr wrap="square" anchor="ctr" lIns="18288" rIns="18288" tIns="9144" bIns="9144">
            <a:spAutoFit/>
          </a:bodyPr>
          <a:lstStyle/>
          <a:p>
            <a:pPr algn="l">
              <a:lnSpc>
                <a:spcPct val="100000"/>
              </a:lnSpc>
            </a:pPr>
            <a:r>
              <a:rPr sz="1450" b="0">
                <a:solidFill>
                  <a:srgbClr val="121826"/>
                </a:solidFill>
                <a:latin typeface="Poppins SemiBold"/>
              </a:rPr>
              <a:t>CareerHub AI</a:t>
            </a:r>
          </a:p>
        </p:txBody>
      </p:sp>
      <p:sp>
        <p:nvSpPr>
          <p:cNvPr id="15" name="TextBox 14"/>
          <p:cNvSpPr txBox="1"/>
          <p:nvPr/>
        </p:nvSpPr>
        <p:spPr>
          <a:xfrm>
            <a:off x="4160520" y="2071116"/>
            <a:ext cx="2286000" cy="548640"/>
          </a:xfrm>
          <a:prstGeom prst="rect">
            <a:avLst/>
          </a:prstGeom>
          <a:noFill/>
        </p:spPr>
        <p:txBody>
          <a:bodyPr wrap="square" anchor="ctr" lIns="18288" rIns="18288" tIns="9144" bIns="9144">
            <a:spAutoFit/>
          </a:bodyPr>
          <a:lstStyle/>
          <a:p>
            <a:pPr algn="r">
              <a:lnSpc>
                <a:spcPct val="100000"/>
              </a:lnSpc>
            </a:pPr>
            <a:r>
              <a:rPr sz="1000" b="0">
                <a:solidFill>
                  <a:srgbClr val="5D6675"/>
                </a:solidFill>
                <a:latin typeface="Inter"/>
              </a:rPr>
              <a:t>identity intelligence layer</a:t>
            </a:r>
          </a:p>
        </p:txBody>
      </p:sp>
      <p:sp>
        <p:nvSpPr>
          <p:cNvPr id="16" name="Rounded Rectangle 15"/>
          <p:cNvSpPr/>
          <p:nvPr/>
        </p:nvSpPr>
        <p:spPr>
          <a:xfrm>
            <a:off x="822960" y="2752344"/>
            <a:ext cx="5806440" cy="548640"/>
          </a:xfrm>
          <a:prstGeom prst="roundRect">
            <a:avLst>
              <a:gd name="adj" fmla="val 18000"/>
            </a:avLst>
          </a:prstGeom>
          <a:solidFill>
            <a:srgbClr val="4F46E5"/>
          </a:solidFill>
          <a:ln>
            <a:no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87552" y="2862072"/>
            <a:ext cx="329184" cy="329184"/>
          </a:xfrm>
          <a:prstGeom prst="roundRect">
            <a:avLst>
              <a:gd name="adj" fmla="val 30000"/>
            </a:avLst>
          </a:prstGeom>
          <a:solidFill>
            <a:srgbClr val="FFFFFF">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00" b="0">
                <a:solidFill>
                  <a:srgbClr val="FFFFFF"/>
                </a:solidFill>
                <a:latin typeface="Inter Medium"/>
              </a:rPr>
              <a:t>03</a:t>
            </a:r>
          </a:p>
        </p:txBody>
      </p:sp>
      <p:sp>
        <p:nvSpPr>
          <p:cNvPr id="18" name="TextBox 17"/>
          <p:cNvSpPr txBox="1"/>
          <p:nvPr/>
        </p:nvSpPr>
        <p:spPr>
          <a:xfrm>
            <a:off x="1481328" y="2752344"/>
            <a:ext cx="3566160" cy="548640"/>
          </a:xfrm>
          <a:prstGeom prst="rect">
            <a:avLst/>
          </a:prstGeom>
          <a:noFill/>
        </p:spPr>
        <p:txBody>
          <a:bodyPr wrap="square" anchor="ctr" lIns="18288" rIns="18288" tIns="9144" bIns="9144">
            <a:spAutoFit/>
          </a:bodyPr>
          <a:lstStyle/>
          <a:p>
            <a:pPr algn="l">
              <a:lnSpc>
                <a:spcPct val="100000"/>
              </a:lnSpc>
            </a:pPr>
            <a:r>
              <a:rPr sz="1450" b="0">
                <a:solidFill>
                  <a:srgbClr val="FFFFFF"/>
                </a:solidFill>
                <a:latin typeface="Poppins SemiBold"/>
              </a:rPr>
              <a:t>Semantic Understanding Engine</a:t>
            </a:r>
          </a:p>
        </p:txBody>
      </p:sp>
      <p:sp>
        <p:nvSpPr>
          <p:cNvPr id="19" name="TextBox 18"/>
          <p:cNvSpPr txBox="1"/>
          <p:nvPr/>
        </p:nvSpPr>
        <p:spPr>
          <a:xfrm>
            <a:off x="4160520" y="2752344"/>
            <a:ext cx="2286000" cy="548640"/>
          </a:xfrm>
          <a:prstGeom prst="rect">
            <a:avLst/>
          </a:prstGeom>
          <a:noFill/>
        </p:spPr>
        <p:txBody>
          <a:bodyPr wrap="square" anchor="ctr" lIns="18288" rIns="18288" tIns="9144" bIns="9144">
            <a:spAutoFit/>
          </a:bodyPr>
          <a:lstStyle/>
          <a:p>
            <a:pPr algn="r">
              <a:lnSpc>
                <a:spcPct val="100000"/>
              </a:lnSpc>
            </a:pPr>
            <a:r>
              <a:rPr sz="1000" b="0">
                <a:solidFill>
                  <a:srgbClr val="E0E7FF"/>
                </a:solidFill>
                <a:latin typeface="Inter"/>
              </a:rPr>
              <a:t>ontology of 70+ attributes</a:t>
            </a:r>
          </a:p>
        </p:txBody>
      </p:sp>
      <p:sp>
        <p:nvSpPr>
          <p:cNvPr id="20" name="Rounded Rectangle 19"/>
          <p:cNvSpPr/>
          <p:nvPr/>
        </p:nvSpPr>
        <p:spPr>
          <a:xfrm>
            <a:off x="822960" y="3433572"/>
            <a:ext cx="5806440" cy="548640"/>
          </a:xfrm>
          <a:prstGeom prst="roundRect">
            <a:avLst>
              <a:gd name="adj" fmla="val 18000"/>
            </a:avLst>
          </a:prstGeom>
          <a:solidFill>
            <a:srgbClr val="FFFFFF"/>
          </a:solidFill>
          <a:ln w="9525">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87552" y="3543300"/>
            <a:ext cx="329184" cy="329184"/>
          </a:xfrm>
          <a:prstGeom prst="roundRect">
            <a:avLst>
              <a:gd name="adj" fmla="val 30000"/>
            </a:avLst>
          </a:prstGeom>
          <a:solidFill>
            <a:srgbClr val="4F46E5">
              <a:alpha val="16000"/>
            </a:srgbClr>
          </a:solidFill>
          <a:ln w="6350">
            <a:solidFill>
              <a:srgbClr val="4F46E5">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00" b="0">
                <a:solidFill>
                  <a:srgbClr val="4338CA"/>
                </a:solidFill>
                <a:latin typeface="Inter Medium"/>
              </a:rPr>
              <a:t>04</a:t>
            </a:r>
          </a:p>
        </p:txBody>
      </p:sp>
      <p:sp>
        <p:nvSpPr>
          <p:cNvPr id="22" name="TextBox 21"/>
          <p:cNvSpPr txBox="1"/>
          <p:nvPr/>
        </p:nvSpPr>
        <p:spPr>
          <a:xfrm>
            <a:off x="1481328" y="3433572"/>
            <a:ext cx="3566160" cy="548640"/>
          </a:xfrm>
          <a:prstGeom prst="rect">
            <a:avLst/>
          </a:prstGeom>
          <a:noFill/>
        </p:spPr>
        <p:txBody>
          <a:bodyPr wrap="square" anchor="ctr" lIns="18288" rIns="18288" tIns="9144" bIns="9144">
            <a:spAutoFit/>
          </a:bodyPr>
          <a:lstStyle/>
          <a:p>
            <a:pPr algn="l">
              <a:lnSpc>
                <a:spcPct val="100000"/>
              </a:lnSpc>
            </a:pPr>
            <a:r>
              <a:rPr sz="1450" b="0">
                <a:solidFill>
                  <a:srgbClr val="121826"/>
                </a:solidFill>
                <a:latin typeface="Poppins SemiBold"/>
              </a:rPr>
              <a:t>Browser Extension</a:t>
            </a:r>
          </a:p>
        </p:txBody>
      </p:sp>
      <p:sp>
        <p:nvSpPr>
          <p:cNvPr id="23" name="TextBox 22"/>
          <p:cNvSpPr txBox="1"/>
          <p:nvPr/>
        </p:nvSpPr>
        <p:spPr>
          <a:xfrm>
            <a:off x="4160520" y="3433572"/>
            <a:ext cx="2286000" cy="548640"/>
          </a:xfrm>
          <a:prstGeom prst="rect">
            <a:avLst/>
          </a:prstGeom>
          <a:noFill/>
        </p:spPr>
        <p:txBody>
          <a:bodyPr wrap="square" anchor="ctr" lIns="18288" rIns="18288" tIns="9144" bIns="9144">
            <a:spAutoFit/>
          </a:bodyPr>
          <a:lstStyle/>
          <a:p>
            <a:pPr algn="r">
              <a:lnSpc>
                <a:spcPct val="100000"/>
              </a:lnSpc>
            </a:pPr>
            <a:r>
              <a:rPr sz="1000" b="0">
                <a:solidFill>
                  <a:srgbClr val="5D6675"/>
                </a:solidFill>
                <a:latin typeface="Inter"/>
              </a:rPr>
              <a:t>Manifest V3 companion</a:t>
            </a:r>
          </a:p>
        </p:txBody>
      </p:sp>
      <p:sp>
        <p:nvSpPr>
          <p:cNvPr id="24" name="Rounded Rectangle 23"/>
          <p:cNvSpPr/>
          <p:nvPr/>
        </p:nvSpPr>
        <p:spPr>
          <a:xfrm>
            <a:off x="822960" y="4114800"/>
            <a:ext cx="5806440" cy="548640"/>
          </a:xfrm>
          <a:prstGeom prst="roundRect">
            <a:avLst>
              <a:gd name="adj" fmla="val 18000"/>
            </a:avLst>
          </a:prstGeom>
          <a:solidFill>
            <a:srgbClr val="FFFFFF"/>
          </a:solidFill>
          <a:ln w="9525">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87552" y="4224528"/>
            <a:ext cx="329184" cy="329184"/>
          </a:xfrm>
          <a:prstGeom prst="roundRect">
            <a:avLst>
              <a:gd name="adj" fmla="val 30000"/>
            </a:avLst>
          </a:prstGeom>
          <a:solidFill>
            <a:srgbClr val="4F46E5">
              <a:alpha val="16000"/>
            </a:srgbClr>
          </a:solidFill>
          <a:ln w="6350">
            <a:solidFill>
              <a:srgbClr val="4F46E5">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00" b="0">
                <a:solidFill>
                  <a:srgbClr val="4338CA"/>
                </a:solidFill>
                <a:latin typeface="Inter Medium"/>
              </a:rPr>
              <a:t>05</a:t>
            </a:r>
          </a:p>
        </p:txBody>
      </p:sp>
      <p:sp>
        <p:nvSpPr>
          <p:cNvPr id="26" name="TextBox 25"/>
          <p:cNvSpPr txBox="1"/>
          <p:nvPr/>
        </p:nvSpPr>
        <p:spPr>
          <a:xfrm>
            <a:off x="1481328" y="4114800"/>
            <a:ext cx="3566160" cy="548640"/>
          </a:xfrm>
          <a:prstGeom prst="rect">
            <a:avLst/>
          </a:prstGeom>
          <a:noFill/>
        </p:spPr>
        <p:txBody>
          <a:bodyPr wrap="square" anchor="ctr" lIns="18288" rIns="18288" tIns="9144" bIns="9144">
            <a:spAutoFit/>
          </a:bodyPr>
          <a:lstStyle/>
          <a:p>
            <a:pPr algn="l">
              <a:lnSpc>
                <a:spcPct val="100000"/>
              </a:lnSpc>
            </a:pPr>
            <a:r>
              <a:rPr sz="1450" b="0">
                <a:solidFill>
                  <a:srgbClr val="121826"/>
                </a:solidFill>
                <a:latin typeface="Poppins SemiBold"/>
              </a:rPr>
              <a:t>Semantic Field Mapping</a:t>
            </a:r>
          </a:p>
        </p:txBody>
      </p:sp>
      <p:sp>
        <p:nvSpPr>
          <p:cNvPr id="27" name="TextBox 26"/>
          <p:cNvSpPr txBox="1"/>
          <p:nvPr/>
        </p:nvSpPr>
        <p:spPr>
          <a:xfrm>
            <a:off x="4160520" y="4114800"/>
            <a:ext cx="2286000" cy="548640"/>
          </a:xfrm>
          <a:prstGeom prst="rect">
            <a:avLst/>
          </a:prstGeom>
          <a:noFill/>
        </p:spPr>
        <p:txBody>
          <a:bodyPr wrap="square" anchor="ctr" lIns="18288" rIns="18288" tIns="9144" bIns="9144">
            <a:spAutoFit/>
          </a:bodyPr>
          <a:lstStyle/>
          <a:p>
            <a:pPr algn="r">
              <a:lnSpc>
                <a:spcPct val="100000"/>
              </a:lnSpc>
            </a:pPr>
            <a:r>
              <a:rPr sz="1000" b="0">
                <a:solidFill>
                  <a:srgbClr val="5D6675"/>
                </a:solidFill>
                <a:latin typeface="Inter"/>
              </a:rPr>
              <a:t>hybrid rules + embeddings</a:t>
            </a:r>
          </a:p>
        </p:txBody>
      </p:sp>
      <p:sp>
        <p:nvSpPr>
          <p:cNvPr id="28" name="Rounded Rectangle 27"/>
          <p:cNvSpPr/>
          <p:nvPr/>
        </p:nvSpPr>
        <p:spPr>
          <a:xfrm>
            <a:off x="822960" y="4796028"/>
            <a:ext cx="5806440" cy="548640"/>
          </a:xfrm>
          <a:prstGeom prst="roundRect">
            <a:avLst>
              <a:gd name="adj" fmla="val 18000"/>
            </a:avLst>
          </a:prstGeom>
          <a:solidFill>
            <a:srgbClr val="FFFFFF"/>
          </a:solidFill>
          <a:ln w="9525">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87552" y="4905756"/>
            <a:ext cx="329184" cy="329184"/>
          </a:xfrm>
          <a:prstGeom prst="roundRect">
            <a:avLst>
              <a:gd name="adj" fmla="val 30000"/>
            </a:avLst>
          </a:prstGeom>
          <a:solidFill>
            <a:srgbClr val="4F46E5">
              <a:alpha val="16000"/>
            </a:srgbClr>
          </a:solidFill>
          <a:ln w="6350">
            <a:solidFill>
              <a:srgbClr val="4F46E5">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00" b="0">
                <a:solidFill>
                  <a:srgbClr val="4338CA"/>
                </a:solidFill>
                <a:latin typeface="Inter Medium"/>
              </a:rPr>
              <a:t>06</a:t>
            </a:r>
          </a:p>
        </p:txBody>
      </p:sp>
      <p:sp>
        <p:nvSpPr>
          <p:cNvPr id="30" name="TextBox 29"/>
          <p:cNvSpPr txBox="1"/>
          <p:nvPr/>
        </p:nvSpPr>
        <p:spPr>
          <a:xfrm>
            <a:off x="1481328" y="4796028"/>
            <a:ext cx="3566160" cy="548640"/>
          </a:xfrm>
          <a:prstGeom prst="rect">
            <a:avLst/>
          </a:prstGeom>
          <a:noFill/>
        </p:spPr>
        <p:txBody>
          <a:bodyPr wrap="square" anchor="ctr" lIns="18288" rIns="18288" tIns="9144" bIns="9144">
            <a:spAutoFit/>
          </a:bodyPr>
          <a:lstStyle/>
          <a:p>
            <a:pPr algn="l">
              <a:lnSpc>
                <a:spcPct val="100000"/>
              </a:lnSpc>
            </a:pPr>
            <a:r>
              <a:rPr sz="1450" b="0">
                <a:solidFill>
                  <a:srgbClr val="121826"/>
                </a:solidFill>
                <a:latin typeface="Poppins SemiBold"/>
              </a:rPr>
              <a:t>Cross-Platform Recruitment Portals</a:t>
            </a:r>
          </a:p>
        </p:txBody>
      </p:sp>
      <p:sp>
        <p:nvSpPr>
          <p:cNvPr id="31" name="TextBox 30"/>
          <p:cNvSpPr txBox="1"/>
          <p:nvPr/>
        </p:nvSpPr>
        <p:spPr>
          <a:xfrm>
            <a:off x="4160520" y="4796028"/>
            <a:ext cx="2286000" cy="548640"/>
          </a:xfrm>
          <a:prstGeom prst="rect">
            <a:avLst/>
          </a:prstGeom>
          <a:noFill/>
        </p:spPr>
        <p:txBody>
          <a:bodyPr wrap="square" anchor="ctr" lIns="18288" rIns="18288" tIns="9144" bIns="9144">
            <a:spAutoFit/>
          </a:bodyPr>
          <a:lstStyle/>
          <a:p>
            <a:pPr algn="r">
              <a:lnSpc>
                <a:spcPct val="100000"/>
              </a:lnSpc>
            </a:pPr>
            <a:r>
              <a:rPr sz="1000" b="0">
                <a:solidFill>
                  <a:srgbClr val="5D6675"/>
                </a:solidFill>
                <a:latin typeface="Inter"/>
              </a:rPr>
              <a:t>any ATS · any form</a:t>
            </a:r>
          </a:p>
        </p:txBody>
      </p:sp>
      <p:sp>
        <p:nvSpPr>
          <p:cNvPr id="32" name="Rounded Rectangle 31"/>
          <p:cNvSpPr/>
          <p:nvPr/>
        </p:nvSpPr>
        <p:spPr>
          <a:xfrm>
            <a:off x="822960" y="5477256"/>
            <a:ext cx="5806440" cy="548640"/>
          </a:xfrm>
          <a:prstGeom prst="roundRect">
            <a:avLst>
              <a:gd name="adj" fmla="val 18000"/>
            </a:avLst>
          </a:prstGeom>
          <a:solidFill>
            <a:srgbClr val="059669">
              <a:alpha val="14000"/>
            </a:srgbClr>
          </a:solidFill>
          <a:ln w="9525">
            <a:solidFill>
              <a:srgbClr val="059669">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87552" y="5586984"/>
            <a:ext cx="329184" cy="329184"/>
          </a:xfrm>
          <a:prstGeom prst="roundRect">
            <a:avLst>
              <a:gd name="adj" fmla="val 30000"/>
            </a:avLst>
          </a:prstGeom>
          <a:solidFill>
            <a:srgbClr val="059669">
              <a:alpha val="20000"/>
            </a:srgbClr>
          </a:solidFill>
          <a:ln w="6350">
            <a:solidFill>
              <a:srgbClr val="059669">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00" b="0">
                <a:solidFill>
                  <a:srgbClr val="047857"/>
                </a:solidFill>
                <a:latin typeface="Inter Medium"/>
              </a:rPr>
              <a:t>07</a:t>
            </a:r>
          </a:p>
        </p:txBody>
      </p:sp>
      <p:sp>
        <p:nvSpPr>
          <p:cNvPr id="34" name="TextBox 33"/>
          <p:cNvSpPr txBox="1"/>
          <p:nvPr/>
        </p:nvSpPr>
        <p:spPr>
          <a:xfrm>
            <a:off x="1481328" y="5477256"/>
            <a:ext cx="3566160" cy="548640"/>
          </a:xfrm>
          <a:prstGeom prst="rect">
            <a:avLst/>
          </a:prstGeom>
          <a:noFill/>
        </p:spPr>
        <p:txBody>
          <a:bodyPr wrap="square" anchor="ctr" lIns="18288" rIns="18288" tIns="9144" bIns="9144">
            <a:spAutoFit/>
          </a:bodyPr>
          <a:lstStyle/>
          <a:p>
            <a:pPr algn="l">
              <a:lnSpc>
                <a:spcPct val="100000"/>
              </a:lnSpc>
            </a:pPr>
            <a:r>
              <a:rPr sz="1450" b="0">
                <a:solidFill>
                  <a:srgbClr val="047857"/>
                </a:solidFill>
                <a:latin typeface="Poppins SemiBold"/>
              </a:rPr>
              <a:t>Automatic Intelligent Autofill</a:t>
            </a:r>
          </a:p>
        </p:txBody>
      </p:sp>
      <p:sp>
        <p:nvSpPr>
          <p:cNvPr id="35" name="TextBox 34"/>
          <p:cNvSpPr txBox="1"/>
          <p:nvPr/>
        </p:nvSpPr>
        <p:spPr>
          <a:xfrm>
            <a:off x="4160520" y="5477256"/>
            <a:ext cx="2286000" cy="548640"/>
          </a:xfrm>
          <a:prstGeom prst="rect">
            <a:avLst/>
          </a:prstGeom>
          <a:noFill/>
        </p:spPr>
        <p:txBody>
          <a:bodyPr wrap="square" anchor="ctr" lIns="18288" rIns="18288" tIns="9144" bIns="9144">
            <a:spAutoFit/>
          </a:bodyPr>
          <a:lstStyle/>
          <a:p>
            <a:pPr algn="r">
              <a:lnSpc>
                <a:spcPct val="100000"/>
              </a:lnSpc>
            </a:pPr>
            <a:r>
              <a:rPr sz="1000" b="0">
                <a:solidFill>
                  <a:srgbClr val="5D6675"/>
                </a:solidFill>
                <a:latin typeface="Inter"/>
              </a:rPr>
              <a:t>confidence-gated filling</a:t>
            </a:r>
          </a:p>
        </p:txBody>
      </p:sp>
      <p:sp>
        <p:nvSpPr>
          <p:cNvPr id="36" name="TextBox 35"/>
          <p:cNvSpPr txBox="1"/>
          <p:nvPr/>
        </p:nvSpPr>
        <p:spPr>
          <a:xfrm>
            <a:off x="7059168" y="1371600"/>
            <a:ext cx="4206240" cy="256032"/>
          </a:xfrm>
          <a:prstGeom prst="rect">
            <a:avLst/>
          </a:prstGeom>
          <a:noFill/>
        </p:spPr>
        <p:txBody>
          <a:bodyPr wrap="square" anchor="t" lIns="18288" rIns="18288" tIns="9144" bIns="9144">
            <a:spAutoFit/>
          </a:bodyPr>
          <a:lstStyle/>
          <a:p>
            <a:pPr algn="l">
              <a:lnSpc>
                <a:spcPct val="100000"/>
              </a:lnSpc>
            </a:pPr>
            <a:r>
              <a:rPr sz="1100" b="0" spc="300">
                <a:solidFill>
                  <a:srgbClr val="5D6675"/>
                </a:solidFill>
                <a:latin typeface="Inter Medium"/>
              </a:rPr>
              <a:t>SUPPORTED PLATFORMS</a:t>
            </a:r>
          </a:p>
        </p:txBody>
      </p:sp>
      <p:sp>
        <p:nvSpPr>
          <p:cNvPr id="37" name="Rounded Rectangle 36"/>
          <p:cNvSpPr/>
          <p:nvPr/>
        </p:nvSpPr>
        <p:spPr>
          <a:xfrm>
            <a:off x="7059168" y="1737360"/>
            <a:ext cx="2176272" cy="493776"/>
          </a:xfrm>
          <a:prstGeom prst="roundRect">
            <a:avLst>
              <a:gd name="adj" fmla="val 20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205472" y="1938528"/>
            <a:ext cx="91440" cy="91440"/>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88352" y="1737360"/>
            <a:ext cx="1783080" cy="493776"/>
          </a:xfrm>
          <a:prstGeom prst="rect">
            <a:avLst/>
          </a:prstGeom>
          <a:noFill/>
        </p:spPr>
        <p:txBody>
          <a:bodyPr wrap="square" anchor="ctr" lIns="18288" rIns="18288" tIns="9144" bIns="9144">
            <a:spAutoFit/>
          </a:bodyPr>
          <a:lstStyle/>
          <a:p>
            <a:pPr algn="l">
              <a:lnSpc>
                <a:spcPct val="100000"/>
              </a:lnSpc>
            </a:pPr>
            <a:r>
              <a:rPr sz="1100" b="0">
                <a:solidFill>
                  <a:srgbClr val="121826"/>
                </a:solidFill>
                <a:latin typeface="Inter Medium"/>
              </a:rPr>
              <a:t>LinkedIn</a:t>
            </a:r>
          </a:p>
        </p:txBody>
      </p:sp>
      <p:sp>
        <p:nvSpPr>
          <p:cNvPr id="40" name="Rounded Rectangle 39"/>
          <p:cNvSpPr/>
          <p:nvPr/>
        </p:nvSpPr>
        <p:spPr>
          <a:xfrm>
            <a:off x="9390888" y="1737360"/>
            <a:ext cx="2176272" cy="493776"/>
          </a:xfrm>
          <a:prstGeom prst="roundRect">
            <a:avLst>
              <a:gd name="adj" fmla="val 20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9537192" y="1938528"/>
            <a:ext cx="91440" cy="91440"/>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20072" y="1737360"/>
            <a:ext cx="1783080" cy="493776"/>
          </a:xfrm>
          <a:prstGeom prst="rect">
            <a:avLst/>
          </a:prstGeom>
          <a:noFill/>
        </p:spPr>
        <p:txBody>
          <a:bodyPr wrap="square" anchor="ctr" lIns="18288" rIns="18288" tIns="9144" bIns="9144">
            <a:spAutoFit/>
          </a:bodyPr>
          <a:lstStyle/>
          <a:p>
            <a:pPr algn="l">
              <a:lnSpc>
                <a:spcPct val="100000"/>
              </a:lnSpc>
            </a:pPr>
            <a:r>
              <a:rPr sz="1100" b="0">
                <a:solidFill>
                  <a:srgbClr val="121826"/>
                </a:solidFill>
                <a:latin typeface="Inter Medium"/>
              </a:rPr>
              <a:t>Internshala</a:t>
            </a:r>
          </a:p>
        </p:txBody>
      </p:sp>
      <p:sp>
        <p:nvSpPr>
          <p:cNvPr id="43" name="Rounded Rectangle 42"/>
          <p:cNvSpPr/>
          <p:nvPr/>
        </p:nvSpPr>
        <p:spPr>
          <a:xfrm>
            <a:off x="7059168" y="2395728"/>
            <a:ext cx="2176272" cy="493776"/>
          </a:xfrm>
          <a:prstGeom prst="roundRect">
            <a:avLst>
              <a:gd name="adj" fmla="val 20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7205472" y="2596896"/>
            <a:ext cx="91440" cy="91440"/>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388352" y="2395728"/>
            <a:ext cx="1783080" cy="493776"/>
          </a:xfrm>
          <a:prstGeom prst="rect">
            <a:avLst/>
          </a:prstGeom>
          <a:noFill/>
        </p:spPr>
        <p:txBody>
          <a:bodyPr wrap="square" anchor="ctr" lIns="18288" rIns="18288" tIns="9144" bIns="9144">
            <a:spAutoFit/>
          </a:bodyPr>
          <a:lstStyle/>
          <a:p>
            <a:pPr algn="l">
              <a:lnSpc>
                <a:spcPct val="100000"/>
              </a:lnSpc>
            </a:pPr>
            <a:r>
              <a:rPr sz="1100" b="0">
                <a:solidFill>
                  <a:srgbClr val="121826"/>
                </a:solidFill>
                <a:latin typeface="Inter Medium"/>
              </a:rPr>
              <a:t>Naukri</a:t>
            </a:r>
          </a:p>
        </p:txBody>
      </p:sp>
      <p:sp>
        <p:nvSpPr>
          <p:cNvPr id="46" name="Rounded Rectangle 45"/>
          <p:cNvSpPr/>
          <p:nvPr/>
        </p:nvSpPr>
        <p:spPr>
          <a:xfrm>
            <a:off x="9390888" y="2395728"/>
            <a:ext cx="2176272" cy="493776"/>
          </a:xfrm>
          <a:prstGeom prst="roundRect">
            <a:avLst>
              <a:gd name="adj" fmla="val 20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9537192" y="2596896"/>
            <a:ext cx="91440" cy="91440"/>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20072" y="2395728"/>
            <a:ext cx="1783080" cy="493776"/>
          </a:xfrm>
          <a:prstGeom prst="rect">
            <a:avLst/>
          </a:prstGeom>
          <a:noFill/>
        </p:spPr>
        <p:txBody>
          <a:bodyPr wrap="square" anchor="ctr" lIns="18288" rIns="18288" tIns="9144" bIns="9144">
            <a:spAutoFit/>
          </a:bodyPr>
          <a:lstStyle/>
          <a:p>
            <a:pPr algn="l">
              <a:lnSpc>
                <a:spcPct val="100000"/>
              </a:lnSpc>
            </a:pPr>
            <a:r>
              <a:rPr sz="1100" b="0">
                <a:solidFill>
                  <a:srgbClr val="121826"/>
                </a:solidFill>
                <a:latin typeface="Inter Medium"/>
              </a:rPr>
              <a:t>Wellfound</a:t>
            </a:r>
          </a:p>
        </p:txBody>
      </p:sp>
      <p:sp>
        <p:nvSpPr>
          <p:cNvPr id="49" name="Rounded Rectangle 48"/>
          <p:cNvSpPr/>
          <p:nvPr/>
        </p:nvSpPr>
        <p:spPr>
          <a:xfrm>
            <a:off x="7059168" y="3054096"/>
            <a:ext cx="2176272" cy="493776"/>
          </a:xfrm>
          <a:prstGeom prst="roundRect">
            <a:avLst>
              <a:gd name="adj" fmla="val 20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7205472" y="3255264"/>
            <a:ext cx="91440" cy="91440"/>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388352" y="3054096"/>
            <a:ext cx="1783080" cy="493776"/>
          </a:xfrm>
          <a:prstGeom prst="rect">
            <a:avLst/>
          </a:prstGeom>
          <a:noFill/>
        </p:spPr>
        <p:txBody>
          <a:bodyPr wrap="square" anchor="ctr" lIns="18288" rIns="18288" tIns="9144" bIns="9144">
            <a:spAutoFit/>
          </a:bodyPr>
          <a:lstStyle/>
          <a:p>
            <a:pPr algn="l">
              <a:lnSpc>
                <a:spcPct val="100000"/>
              </a:lnSpc>
            </a:pPr>
            <a:r>
              <a:rPr sz="1100" b="0">
                <a:solidFill>
                  <a:srgbClr val="121826"/>
                </a:solidFill>
                <a:latin typeface="Inter Medium"/>
              </a:rPr>
              <a:t>Greenhouse</a:t>
            </a:r>
          </a:p>
        </p:txBody>
      </p:sp>
      <p:sp>
        <p:nvSpPr>
          <p:cNvPr id="52" name="Rounded Rectangle 51"/>
          <p:cNvSpPr/>
          <p:nvPr/>
        </p:nvSpPr>
        <p:spPr>
          <a:xfrm>
            <a:off x="9390888" y="3054096"/>
            <a:ext cx="2176272" cy="493776"/>
          </a:xfrm>
          <a:prstGeom prst="roundRect">
            <a:avLst>
              <a:gd name="adj" fmla="val 20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9537192" y="3255264"/>
            <a:ext cx="91440" cy="91440"/>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720072" y="3054096"/>
            <a:ext cx="1783080" cy="493776"/>
          </a:xfrm>
          <a:prstGeom prst="rect">
            <a:avLst/>
          </a:prstGeom>
          <a:noFill/>
        </p:spPr>
        <p:txBody>
          <a:bodyPr wrap="square" anchor="ctr" lIns="18288" rIns="18288" tIns="9144" bIns="9144">
            <a:spAutoFit/>
          </a:bodyPr>
          <a:lstStyle/>
          <a:p>
            <a:pPr algn="l">
              <a:lnSpc>
                <a:spcPct val="100000"/>
              </a:lnSpc>
            </a:pPr>
            <a:r>
              <a:rPr sz="1100" b="0">
                <a:solidFill>
                  <a:srgbClr val="121826"/>
                </a:solidFill>
                <a:latin typeface="Inter Medium"/>
              </a:rPr>
              <a:t>Lever</a:t>
            </a:r>
          </a:p>
        </p:txBody>
      </p:sp>
      <p:sp>
        <p:nvSpPr>
          <p:cNvPr id="55" name="Rounded Rectangle 54"/>
          <p:cNvSpPr/>
          <p:nvPr/>
        </p:nvSpPr>
        <p:spPr>
          <a:xfrm>
            <a:off x="7059168" y="3712464"/>
            <a:ext cx="2176272" cy="493776"/>
          </a:xfrm>
          <a:prstGeom prst="roundRect">
            <a:avLst>
              <a:gd name="adj" fmla="val 20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7205472" y="3913632"/>
            <a:ext cx="91440" cy="91440"/>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388352" y="3712464"/>
            <a:ext cx="1783080" cy="493776"/>
          </a:xfrm>
          <a:prstGeom prst="rect">
            <a:avLst/>
          </a:prstGeom>
          <a:noFill/>
        </p:spPr>
        <p:txBody>
          <a:bodyPr wrap="square" anchor="ctr" lIns="18288" rIns="18288" tIns="9144" bIns="9144">
            <a:spAutoFit/>
          </a:bodyPr>
          <a:lstStyle/>
          <a:p>
            <a:pPr algn="l">
              <a:lnSpc>
                <a:spcPct val="100000"/>
              </a:lnSpc>
            </a:pPr>
            <a:r>
              <a:rPr sz="1100" b="0">
                <a:solidFill>
                  <a:srgbClr val="121826"/>
                </a:solidFill>
                <a:latin typeface="Inter Medium"/>
              </a:rPr>
              <a:t>Ashby</a:t>
            </a:r>
          </a:p>
        </p:txBody>
      </p:sp>
      <p:sp>
        <p:nvSpPr>
          <p:cNvPr id="58" name="Rounded Rectangle 57"/>
          <p:cNvSpPr/>
          <p:nvPr/>
        </p:nvSpPr>
        <p:spPr>
          <a:xfrm>
            <a:off x="9390888" y="3712464"/>
            <a:ext cx="2176272" cy="493776"/>
          </a:xfrm>
          <a:prstGeom prst="roundRect">
            <a:avLst>
              <a:gd name="adj" fmla="val 20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9537192" y="3913632"/>
            <a:ext cx="91440" cy="91440"/>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720072" y="3712464"/>
            <a:ext cx="1783080" cy="493776"/>
          </a:xfrm>
          <a:prstGeom prst="rect">
            <a:avLst/>
          </a:prstGeom>
          <a:noFill/>
        </p:spPr>
        <p:txBody>
          <a:bodyPr wrap="square" anchor="ctr" lIns="18288" rIns="18288" tIns="9144" bIns="9144">
            <a:spAutoFit/>
          </a:bodyPr>
          <a:lstStyle/>
          <a:p>
            <a:pPr algn="l">
              <a:lnSpc>
                <a:spcPct val="100000"/>
              </a:lnSpc>
            </a:pPr>
            <a:r>
              <a:rPr sz="1100" b="0">
                <a:solidFill>
                  <a:srgbClr val="121826"/>
                </a:solidFill>
                <a:latin typeface="Inter Medium"/>
              </a:rPr>
              <a:t>Google Careers</a:t>
            </a:r>
          </a:p>
        </p:txBody>
      </p:sp>
      <p:sp>
        <p:nvSpPr>
          <p:cNvPr id="61" name="Rounded Rectangle 60"/>
          <p:cNvSpPr/>
          <p:nvPr/>
        </p:nvSpPr>
        <p:spPr>
          <a:xfrm>
            <a:off x="7059168" y="4370831"/>
            <a:ext cx="2176272" cy="493776"/>
          </a:xfrm>
          <a:prstGeom prst="roundRect">
            <a:avLst>
              <a:gd name="adj" fmla="val 20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7205472" y="4571999"/>
            <a:ext cx="91440" cy="91440"/>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388352" y="4370831"/>
            <a:ext cx="1783080" cy="493776"/>
          </a:xfrm>
          <a:prstGeom prst="rect">
            <a:avLst/>
          </a:prstGeom>
          <a:noFill/>
        </p:spPr>
        <p:txBody>
          <a:bodyPr wrap="square" anchor="ctr" lIns="18288" rIns="18288" tIns="9144" bIns="9144">
            <a:spAutoFit/>
          </a:bodyPr>
          <a:lstStyle/>
          <a:p>
            <a:pPr algn="l">
              <a:lnSpc>
                <a:spcPct val="100000"/>
              </a:lnSpc>
            </a:pPr>
            <a:r>
              <a:rPr sz="1100" b="0">
                <a:solidFill>
                  <a:srgbClr val="121826"/>
                </a:solidFill>
                <a:latin typeface="Inter Medium"/>
              </a:rPr>
              <a:t>Microsoft Careers</a:t>
            </a:r>
          </a:p>
        </p:txBody>
      </p:sp>
      <p:sp>
        <p:nvSpPr>
          <p:cNvPr id="64" name="Rounded Rectangle 63"/>
          <p:cNvSpPr/>
          <p:nvPr/>
        </p:nvSpPr>
        <p:spPr>
          <a:xfrm>
            <a:off x="9390888" y="4370831"/>
            <a:ext cx="2176272" cy="493776"/>
          </a:xfrm>
          <a:prstGeom prst="roundRect">
            <a:avLst>
              <a:gd name="adj" fmla="val 20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9537192" y="4571999"/>
            <a:ext cx="91440" cy="91440"/>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720072" y="4370831"/>
            <a:ext cx="1783080" cy="493776"/>
          </a:xfrm>
          <a:prstGeom prst="rect">
            <a:avLst/>
          </a:prstGeom>
          <a:noFill/>
        </p:spPr>
        <p:txBody>
          <a:bodyPr wrap="square" anchor="ctr" lIns="18288" rIns="18288" tIns="9144" bIns="9144">
            <a:spAutoFit/>
          </a:bodyPr>
          <a:lstStyle/>
          <a:p>
            <a:pPr algn="l">
              <a:lnSpc>
                <a:spcPct val="100000"/>
              </a:lnSpc>
            </a:pPr>
            <a:r>
              <a:rPr sz="1100" b="0">
                <a:solidFill>
                  <a:srgbClr val="121826"/>
                </a:solidFill>
                <a:latin typeface="Inter Medium"/>
              </a:rPr>
              <a:t>Custom Company Portals</a:t>
            </a:r>
          </a:p>
        </p:txBody>
      </p:sp>
      <p:sp>
        <p:nvSpPr>
          <p:cNvPr id="67" name="Rounded Rectangle 66"/>
          <p:cNvSpPr/>
          <p:nvPr/>
        </p:nvSpPr>
        <p:spPr>
          <a:xfrm>
            <a:off x="7059168" y="5138928"/>
            <a:ext cx="4507992" cy="640080"/>
          </a:xfrm>
          <a:prstGeom prst="roundRect">
            <a:avLst>
              <a:gd name="adj" fmla="val 14000"/>
            </a:avLst>
          </a:prstGeom>
          <a:solidFill>
            <a:srgbClr val="EDF0F5"/>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200" b="0">
                <a:solidFill>
                  <a:srgbClr val="5D6675"/>
                </a:solidFill>
                <a:latin typeface="Inter Medium"/>
              </a:rPr>
              <a:t>Any ATS  ·  Any form structure  ·  </a:t>
            </a:r>
            <a:r>
              <a:rPr sz="1200" b="0">
                <a:solidFill>
                  <a:srgbClr val="047857"/>
                </a:solidFill>
                <a:latin typeface="Inter Medium"/>
              </a:rPr>
              <a:t>One identity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7FA"/>
        </a:solidFill>
        <a:effectLst/>
      </p:bgPr>
    </p:bg>
    <p:spTree>
      <p:nvGrpSpPr>
        <p:cNvPr id="1" name=""/>
        <p:cNvGrpSpPr/>
        <p:nvPr/>
      </p:nvGrpSpPr>
      <p:grpSpPr/>
      <p:sp>
        <p:nvSpPr>
          <p:cNvPr id="2" name="TextBox 1"/>
          <p:cNvSpPr txBox="1"/>
          <p:nvPr/>
        </p:nvSpPr>
        <p:spPr>
          <a:xfrm>
            <a:off x="841248" y="347472"/>
            <a:ext cx="7315200" cy="274320"/>
          </a:xfrm>
          <a:prstGeom prst="rect">
            <a:avLst/>
          </a:prstGeom>
          <a:noFill/>
        </p:spPr>
        <p:txBody>
          <a:bodyPr wrap="square" anchor="t" lIns="18288" rIns="18288" tIns="9144" bIns="9144">
            <a:spAutoFit/>
          </a:bodyPr>
          <a:lstStyle/>
          <a:p>
            <a:pPr algn="l">
              <a:lnSpc>
                <a:spcPct val="100000"/>
              </a:lnSpc>
            </a:pPr>
            <a:r>
              <a:rPr sz="1100" b="0" spc="300">
                <a:solidFill>
                  <a:srgbClr val="4338CA"/>
                </a:solidFill>
                <a:latin typeface="Inter Medium"/>
              </a:rPr>
              <a:t>SYSTEM ARCHITECTURE</a:t>
            </a:r>
          </a:p>
        </p:txBody>
      </p:sp>
      <p:sp>
        <p:nvSpPr>
          <p:cNvPr id="3" name="TextBox 2"/>
          <p:cNvSpPr txBox="1"/>
          <p:nvPr/>
        </p:nvSpPr>
        <p:spPr>
          <a:xfrm>
            <a:off x="822960" y="566928"/>
            <a:ext cx="10607040" cy="566928"/>
          </a:xfrm>
          <a:prstGeom prst="rect">
            <a:avLst/>
          </a:prstGeom>
          <a:noFill/>
        </p:spPr>
        <p:txBody>
          <a:bodyPr wrap="square" anchor="t" lIns="18288" rIns="18288" tIns="9144" bIns="9144">
            <a:spAutoFit/>
          </a:bodyPr>
          <a:lstStyle/>
          <a:p>
            <a:pPr algn="l">
              <a:lnSpc>
                <a:spcPct val="100000"/>
              </a:lnSpc>
            </a:pPr>
            <a:r>
              <a:rPr sz="3000" b="1">
                <a:solidFill>
                  <a:srgbClr val="121826"/>
                </a:solidFill>
                <a:latin typeface="Poppins ExtraBold"/>
              </a:rPr>
              <a:t>System Architecture</a:t>
            </a:r>
          </a:p>
        </p:txBody>
      </p:sp>
      <p:sp>
        <p:nvSpPr>
          <p:cNvPr id="4" name="Rounded Rectangle 3"/>
          <p:cNvSpPr/>
          <p:nvPr/>
        </p:nvSpPr>
        <p:spPr>
          <a:xfrm>
            <a:off x="841248" y="1133856"/>
            <a:ext cx="868680" cy="45720"/>
          </a:xfrm>
          <a:prstGeom prst="roundRect">
            <a:avLst>
              <a:gd name="adj" fmla="val 50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81360" y="6473952"/>
            <a:ext cx="1005840" cy="274320"/>
          </a:xfrm>
          <a:prstGeom prst="rect">
            <a:avLst/>
          </a:prstGeom>
          <a:noFill/>
        </p:spPr>
        <p:txBody>
          <a:bodyPr wrap="square" anchor="t" lIns="18288" rIns="18288" tIns="9144" bIns="9144">
            <a:spAutoFit/>
          </a:bodyPr>
          <a:lstStyle/>
          <a:p>
            <a:pPr algn="r">
              <a:lnSpc>
                <a:spcPct val="100000"/>
              </a:lnSpc>
            </a:pPr>
            <a:r>
              <a:rPr sz="1000" b="0">
                <a:solidFill>
                  <a:srgbClr val="5D6675"/>
                </a:solidFill>
                <a:latin typeface="Inter Medium"/>
              </a:rPr>
              <a:t>06 / 13</a:t>
            </a:r>
          </a:p>
        </p:txBody>
      </p:sp>
      <p:sp>
        <p:nvSpPr>
          <p:cNvPr id="6" name="TextBox 5"/>
          <p:cNvSpPr txBox="1"/>
          <p:nvPr/>
        </p:nvSpPr>
        <p:spPr>
          <a:xfrm>
            <a:off x="841248" y="6473952"/>
            <a:ext cx="4572000" cy="274320"/>
          </a:xfrm>
          <a:prstGeom prst="rect">
            <a:avLst/>
          </a:prstGeom>
          <a:noFill/>
        </p:spPr>
        <p:txBody>
          <a:bodyPr wrap="square" anchor="t" lIns="18288" rIns="18288" tIns="9144" bIns="9144">
            <a:spAutoFit/>
          </a:bodyPr>
          <a:lstStyle/>
          <a:p>
            <a:pPr algn="l">
              <a:lnSpc>
                <a:spcPct val="100000"/>
              </a:lnSpc>
            </a:pPr>
            <a:r>
              <a:rPr sz="950" b="0" spc="100">
                <a:solidFill>
                  <a:srgbClr val="5D6675"/>
                </a:solidFill>
                <a:latin typeface="Inter Medium"/>
              </a:rPr>
              <a:t>CareerHub · Semantic Professional Identity Framework</a:t>
            </a:r>
          </a:p>
        </p:txBody>
      </p:sp>
      <p:sp>
        <p:nvSpPr>
          <p:cNvPr id="7" name="Rounded Rectangle 6"/>
          <p:cNvSpPr/>
          <p:nvPr/>
        </p:nvSpPr>
        <p:spPr>
          <a:xfrm>
            <a:off x="822960" y="1371600"/>
            <a:ext cx="2487168" cy="457200"/>
          </a:xfrm>
          <a:prstGeom prst="roundRect">
            <a:avLst>
              <a:gd name="adj" fmla="val 22000"/>
            </a:avLst>
          </a:prstGeom>
          <a:solidFill>
            <a:srgbClr val="059669">
              <a:alpha val="12000"/>
            </a:srgbClr>
          </a:solidFill>
          <a:ln w="12700">
            <a:solidFill>
              <a:srgbClr val="059669">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50" b="0">
                <a:solidFill>
                  <a:srgbClr val="047857"/>
                </a:solidFill>
                <a:latin typeface="Inter Medium"/>
              </a:rPr>
              <a:t>User</a:t>
            </a:r>
          </a:p>
        </p:txBody>
      </p:sp>
      <p:cxnSp>
        <p:nvCxnSpPr>
          <p:cNvPr id="8" name="Connector 7"/>
          <p:cNvCxnSpPr/>
          <p:nvPr/>
        </p:nvCxnSpPr>
        <p:spPr>
          <a:xfrm>
            <a:off x="2066544" y="1828800"/>
            <a:ext cx="0" cy="265176"/>
          </a:xfrm>
          <a:prstGeom prst="line">
            <a:avLst/>
          </a:prstGeom>
          <a:ln w="12700">
            <a:solidFill>
              <a:srgbClr val="9AA3B2">
                <a:alpha val="95000"/>
              </a:srgbClr>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822960" y="2093976"/>
            <a:ext cx="2487168" cy="457200"/>
          </a:xfrm>
          <a:prstGeom prst="roundRect">
            <a:avLst>
              <a:gd name="adj" fmla="val 22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50" b="0">
                <a:solidFill>
                  <a:srgbClr val="121826"/>
                </a:solidFill>
                <a:latin typeface="Inter Medium"/>
              </a:rPr>
              <a:t>CareerHub Professional Identity</a:t>
            </a:r>
          </a:p>
        </p:txBody>
      </p:sp>
      <p:cxnSp>
        <p:nvCxnSpPr>
          <p:cNvPr id="10" name="Connector 9"/>
          <p:cNvCxnSpPr/>
          <p:nvPr/>
        </p:nvCxnSpPr>
        <p:spPr>
          <a:xfrm>
            <a:off x="2066544" y="2551176"/>
            <a:ext cx="0" cy="265176"/>
          </a:xfrm>
          <a:prstGeom prst="line">
            <a:avLst/>
          </a:prstGeom>
          <a:ln w="12700">
            <a:solidFill>
              <a:srgbClr val="9AA3B2">
                <a:alpha val="95000"/>
              </a:srgbClr>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22960" y="2816352"/>
            <a:ext cx="2487168" cy="457200"/>
          </a:xfrm>
          <a:prstGeom prst="roundRect">
            <a:avLst>
              <a:gd name="adj" fmla="val 22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50" b="0">
                <a:solidFill>
                  <a:srgbClr val="121826"/>
                </a:solidFill>
                <a:latin typeface="Inter Medium"/>
              </a:rPr>
              <a:t>Browser Extension</a:t>
            </a:r>
          </a:p>
        </p:txBody>
      </p:sp>
      <p:cxnSp>
        <p:nvCxnSpPr>
          <p:cNvPr id="12" name="Connector 11"/>
          <p:cNvCxnSpPr/>
          <p:nvPr/>
        </p:nvCxnSpPr>
        <p:spPr>
          <a:xfrm>
            <a:off x="2066544" y="3273552"/>
            <a:ext cx="0" cy="265176"/>
          </a:xfrm>
          <a:prstGeom prst="line">
            <a:avLst/>
          </a:prstGeom>
          <a:ln w="12700">
            <a:solidFill>
              <a:srgbClr val="9AA3B2">
                <a:alpha val="95000"/>
              </a:srgbClr>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22960" y="3538728"/>
            <a:ext cx="2487168" cy="457200"/>
          </a:xfrm>
          <a:prstGeom prst="roundRect">
            <a:avLst>
              <a:gd name="adj" fmla="val 22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50" b="0">
                <a:solidFill>
                  <a:srgbClr val="121826"/>
                </a:solidFill>
                <a:latin typeface="Inter Medium"/>
              </a:rPr>
              <a:t>DOM Extraction Engine</a:t>
            </a:r>
          </a:p>
        </p:txBody>
      </p:sp>
      <p:cxnSp>
        <p:nvCxnSpPr>
          <p:cNvPr id="14" name="Connector 13"/>
          <p:cNvCxnSpPr/>
          <p:nvPr/>
        </p:nvCxnSpPr>
        <p:spPr>
          <a:xfrm>
            <a:off x="2066544" y="3995928"/>
            <a:ext cx="0" cy="265176"/>
          </a:xfrm>
          <a:prstGeom prst="line">
            <a:avLst/>
          </a:prstGeom>
          <a:ln w="12700">
            <a:solidFill>
              <a:srgbClr val="9AA3B2">
                <a:alpha val="95000"/>
              </a:srgbClr>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22960" y="4261104"/>
            <a:ext cx="2487168" cy="457200"/>
          </a:xfrm>
          <a:prstGeom prst="roundRect">
            <a:avLst>
              <a:gd name="adj" fmla="val 22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50" b="0">
                <a:solidFill>
                  <a:srgbClr val="121826"/>
                </a:solidFill>
                <a:latin typeface="Inter Medium"/>
              </a:rPr>
              <a:t>Metadata Extraction</a:t>
            </a:r>
          </a:p>
        </p:txBody>
      </p:sp>
      <p:cxnSp>
        <p:nvCxnSpPr>
          <p:cNvPr id="16" name="Connector 15"/>
          <p:cNvCxnSpPr/>
          <p:nvPr/>
        </p:nvCxnSpPr>
        <p:spPr>
          <a:xfrm>
            <a:off x="2066544" y="4718304"/>
            <a:ext cx="0" cy="265176"/>
          </a:xfrm>
          <a:prstGeom prst="line">
            <a:avLst/>
          </a:prstGeom>
          <a:ln w="12700">
            <a:solidFill>
              <a:srgbClr val="9AA3B2">
                <a:alpha val="95000"/>
              </a:srgbClr>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22960" y="4983480"/>
            <a:ext cx="2487168" cy="457200"/>
          </a:xfrm>
          <a:prstGeom prst="roundRect">
            <a:avLst>
              <a:gd name="adj" fmla="val 22000"/>
            </a:avLst>
          </a:prstGeom>
          <a:solidFill>
            <a:srgbClr val="4F46E5">
              <a:alpha val="16000"/>
            </a:srgbClr>
          </a:solidFill>
          <a:ln w="12700">
            <a:solidFill>
              <a:srgbClr val="4F46E5">
                <a:alpha val="6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50" b="0">
                <a:solidFill>
                  <a:srgbClr val="4338CA"/>
                </a:solidFill>
                <a:latin typeface="Inter Medium"/>
              </a:rPr>
              <a:t>Semantic Embedding</a:t>
            </a:r>
          </a:p>
        </p:txBody>
      </p:sp>
      <p:sp>
        <p:nvSpPr>
          <p:cNvPr id="18" name="Rounded Rectangle 17"/>
          <p:cNvSpPr/>
          <p:nvPr/>
        </p:nvSpPr>
        <p:spPr>
          <a:xfrm>
            <a:off x="3520440" y="1371600"/>
            <a:ext cx="2487168" cy="457200"/>
          </a:xfrm>
          <a:prstGeom prst="roundRect">
            <a:avLst>
              <a:gd name="adj" fmla="val 22000"/>
            </a:avLst>
          </a:prstGeom>
          <a:solidFill>
            <a:srgbClr val="4F46E5">
              <a:alpha val="16000"/>
            </a:srgbClr>
          </a:solidFill>
          <a:ln w="12700">
            <a:solidFill>
              <a:srgbClr val="4F46E5">
                <a:alpha val="6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50" b="0">
                <a:solidFill>
                  <a:srgbClr val="4338CA"/>
                </a:solidFill>
                <a:latin typeface="Inter Medium"/>
              </a:rPr>
              <a:t>Field Classification</a:t>
            </a:r>
          </a:p>
        </p:txBody>
      </p:sp>
      <p:cxnSp>
        <p:nvCxnSpPr>
          <p:cNvPr id="19" name="Connector 18"/>
          <p:cNvCxnSpPr/>
          <p:nvPr/>
        </p:nvCxnSpPr>
        <p:spPr>
          <a:xfrm>
            <a:off x="4764024" y="1828800"/>
            <a:ext cx="0" cy="265176"/>
          </a:xfrm>
          <a:prstGeom prst="line">
            <a:avLst/>
          </a:prstGeom>
          <a:ln w="12700">
            <a:solidFill>
              <a:srgbClr val="9AA3B2">
                <a:alpha val="95000"/>
              </a:srgbClr>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520440" y="2093976"/>
            <a:ext cx="2487168" cy="457200"/>
          </a:xfrm>
          <a:prstGeom prst="roundRect">
            <a:avLst>
              <a:gd name="adj" fmla="val 22000"/>
            </a:avLst>
          </a:prstGeom>
          <a:solidFill>
            <a:srgbClr val="4F46E5">
              <a:alpha val="16000"/>
            </a:srgbClr>
          </a:solidFill>
          <a:ln w="12700">
            <a:solidFill>
              <a:srgbClr val="4F46E5">
                <a:alpha val="6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50" b="0">
                <a:solidFill>
                  <a:srgbClr val="4338CA"/>
                </a:solidFill>
                <a:latin typeface="Inter Medium"/>
              </a:rPr>
              <a:t>Confidence Ranking</a:t>
            </a:r>
          </a:p>
        </p:txBody>
      </p:sp>
      <p:cxnSp>
        <p:nvCxnSpPr>
          <p:cNvPr id="21" name="Connector 20"/>
          <p:cNvCxnSpPr/>
          <p:nvPr/>
        </p:nvCxnSpPr>
        <p:spPr>
          <a:xfrm>
            <a:off x="4764024" y="2551176"/>
            <a:ext cx="0" cy="265176"/>
          </a:xfrm>
          <a:prstGeom prst="line">
            <a:avLst/>
          </a:prstGeom>
          <a:ln w="12700">
            <a:solidFill>
              <a:srgbClr val="9AA3B2">
                <a:alpha val="95000"/>
              </a:srgbClr>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3520440" y="2816352"/>
            <a:ext cx="2487168" cy="457200"/>
          </a:xfrm>
          <a:prstGeom prst="roundRect">
            <a:avLst>
              <a:gd name="adj" fmla="val 22000"/>
            </a:avLst>
          </a:prstGeom>
          <a:solidFill>
            <a:srgbClr val="059669">
              <a:alpha val="12000"/>
            </a:srgbClr>
          </a:solidFill>
          <a:ln w="12700">
            <a:solidFill>
              <a:srgbClr val="059669">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50" b="0">
                <a:solidFill>
                  <a:srgbClr val="047857"/>
                </a:solidFill>
                <a:latin typeface="Inter Medium"/>
              </a:rPr>
              <a:t>User Confirmation</a:t>
            </a:r>
          </a:p>
        </p:txBody>
      </p:sp>
      <p:cxnSp>
        <p:nvCxnSpPr>
          <p:cNvPr id="23" name="Connector 22"/>
          <p:cNvCxnSpPr/>
          <p:nvPr/>
        </p:nvCxnSpPr>
        <p:spPr>
          <a:xfrm>
            <a:off x="4764024" y="3273552"/>
            <a:ext cx="0" cy="265176"/>
          </a:xfrm>
          <a:prstGeom prst="line">
            <a:avLst/>
          </a:prstGeom>
          <a:ln w="12700">
            <a:solidFill>
              <a:srgbClr val="9AA3B2">
                <a:alpha val="95000"/>
              </a:srgbClr>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3520440" y="3538728"/>
            <a:ext cx="2487168" cy="457200"/>
          </a:xfrm>
          <a:prstGeom prst="roundRect">
            <a:avLst>
              <a:gd name="adj" fmla="val 22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50" b="0">
                <a:solidFill>
                  <a:srgbClr val="121826"/>
                </a:solidFill>
                <a:latin typeface="Inter Medium"/>
              </a:rPr>
              <a:t>Autofill</a:t>
            </a:r>
          </a:p>
        </p:txBody>
      </p:sp>
      <p:cxnSp>
        <p:nvCxnSpPr>
          <p:cNvPr id="25" name="Connector 24"/>
          <p:cNvCxnSpPr/>
          <p:nvPr/>
        </p:nvCxnSpPr>
        <p:spPr>
          <a:xfrm>
            <a:off x="4764024" y="3995928"/>
            <a:ext cx="0" cy="265176"/>
          </a:xfrm>
          <a:prstGeom prst="line">
            <a:avLst/>
          </a:prstGeom>
          <a:ln w="12700">
            <a:solidFill>
              <a:srgbClr val="9AA3B2">
                <a:alpha val="95000"/>
              </a:srgbClr>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3520440" y="4261104"/>
            <a:ext cx="2487168" cy="457200"/>
          </a:xfrm>
          <a:prstGeom prst="roundRect">
            <a:avLst>
              <a:gd name="adj" fmla="val 22000"/>
            </a:avLst>
          </a:prstGeom>
          <a:solidFill>
            <a:srgbClr val="059669">
              <a:alpha val="12000"/>
            </a:srgbClr>
          </a:solidFill>
          <a:ln w="12700">
            <a:solidFill>
              <a:srgbClr val="059669">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50" b="0">
                <a:solidFill>
                  <a:srgbClr val="047857"/>
                </a:solidFill>
                <a:latin typeface="Inter Medium"/>
              </a:rPr>
              <a:t>Form Submission</a:t>
            </a:r>
          </a:p>
        </p:txBody>
      </p:sp>
      <p:cxnSp>
        <p:nvCxnSpPr>
          <p:cNvPr id="27" name="Connector 26"/>
          <p:cNvCxnSpPr/>
          <p:nvPr/>
        </p:nvCxnSpPr>
        <p:spPr>
          <a:xfrm flipH="1">
            <a:off x="3264408" y="5212080"/>
            <a:ext cx="45720" cy="0"/>
          </a:xfrm>
          <a:prstGeom prst="line">
            <a:avLst/>
          </a:prstGeom>
          <a:ln w="12700">
            <a:solidFill>
              <a:srgbClr val="9AA3B2">
                <a:alpha val="95000"/>
              </a:srgbClr>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3264408" y="1600200"/>
            <a:ext cx="0" cy="3611880"/>
          </a:xfrm>
          <a:prstGeom prst="line">
            <a:avLst/>
          </a:prstGeom>
          <a:ln w="12700">
            <a:solidFill>
              <a:srgbClr val="9AA3B2">
                <a:alpha val="95000"/>
              </a:srgbClr>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264408" y="1600200"/>
            <a:ext cx="256032" cy="0"/>
          </a:xfrm>
          <a:prstGeom prst="line">
            <a:avLst/>
          </a:prstGeom>
          <a:ln w="12700">
            <a:solidFill>
              <a:srgbClr val="9AA3B2">
                <a:alpha val="95000"/>
              </a:srgbClr>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841248" y="5961888"/>
            <a:ext cx="100584" cy="100584"/>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24128" y="5888736"/>
            <a:ext cx="1554480" cy="237744"/>
          </a:xfrm>
          <a:prstGeom prst="rect">
            <a:avLst/>
          </a:prstGeom>
          <a:noFill/>
        </p:spPr>
        <p:txBody>
          <a:bodyPr wrap="square" anchor="t" lIns="18288" rIns="18288" tIns="9144" bIns="9144">
            <a:spAutoFit/>
          </a:bodyPr>
          <a:lstStyle/>
          <a:p>
            <a:pPr algn="l">
              <a:lnSpc>
                <a:spcPct val="100000"/>
              </a:lnSpc>
            </a:pPr>
            <a:r>
              <a:rPr sz="950" b="0">
                <a:solidFill>
                  <a:srgbClr val="5D6675"/>
                </a:solidFill>
                <a:latin typeface="Inter Medium"/>
              </a:rPr>
              <a:t>User touchpoint</a:t>
            </a:r>
          </a:p>
        </p:txBody>
      </p:sp>
      <p:sp>
        <p:nvSpPr>
          <p:cNvPr id="32" name="Oval 31"/>
          <p:cNvSpPr/>
          <p:nvPr/>
        </p:nvSpPr>
        <p:spPr>
          <a:xfrm>
            <a:off x="2624328" y="5961888"/>
            <a:ext cx="100584" cy="100584"/>
          </a:xfrm>
          <a:prstGeom prst="ellipse">
            <a:avLst/>
          </a:prstGeom>
          <a:solidFill>
            <a:srgbClr val="5D66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807208" y="5888736"/>
            <a:ext cx="1554480" cy="237744"/>
          </a:xfrm>
          <a:prstGeom prst="rect">
            <a:avLst/>
          </a:prstGeom>
          <a:noFill/>
        </p:spPr>
        <p:txBody>
          <a:bodyPr wrap="square" anchor="t" lIns="18288" rIns="18288" tIns="9144" bIns="9144">
            <a:spAutoFit/>
          </a:bodyPr>
          <a:lstStyle/>
          <a:p>
            <a:pPr algn="l">
              <a:lnSpc>
                <a:spcPct val="100000"/>
              </a:lnSpc>
            </a:pPr>
            <a:r>
              <a:rPr sz="950" b="0">
                <a:solidFill>
                  <a:srgbClr val="5D6675"/>
                </a:solidFill>
                <a:latin typeface="Inter Medium"/>
              </a:rPr>
              <a:t>Browser pipeline</a:t>
            </a:r>
          </a:p>
        </p:txBody>
      </p:sp>
      <p:sp>
        <p:nvSpPr>
          <p:cNvPr id="34" name="Oval 33"/>
          <p:cNvSpPr/>
          <p:nvPr/>
        </p:nvSpPr>
        <p:spPr>
          <a:xfrm>
            <a:off x="4407408" y="5961888"/>
            <a:ext cx="100584" cy="100584"/>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90288" y="5888736"/>
            <a:ext cx="1554480" cy="237744"/>
          </a:xfrm>
          <a:prstGeom prst="rect">
            <a:avLst/>
          </a:prstGeom>
          <a:noFill/>
        </p:spPr>
        <p:txBody>
          <a:bodyPr wrap="square" anchor="t" lIns="18288" rIns="18288" tIns="9144" bIns="9144">
            <a:spAutoFit/>
          </a:bodyPr>
          <a:lstStyle/>
          <a:p>
            <a:pPr algn="l">
              <a:lnSpc>
                <a:spcPct val="100000"/>
              </a:lnSpc>
            </a:pPr>
            <a:r>
              <a:rPr sz="950" b="0">
                <a:solidFill>
                  <a:srgbClr val="5D6675"/>
                </a:solidFill>
                <a:latin typeface="Inter Medium"/>
              </a:rPr>
              <a:t>AI engine</a:t>
            </a:r>
          </a:p>
        </p:txBody>
      </p:sp>
      <p:sp>
        <p:nvSpPr>
          <p:cNvPr id="36" name="Rounded Rectangle 35"/>
          <p:cNvSpPr/>
          <p:nvPr/>
        </p:nvSpPr>
        <p:spPr>
          <a:xfrm>
            <a:off x="6537960" y="1371600"/>
            <a:ext cx="2487168" cy="2084831"/>
          </a:xfrm>
          <a:prstGeom prst="roundRect">
            <a:avLst>
              <a:gd name="adj" fmla="val 8000"/>
            </a:avLst>
          </a:prstGeom>
          <a:solidFill>
            <a:srgbClr val="FFFFFF"/>
          </a:solidFill>
          <a:ln w="9525">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720840" y="1536192"/>
            <a:ext cx="365760" cy="365760"/>
          </a:xfrm>
          <a:prstGeom prst="roundRect">
            <a:avLst>
              <a:gd name="adj" fmla="val 30000"/>
            </a:avLst>
          </a:prstGeom>
          <a:solidFill>
            <a:srgbClr val="4F46E5">
              <a:alpha val="16000"/>
            </a:srgbClr>
          </a:solidFill>
          <a:ln w="9525">
            <a:solidFill>
              <a:srgbClr val="4F46E5">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Hexagon 37"/>
          <p:cNvSpPr/>
          <p:nvPr/>
        </p:nvSpPr>
        <p:spPr>
          <a:xfrm>
            <a:off x="6815937" y="1631289"/>
            <a:ext cx="175564" cy="175564"/>
          </a:xfrm>
          <a:prstGeom prst="hexagon">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196328" y="1554480"/>
            <a:ext cx="1783080" cy="201168"/>
          </a:xfrm>
          <a:prstGeom prst="rect">
            <a:avLst/>
          </a:prstGeom>
          <a:noFill/>
        </p:spPr>
        <p:txBody>
          <a:bodyPr wrap="square" anchor="t" lIns="18288" rIns="18288" tIns="9144" bIns="9144">
            <a:spAutoFit/>
          </a:bodyPr>
          <a:lstStyle/>
          <a:p>
            <a:pPr algn="l">
              <a:lnSpc>
                <a:spcPct val="100000"/>
              </a:lnSpc>
            </a:pPr>
            <a:r>
              <a:rPr sz="800" b="0" spc="200">
                <a:solidFill>
                  <a:srgbClr val="5D6675"/>
                </a:solidFill>
                <a:latin typeface="Inter Medium"/>
              </a:rPr>
              <a:t>SENTENCE EMBEDDING</a:t>
            </a:r>
          </a:p>
        </p:txBody>
      </p:sp>
      <p:sp>
        <p:nvSpPr>
          <p:cNvPr id="40" name="TextBox 39"/>
          <p:cNvSpPr txBox="1"/>
          <p:nvPr/>
        </p:nvSpPr>
        <p:spPr>
          <a:xfrm>
            <a:off x="7196328" y="1755648"/>
            <a:ext cx="1783080" cy="274320"/>
          </a:xfrm>
          <a:prstGeom prst="rect">
            <a:avLst/>
          </a:prstGeom>
          <a:noFill/>
        </p:spPr>
        <p:txBody>
          <a:bodyPr wrap="square" anchor="t" lIns="18288" rIns="18288" tIns="9144" bIns="9144">
            <a:spAutoFit/>
          </a:bodyPr>
          <a:lstStyle/>
          <a:p>
            <a:pPr algn="l">
              <a:lnSpc>
                <a:spcPct val="100000"/>
              </a:lnSpc>
            </a:pPr>
            <a:r>
              <a:rPr sz="1300" b="1">
                <a:solidFill>
                  <a:srgbClr val="4338CA"/>
                </a:solidFill>
                <a:latin typeface="Poppins SemiBold"/>
              </a:rPr>
              <a:t>all-MiniLM-L6-v2</a:t>
            </a:r>
          </a:p>
        </p:txBody>
      </p:sp>
      <p:cxnSp>
        <p:nvCxnSpPr>
          <p:cNvPr id="41" name="Connector 40"/>
          <p:cNvCxnSpPr/>
          <p:nvPr/>
        </p:nvCxnSpPr>
        <p:spPr>
          <a:xfrm>
            <a:off x="6720840" y="2176272"/>
            <a:ext cx="2121408" cy="0"/>
          </a:xfrm>
          <a:prstGeom prst="line">
            <a:avLst/>
          </a:prstGeom>
          <a:ln w="6350">
            <a:solidFill>
              <a:srgbClr val="E3E7EE">
                <a:alpha val="90000"/>
              </a:srgbClr>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6720840" y="2286000"/>
            <a:ext cx="658368" cy="329184"/>
          </a:xfrm>
          <a:prstGeom prst="rect">
            <a:avLst/>
          </a:prstGeom>
          <a:noFill/>
        </p:spPr>
        <p:txBody>
          <a:bodyPr wrap="square" anchor="t" lIns="18288" rIns="18288" tIns="9144" bIns="9144">
            <a:spAutoFit/>
          </a:bodyPr>
          <a:lstStyle/>
          <a:p>
            <a:pPr algn="l">
              <a:lnSpc>
                <a:spcPct val="100000"/>
              </a:lnSpc>
            </a:pPr>
            <a:r>
              <a:rPr sz="750" b="0" spc="150">
                <a:solidFill>
                  <a:srgbClr val="5D6675"/>
                </a:solidFill>
                <a:latin typeface="Inter Medium"/>
              </a:rPr>
              <a:t>PURPOSE</a:t>
            </a:r>
          </a:p>
        </p:txBody>
      </p:sp>
      <p:sp>
        <p:nvSpPr>
          <p:cNvPr id="43" name="TextBox 42"/>
          <p:cNvSpPr txBox="1"/>
          <p:nvPr/>
        </p:nvSpPr>
        <p:spPr>
          <a:xfrm>
            <a:off x="7379208" y="2267712"/>
            <a:ext cx="1572768" cy="384048"/>
          </a:xfrm>
          <a:prstGeom prst="rect">
            <a:avLst/>
          </a:prstGeom>
          <a:noFill/>
        </p:spPr>
        <p:txBody>
          <a:bodyPr wrap="square" anchor="t" lIns="18288" rIns="18288" tIns="9144" bIns="9144">
            <a:spAutoFit/>
          </a:bodyPr>
          <a:lstStyle/>
          <a:p>
            <a:pPr algn="l">
              <a:lnSpc>
                <a:spcPct val="100000"/>
              </a:lnSpc>
            </a:pPr>
            <a:r>
              <a:rPr sz="950" b="0">
                <a:solidFill>
                  <a:srgbClr val="121826"/>
                </a:solidFill>
                <a:latin typeface="Inter"/>
              </a:rPr>
              <a:t>Field–attribute similarity</a:t>
            </a:r>
          </a:p>
        </p:txBody>
      </p:sp>
      <p:sp>
        <p:nvSpPr>
          <p:cNvPr id="44" name="TextBox 43"/>
          <p:cNvSpPr txBox="1"/>
          <p:nvPr/>
        </p:nvSpPr>
        <p:spPr>
          <a:xfrm>
            <a:off x="6720840" y="2670048"/>
            <a:ext cx="658368" cy="329184"/>
          </a:xfrm>
          <a:prstGeom prst="rect">
            <a:avLst/>
          </a:prstGeom>
          <a:noFill/>
        </p:spPr>
        <p:txBody>
          <a:bodyPr wrap="square" anchor="t" lIns="18288" rIns="18288" tIns="9144" bIns="9144">
            <a:spAutoFit/>
          </a:bodyPr>
          <a:lstStyle/>
          <a:p>
            <a:pPr algn="l">
              <a:lnSpc>
                <a:spcPct val="100000"/>
              </a:lnSpc>
            </a:pPr>
            <a:r>
              <a:rPr sz="750" b="0" spc="150">
                <a:solidFill>
                  <a:srgbClr val="5D6675"/>
                </a:solidFill>
                <a:latin typeface="Inter Medium"/>
              </a:rPr>
              <a:t>INPUT</a:t>
            </a:r>
          </a:p>
        </p:txBody>
      </p:sp>
      <p:sp>
        <p:nvSpPr>
          <p:cNvPr id="45" name="TextBox 44"/>
          <p:cNvSpPr txBox="1"/>
          <p:nvPr/>
        </p:nvSpPr>
        <p:spPr>
          <a:xfrm>
            <a:off x="7379208" y="2651760"/>
            <a:ext cx="1572768" cy="384048"/>
          </a:xfrm>
          <a:prstGeom prst="rect">
            <a:avLst/>
          </a:prstGeom>
          <a:noFill/>
        </p:spPr>
        <p:txBody>
          <a:bodyPr wrap="square" anchor="t" lIns="18288" rIns="18288" tIns="9144" bIns="9144">
            <a:spAutoFit/>
          </a:bodyPr>
          <a:lstStyle/>
          <a:p>
            <a:pPr algn="l">
              <a:lnSpc>
                <a:spcPct val="100000"/>
              </a:lnSpc>
            </a:pPr>
            <a:r>
              <a:rPr sz="950" b="0">
                <a:solidFill>
                  <a:srgbClr val="121826"/>
                </a:solidFill>
                <a:latin typeface="Inter"/>
              </a:rPr>
              <a:t>Field label + metadata</a:t>
            </a:r>
          </a:p>
        </p:txBody>
      </p:sp>
      <p:sp>
        <p:nvSpPr>
          <p:cNvPr id="46" name="TextBox 45"/>
          <p:cNvSpPr txBox="1"/>
          <p:nvPr/>
        </p:nvSpPr>
        <p:spPr>
          <a:xfrm>
            <a:off x="6720840" y="3054096"/>
            <a:ext cx="658368" cy="329184"/>
          </a:xfrm>
          <a:prstGeom prst="rect">
            <a:avLst/>
          </a:prstGeom>
          <a:noFill/>
        </p:spPr>
        <p:txBody>
          <a:bodyPr wrap="square" anchor="t" lIns="18288" rIns="18288" tIns="9144" bIns="9144">
            <a:spAutoFit/>
          </a:bodyPr>
          <a:lstStyle/>
          <a:p>
            <a:pPr algn="l">
              <a:lnSpc>
                <a:spcPct val="100000"/>
              </a:lnSpc>
            </a:pPr>
            <a:r>
              <a:rPr sz="750" b="0" spc="150">
                <a:solidFill>
                  <a:srgbClr val="5D6675"/>
                </a:solidFill>
                <a:latin typeface="Inter Medium"/>
              </a:rPr>
              <a:t>OUTPUT</a:t>
            </a:r>
          </a:p>
        </p:txBody>
      </p:sp>
      <p:sp>
        <p:nvSpPr>
          <p:cNvPr id="47" name="TextBox 46"/>
          <p:cNvSpPr txBox="1"/>
          <p:nvPr/>
        </p:nvSpPr>
        <p:spPr>
          <a:xfrm>
            <a:off x="7379208" y="3035808"/>
            <a:ext cx="1572768" cy="384048"/>
          </a:xfrm>
          <a:prstGeom prst="rect">
            <a:avLst/>
          </a:prstGeom>
          <a:noFill/>
        </p:spPr>
        <p:txBody>
          <a:bodyPr wrap="square" anchor="t" lIns="18288" rIns="18288" tIns="9144" bIns="9144">
            <a:spAutoFit/>
          </a:bodyPr>
          <a:lstStyle/>
          <a:p>
            <a:pPr algn="l">
              <a:lnSpc>
                <a:spcPct val="100000"/>
              </a:lnSpc>
            </a:pPr>
            <a:r>
              <a:rPr sz="950" b="0">
                <a:solidFill>
                  <a:srgbClr val="121826"/>
                </a:solidFill>
                <a:latin typeface="Inter"/>
              </a:rPr>
              <a:t>384-d vector · cosine score</a:t>
            </a:r>
          </a:p>
        </p:txBody>
      </p:sp>
      <p:sp>
        <p:nvSpPr>
          <p:cNvPr id="48" name="Rounded Rectangle 47"/>
          <p:cNvSpPr/>
          <p:nvPr/>
        </p:nvSpPr>
        <p:spPr>
          <a:xfrm>
            <a:off x="9208008" y="1371600"/>
            <a:ext cx="2487168" cy="2084831"/>
          </a:xfrm>
          <a:prstGeom prst="roundRect">
            <a:avLst>
              <a:gd name="adj" fmla="val 8000"/>
            </a:avLst>
          </a:prstGeom>
          <a:solidFill>
            <a:srgbClr val="FFFFFF"/>
          </a:solidFill>
          <a:ln w="9525">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9390888" y="1536192"/>
            <a:ext cx="365760" cy="365760"/>
          </a:xfrm>
          <a:prstGeom prst="roundRect">
            <a:avLst>
              <a:gd name="adj" fmla="val 30000"/>
            </a:avLst>
          </a:prstGeom>
          <a:solidFill>
            <a:srgbClr val="4338CA">
              <a:alpha val="16000"/>
            </a:srgbClr>
          </a:solidFill>
          <a:ln w="9525">
            <a:solidFill>
              <a:srgbClr val="4338CA">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Diamond 49"/>
          <p:cNvSpPr/>
          <p:nvPr/>
        </p:nvSpPr>
        <p:spPr>
          <a:xfrm>
            <a:off x="9485985" y="1631289"/>
            <a:ext cx="175564" cy="175564"/>
          </a:xfrm>
          <a:prstGeom prst="diamond">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866376" y="1554480"/>
            <a:ext cx="1783080" cy="201168"/>
          </a:xfrm>
          <a:prstGeom prst="rect">
            <a:avLst/>
          </a:prstGeom>
          <a:noFill/>
        </p:spPr>
        <p:txBody>
          <a:bodyPr wrap="square" anchor="t" lIns="18288" rIns="18288" tIns="9144" bIns="9144">
            <a:spAutoFit/>
          </a:bodyPr>
          <a:lstStyle/>
          <a:p>
            <a:pPr algn="l">
              <a:lnSpc>
                <a:spcPct val="100000"/>
              </a:lnSpc>
            </a:pPr>
            <a:r>
              <a:rPr sz="800" b="0" spc="200">
                <a:solidFill>
                  <a:srgbClr val="5D6675"/>
                </a:solidFill>
                <a:latin typeface="Inter Medium"/>
              </a:rPr>
              <a:t>FORM UNDERSTANDING</a:t>
            </a:r>
          </a:p>
        </p:txBody>
      </p:sp>
      <p:sp>
        <p:nvSpPr>
          <p:cNvPr id="52" name="TextBox 51"/>
          <p:cNvSpPr txBox="1"/>
          <p:nvPr/>
        </p:nvSpPr>
        <p:spPr>
          <a:xfrm>
            <a:off x="9866376" y="1755648"/>
            <a:ext cx="1783080" cy="274320"/>
          </a:xfrm>
          <a:prstGeom prst="rect">
            <a:avLst/>
          </a:prstGeom>
          <a:noFill/>
        </p:spPr>
        <p:txBody>
          <a:bodyPr wrap="square" anchor="t" lIns="18288" rIns="18288" tIns="9144" bIns="9144">
            <a:spAutoFit/>
          </a:bodyPr>
          <a:lstStyle/>
          <a:p>
            <a:pPr algn="l">
              <a:lnSpc>
                <a:spcPct val="100000"/>
              </a:lnSpc>
            </a:pPr>
            <a:r>
              <a:rPr sz="1300" b="1">
                <a:solidFill>
                  <a:srgbClr val="4338CA"/>
                </a:solidFill>
                <a:latin typeface="Poppins SemiBold"/>
              </a:rPr>
              <a:t>DeBERTa-v3</a:t>
            </a:r>
          </a:p>
        </p:txBody>
      </p:sp>
      <p:cxnSp>
        <p:nvCxnSpPr>
          <p:cNvPr id="53" name="Connector 52"/>
          <p:cNvCxnSpPr/>
          <p:nvPr/>
        </p:nvCxnSpPr>
        <p:spPr>
          <a:xfrm>
            <a:off x="9390888" y="2176272"/>
            <a:ext cx="2121408" cy="0"/>
          </a:xfrm>
          <a:prstGeom prst="line">
            <a:avLst/>
          </a:prstGeom>
          <a:ln w="6350">
            <a:solidFill>
              <a:srgbClr val="E3E7EE">
                <a:alpha val="90000"/>
              </a:srgbClr>
            </a:solidFill>
          </a:ln>
          <a:effectLst/>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9390888" y="2286000"/>
            <a:ext cx="658368" cy="329184"/>
          </a:xfrm>
          <a:prstGeom prst="rect">
            <a:avLst/>
          </a:prstGeom>
          <a:noFill/>
        </p:spPr>
        <p:txBody>
          <a:bodyPr wrap="square" anchor="t" lIns="18288" rIns="18288" tIns="9144" bIns="9144">
            <a:spAutoFit/>
          </a:bodyPr>
          <a:lstStyle/>
          <a:p>
            <a:pPr algn="l">
              <a:lnSpc>
                <a:spcPct val="100000"/>
              </a:lnSpc>
            </a:pPr>
            <a:r>
              <a:rPr sz="750" b="0" spc="150">
                <a:solidFill>
                  <a:srgbClr val="5D6675"/>
                </a:solidFill>
                <a:latin typeface="Inter Medium"/>
              </a:rPr>
              <a:t>PURPOSE</a:t>
            </a:r>
          </a:p>
        </p:txBody>
      </p:sp>
      <p:sp>
        <p:nvSpPr>
          <p:cNvPr id="55" name="TextBox 54"/>
          <p:cNvSpPr txBox="1"/>
          <p:nvPr/>
        </p:nvSpPr>
        <p:spPr>
          <a:xfrm>
            <a:off x="10049256" y="2267712"/>
            <a:ext cx="1572768" cy="384048"/>
          </a:xfrm>
          <a:prstGeom prst="rect">
            <a:avLst/>
          </a:prstGeom>
          <a:noFill/>
        </p:spPr>
        <p:txBody>
          <a:bodyPr wrap="square" anchor="t" lIns="18288" rIns="18288" tIns="9144" bIns="9144">
            <a:spAutoFit/>
          </a:bodyPr>
          <a:lstStyle/>
          <a:p>
            <a:pPr algn="l">
              <a:lnSpc>
                <a:spcPct val="100000"/>
              </a:lnSpc>
            </a:pPr>
            <a:r>
              <a:rPr sz="950" b="0">
                <a:solidFill>
                  <a:srgbClr val="121826"/>
                </a:solidFill>
                <a:latin typeface="Inter"/>
              </a:rPr>
              <a:t>Field intent classification</a:t>
            </a:r>
          </a:p>
        </p:txBody>
      </p:sp>
      <p:sp>
        <p:nvSpPr>
          <p:cNvPr id="56" name="TextBox 55"/>
          <p:cNvSpPr txBox="1"/>
          <p:nvPr/>
        </p:nvSpPr>
        <p:spPr>
          <a:xfrm>
            <a:off x="9390888" y="2670048"/>
            <a:ext cx="658368" cy="329184"/>
          </a:xfrm>
          <a:prstGeom prst="rect">
            <a:avLst/>
          </a:prstGeom>
          <a:noFill/>
        </p:spPr>
        <p:txBody>
          <a:bodyPr wrap="square" anchor="t" lIns="18288" rIns="18288" tIns="9144" bIns="9144">
            <a:spAutoFit/>
          </a:bodyPr>
          <a:lstStyle/>
          <a:p>
            <a:pPr algn="l">
              <a:lnSpc>
                <a:spcPct val="100000"/>
              </a:lnSpc>
            </a:pPr>
            <a:r>
              <a:rPr sz="750" b="0" spc="150">
                <a:solidFill>
                  <a:srgbClr val="5D6675"/>
                </a:solidFill>
                <a:latin typeface="Inter Medium"/>
              </a:rPr>
              <a:t>INPUT</a:t>
            </a:r>
          </a:p>
        </p:txBody>
      </p:sp>
      <p:sp>
        <p:nvSpPr>
          <p:cNvPr id="57" name="TextBox 56"/>
          <p:cNvSpPr txBox="1"/>
          <p:nvPr/>
        </p:nvSpPr>
        <p:spPr>
          <a:xfrm>
            <a:off x="10049256" y="2651760"/>
            <a:ext cx="1572768" cy="384048"/>
          </a:xfrm>
          <a:prstGeom prst="rect">
            <a:avLst/>
          </a:prstGeom>
          <a:noFill/>
        </p:spPr>
        <p:txBody>
          <a:bodyPr wrap="square" anchor="t" lIns="18288" rIns="18288" tIns="9144" bIns="9144">
            <a:spAutoFit/>
          </a:bodyPr>
          <a:lstStyle/>
          <a:p>
            <a:pPr algn="l">
              <a:lnSpc>
                <a:spcPct val="100000"/>
              </a:lnSpc>
            </a:pPr>
            <a:r>
              <a:rPr sz="950" b="0">
                <a:solidFill>
                  <a:srgbClr val="121826"/>
                </a:solidFill>
                <a:latin typeface="Inter"/>
              </a:rPr>
              <a:t>DOM context tokens</a:t>
            </a:r>
          </a:p>
        </p:txBody>
      </p:sp>
      <p:sp>
        <p:nvSpPr>
          <p:cNvPr id="58" name="TextBox 57"/>
          <p:cNvSpPr txBox="1"/>
          <p:nvPr/>
        </p:nvSpPr>
        <p:spPr>
          <a:xfrm>
            <a:off x="9390888" y="3054096"/>
            <a:ext cx="658368" cy="329184"/>
          </a:xfrm>
          <a:prstGeom prst="rect">
            <a:avLst/>
          </a:prstGeom>
          <a:noFill/>
        </p:spPr>
        <p:txBody>
          <a:bodyPr wrap="square" anchor="t" lIns="18288" rIns="18288" tIns="9144" bIns="9144">
            <a:spAutoFit/>
          </a:bodyPr>
          <a:lstStyle/>
          <a:p>
            <a:pPr algn="l">
              <a:lnSpc>
                <a:spcPct val="100000"/>
              </a:lnSpc>
            </a:pPr>
            <a:r>
              <a:rPr sz="750" b="0" spc="150">
                <a:solidFill>
                  <a:srgbClr val="5D6675"/>
                </a:solidFill>
                <a:latin typeface="Inter Medium"/>
              </a:rPr>
              <a:t>OUTPUT</a:t>
            </a:r>
          </a:p>
        </p:txBody>
      </p:sp>
      <p:sp>
        <p:nvSpPr>
          <p:cNvPr id="59" name="TextBox 58"/>
          <p:cNvSpPr txBox="1"/>
          <p:nvPr/>
        </p:nvSpPr>
        <p:spPr>
          <a:xfrm>
            <a:off x="10049256" y="3035808"/>
            <a:ext cx="1572768" cy="384048"/>
          </a:xfrm>
          <a:prstGeom prst="rect">
            <a:avLst/>
          </a:prstGeom>
          <a:noFill/>
        </p:spPr>
        <p:txBody>
          <a:bodyPr wrap="square" anchor="t" lIns="18288" rIns="18288" tIns="9144" bIns="9144">
            <a:spAutoFit/>
          </a:bodyPr>
          <a:lstStyle/>
          <a:p>
            <a:pPr algn="l">
              <a:lnSpc>
                <a:spcPct val="100000"/>
              </a:lnSpc>
            </a:pPr>
            <a:r>
              <a:rPr sz="950" b="0">
                <a:solidFill>
                  <a:srgbClr val="121826"/>
                </a:solidFill>
                <a:latin typeface="Inter"/>
              </a:rPr>
              <a:t>Ontology attribute class</a:t>
            </a:r>
          </a:p>
        </p:txBody>
      </p:sp>
      <p:sp>
        <p:nvSpPr>
          <p:cNvPr id="60" name="Rounded Rectangle 59"/>
          <p:cNvSpPr/>
          <p:nvPr/>
        </p:nvSpPr>
        <p:spPr>
          <a:xfrm>
            <a:off x="6537960" y="3611880"/>
            <a:ext cx="2487168" cy="2084831"/>
          </a:xfrm>
          <a:prstGeom prst="roundRect">
            <a:avLst>
              <a:gd name="adj" fmla="val 8000"/>
            </a:avLst>
          </a:prstGeom>
          <a:solidFill>
            <a:srgbClr val="FFFFFF"/>
          </a:solidFill>
          <a:ln w="9525">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6720840" y="3776472"/>
            <a:ext cx="365760" cy="365760"/>
          </a:xfrm>
          <a:prstGeom prst="roundRect">
            <a:avLst>
              <a:gd name="adj" fmla="val 30000"/>
            </a:avLst>
          </a:prstGeom>
          <a:solidFill>
            <a:srgbClr val="D97706">
              <a:alpha val="16000"/>
            </a:srgbClr>
          </a:solidFill>
          <a:ln w="9525">
            <a:solidFill>
              <a:srgbClr val="D97706">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Folded Corner 61"/>
          <p:cNvSpPr/>
          <p:nvPr/>
        </p:nvSpPr>
        <p:spPr>
          <a:xfrm>
            <a:off x="6815937" y="3871569"/>
            <a:ext cx="175564" cy="175564"/>
          </a:xfrm>
          <a:prstGeom prst="foldedCorner">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196328" y="3794760"/>
            <a:ext cx="1783080" cy="201168"/>
          </a:xfrm>
          <a:prstGeom prst="rect">
            <a:avLst/>
          </a:prstGeom>
          <a:noFill/>
        </p:spPr>
        <p:txBody>
          <a:bodyPr wrap="square" anchor="t" lIns="18288" rIns="18288" tIns="9144" bIns="9144">
            <a:spAutoFit/>
          </a:bodyPr>
          <a:lstStyle/>
          <a:p>
            <a:pPr algn="l">
              <a:lnSpc>
                <a:spcPct val="100000"/>
              </a:lnSpc>
            </a:pPr>
            <a:r>
              <a:rPr sz="800" b="0" spc="200">
                <a:solidFill>
                  <a:srgbClr val="5D6675"/>
                </a:solidFill>
                <a:latin typeface="Inter Medium"/>
              </a:rPr>
              <a:t>RESUME PARSER</a:t>
            </a:r>
          </a:p>
        </p:txBody>
      </p:sp>
      <p:sp>
        <p:nvSpPr>
          <p:cNvPr id="64" name="TextBox 63"/>
          <p:cNvSpPr txBox="1"/>
          <p:nvPr/>
        </p:nvSpPr>
        <p:spPr>
          <a:xfrm>
            <a:off x="7196328" y="3995928"/>
            <a:ext cx="1783080" cy="274320"/>
          </a:xfrm>
          <a:prstGeom prst="rect">
            <a:avLst/>
          </a:prstGeom>
          <a:noFill/>
        </p:spPr>
        <p:txBody>
          <a:bodyPr wrap="square" anchor="t" lIns="18288" rIns="18288" tIns="9144" bIns="9144">
            <a:spAutoFit/>
          </a:bodyPr>
          <a:lstStyle/>
          <a:p>
            <a:pPr algn="l">
              <a:lnSpc>
                <a:spcPct val="100000"/>
              </a:lnSpc>
            </a:pPr>
            <a:r>
              <a:rPr sz="1300" b="1">
                <a:solidFill>
                  <a:srgbClr val="4338CA"/>
                </a:solidFill>
                <a:latin typeface="Poppins SemiBold"/>
              </a:rPr>
              <a:t>LayoutLMv3</a:t>
            </a:r>
          </a:p>
        </p:txBody>
      </p:sp>
      <p:cxnSp>
        <p:nvCxnSpPr>
          <p:cNvPr id="65" name="Connector 64"/>
          <p:cNvCxnSpPr/>
          <p:nvPr/>
        </p:nvCxnSpPr>
        <p:spPr>
          <a:xfrm>
            <a:off x="6720840" y="4416552"/>
            <a:ext cx="2121408" cy="0"/>
          </a:xfrm>
          <a:prstGeom prst="line">
            <a:avLst/>
          </a:prstGeom>
          <a:ln w="6350">
            <a:solidFill>
              <a:srgbClr val="E3E7EE">
                <a:alpha val="90000"/>
              </a:srgbClr>
            </a:solidFill>
          </a:ln>
          <a:effectLst/>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6720840" y="4526280"/>
            <a:ext cx="658368" cy="329184"/>
          </a:xfrm>
          <a:prstGeom prst="rect">
            <a:avLst/>
          </a:prstGeom>
          <a:noFill/>
        </p:spPr>
        <p:txBody>
          <a:bodyPr wrap="square" anchor="t" lIns="18288" rIns="18288" tIns="9144" bIns="9144">
            <a:spAutoFit/>
          </a:bodyPr>
          <a:lstStyle/>
          <a:p>
            <a:pPr algn="l">
              <a:lnSpc>
                <a:spcPct val="100000"/>
              </a:lnSpc>
            </a:pPr>
            <a:r>
              <a:rPr sz="750" b="0" spc="150">
                <a:solidFill>
                  <a:srgbClr val="5D6675"/>
                </a:solidFill>
                <a:latin typeface="Inter Medium"/>
              </a:rPr>
              <a:t>PURPOSE</a:t>
            </a:r>
          </a:p>
        </p:txBody>
      </p:sp>
      <p:sp>
        <p:nvSpPr>
          <p:cNvPr id="67" name="TextBox 66"/>
          <p:cNvSpPr txBox="1"/>
          <p:nvPr/>
        </p:nvSpPr>
        <p:spPr>
          <a:xfrm>
            <a:off x="7379208" y="4507992"/>
            <a:ext cx="1572768" cy="384048"/>
          </a:xfrm>
          <a:prstGeom prst="rect">
            <a:avLst/>
          </a:prstGeom>
          <a:noFill/>
        </p:spPr>
        <p:txBody>
          <a:bodyPr wrap="square" anchor="t" lIns="18288" rIns="18288" tIns="9144" bIns="9144">
            <a:spAutoFit/>
          </a:bodyPr>
          <a:lstStyle/>
          <a:p>
            <a:pPr algn="l">
              <a:lnSpc>
                <a:spcPct val="100000"/>
              </a:lnSpc>
            </a:pPr>
            <a:r>
              <a:rPr sz="950" b="0">
                <a:solidFill>
                  <a:srgbClr val="121826"/>
                </a:solidFill>
                <a:latin typeface="Inter"/>
              </a:rPr>
              <a:t>Resume to structured profile</a:t>
            </a:r>
          </a:p>
        </p:txBody>
      </p:sp>
      <p:sp>
        <p:nvSpPr>
          <p:cNvPr id="68" name="TextBox 67"/>
          <p:cNvSpPr txBox="1"/>
          <p:nvPr/>
        </p:nvSpPr>
        <p:spPr>
          <a:xfrm>
            <a:off x="6720840" y="4910328"/>
            <a:ext cx="658368" cy="329184"/>
          </a:xfrm>
          <a:prstGeom prst="rect">
            <a:avLst/>
          </a:prstGeom>
          <a:noFill/>
        </p:spPr>
        <p:txBody>
          <a:bodyPr wrap="square" anchor="t" lIns="18288" rIns="18288" tIns="9144" bIns="9144">
            <a:spAutoFit/>
          </a:bodyPr>
          <a:lstStyle/>
          <a:p>
            <a:pPr algn="l">
              <a:lnSpc>
                <a:spcPct val="100000"/>
              </a:lnSpc>
            </a:pPr>
            <a:r>
              <a:rPr sz="750" b="0" spc="150">
                <a:solidFill>
                  <a:srgbClr val="5D6675"/>
                </a:solidFill>
                <a:latin typeface="Inter Medium"/>
              </a:rPr>
              <a:t>INPUT</a:t>
            </a:r>
          </a:p>
        </p:txBody>
      </p:sp>
      <p:sp>
        <p:nvSpPr>
          <p:cNvPr id="69" name="TextBox 68"/>
          <p:cNvSpPr txBox="1"/>
          <p:nvPr/>
        </p:nvSpPr>
        <p:spPr>
          <a:xfrm>
            <a:off x="7379208" y="4892040"/>
            <a:ext cx="1572768" cy="384048"/>
          </a:xfrm>
          <a:prstGeom prst="rect">
            <a:avLst/>
          </a:prstGeom>
          <a:noFill/>
        </p:spPr>
        <p:txBody>
          <a:bodyPr wrap="square" anchor="t" lIns="18288" rIns="18288" tIns="9144" bIns="9144">
            <a:spAutoFit/>
          </a:bodyPr>
          <a:lstStyle/>
          <a:p>
            <a:pPr algn="l">
              <a:lnSpc>
                <a:spcPct val="100000"/>
              </a:lnSpc>
            </a:pPr>
            <a:r>
              <a:rPr sz="950" b="0">
                <a:solidFill>
                  <a:srgbClr val="121826"/>
                </a:solidFill>
                <a:latin typeface="Inter"/>
              </a:rPr>
              <a:t>Resume PDF · text + layout</a:t>
            </a:r>
          </a:p>
        </p:txBody>
      </p:sp>
      <p:sp>
        <p:nvSpPr>
          <p:cNvPr id="70" name="TextBox 69"/>
          <p:cNvSpPr txBox="1"/>
          <p:nvPr/>
        </p:nvSpPr>
        <p:spPr>
          <a:xfrm>
            <a:off x="6720840" y="5294376"/>
            <a:ext cx="658368" cy="329184"/>
          </a:xfrm>
          <a:prstGeom prst="rect">
            <a:avLst/>
          </a:prstGeom>
          <a:noFill/>
        </p:spPr>
        <p:txBody>
          <a:bodyPr wrap="square" anchor="t" lIns="18288" rIns="18288" tIns="9144" bIns="9144">
            <a:spAutoFit/>
          </a:bodyPr>
          <a:lstStyle/>
          <a:p>
            <a:pPr algn="l">
              <a:lnSpc>
                <a:spcPct val="100000"/>
              </a:lnSpc>
            </a:pPr>
            <a:r>
              <a:rPr sz="750" b="0" spc="150">
                <a:solidFill>
                  <a:srgbClr val="5D6675"/>
                </a:solidFill>
                <a:latin typeface="Inter Medium"/>
              </a:rPr>
              <a:t>OUTPUT</a:t>
            </a:r>
          </a:p>
        </p:txBody>
      </p:sp>
      <p:sp>
        <p:nvSpPr>
          <p:cNvPr id="71" name="TextBox 70"/>
          <p:cNvSpPr txBox="1"/>
          <p:nvPr/>
        </p:nvSpPr>
        <p:spPr>
          <a:xfrm>
            <a:off x="7379208" y="5276088"/>
            <a:ext cx="1572768" cy="384048"/>
          </a:xfrm>
          <a:prstGeom prst="rect">
            <a:avLst/>
          </a:prstGeom>
          <a:noFill/>
        </p:spPr>
        <p:txBody>
          <a:bodyPr wrap="square" anchor="t" lIns="18288" rIns="18288" tIns="9144" bIns="9144">
            <a:spAutoFit/>
          </a:bodyPr>
          <a:lstStyle/>
          <a:p>
            <a:pPr algn="l">
              <a:lnSpc>
                <a:spcPct val="100000"/>
              </a:lnSpc>
            </a:pPr>
            <a:r>
              <a:rPr sz="950" b="0">
                <a:solidFill>
                  <a:srgbClr val="121826"/>
                </a:solidFill>
                <a:latin typeface="Inter"/>
              </a:rPr>
              <a:t>Profile entities as JSON</a:t>
            </a:r>
          </a:p>
        </p:txBody>
      </p:sp>
      <p:sp>
        <p:nvSpPr>
          <p:cNvPr id="72" name="Rounded Rectangle 71"/>
          <p:cNvSpPr/>
          <p:nvPr/>
        </p:nvSpPr>
        <p:spPr>
          <a:xfrm>
            <a:off x="9208008" y="3611880"/>
            <a:ext cx="2487168" cy="2084831"/>
          </a:xfrm>
          <a:prstGeom prst="roundRect">
            <a:avLst>
              <a:gd name="adj" fmla="val 8000"/>
            </a:avLst>
          </a:prstGeom>
          <a:solidFill>
            <a:srgbClr val="FFFFFF"/>
          </a:solidFill>
          <a:ln w="9525">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9390888" y="3776472"/>
            <a:ext cx="365760" cy="365760"/>
          </a:xfrm>
          <a:prstGeom prst="roundRect">
            <a:avLst>
              <a:gd name="adj" fmla="val 30000"/>
            </a:avLst>
          </a:prstGeom>
          <a:solidFill>
            <a:srgbClr val="059669">
              <a:alpha val="16000"/>
            </a:srgbClr>
          </a:solidFill>
          <a:ln w="9525">
            <a:solidFill>
              <a:srgbClr val="059669">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Isosceles Triangle 73"/>
          <p:cNvSpPr/>
          <p:nvPr/>
        </p:nvSpPr>
        <p:spPr>
          <a:xfrm>
            <a:off x="9485985" y="3871569"/>
            <a:ext cx="175564" cy="175564"/>
          </a:xfrm>
          <a:prstGeom prst="triangl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866376" y="3794760"/>
            <a:ext cx="1783080" cy="201168"/>
          </a:xfrm>
          <a:prstGeom prst="rect">
            <a:avLst/>
          </a:prstGeom>
          <a:noFill/>
        </p:spPr>
        <p:txBody>
          <a:bodyPr wrap="square" anchor="t" lIns="18288" rIns="18288" tIns="9144" bIns="9144">
            <a:spAutoFit/>
          </a:bodyPr>
          <a:lstStyle/>
          <a:p>
            <a:pPr algn="l">
              <a:lnSpc>
                <a:spcPct val="100000"/>
              </a:lnSpc>
            </a:pPr>
            <a:r>
              <a:rPr sz="800" b="0" spc="200">
                <a:solidFill>
                  <a:srgbClr val="5D6675"/>
                </a:solidFill>
                <a:latin typeface="Inter Medium"/>
              </a:rPr>
              <a:t>CONFIDENCE</a:t>
            </a:r>
          </a:p>
        </p:txBody>
      </p:sp>
      <p:sp>
        <p:nvSpPr>
          <p:cNvPr id="76" name="TextBox 75"/>
          <p:cNvSpPr txBox="1"/>
          <p:nvPr/>
        </p:nvSpPr>
        <p:spPr>
          <a:xfrm>
            <a:off x="9866376" y="3995928"/>
            <a:ext cx="1783080" cy="274320"/>
          </a:xfrm>
          <a:prstGeom prst="rect">
            <a:avLst/>
          </a:prstGeom>
          <a:noFill/>
        </p:spPr>
        <p:txBody>
          <a:bodyPr wrap="square" anchor="t" lIns="18288" rIns="18288" tIns="9144" bIns="9144">
            <a:spAutoFit/>
          </a:bodyPr>
          <a:lstStyle/>
          <a:p>
            <a:pPr algn="l">
              <a:lnSpc>
                <a:spcPct val="100000"/>
              </a:lnSpc>
            </a:pPr>
            <a:r>
              <a:rPr sz="1300" b="1">
                <a:solidFill>
                  <a:srgbClr val="4338CA"/>
                </a:solidFill>
                <a:latin typeface="Poppins SemiBold"/>
              </a:rPr>
              <a:t>LightGBM</a:t>
            </a:r>
          </a:p>
        </p:txBody>
      </p:sp>
      <p:cxnSp>
        <p:nvCxnSpPr>
          <p:cNvPr id="77" name="Connector 76"/>
          <p:cNvCxnSpPr/>
          <p:nvPr/>
        </p:nvCxnSpPr>
        <p:spPr>
          <a:xfrm>
            <a:off x="9390888" y="4416552"/>
            <a:ext cx="2121408" cy="0"/>
          </a:xfrm>
          <a:prstGeom prst="line">
            <a:avLst/>
          </a:prstGeom>
          <a:ln w="6350">
            <a:solidFill>
              <a:srgbClr val="E3E7EE">
                <a:alpha val="90000"/>
              </a:srgbClr>
            </a:solidFill>
          </a:ln>
          <a:effectLst/>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9390888" y="4526280"/>
            <a:ext cx="658368" cy="329184"/>
          </a:xfrm>
          <a:prstGeom prst="rect">
            <a:avLst/>
          </a:prstGeom>
          <a:noFill/>
        </p:spPr>
        <p:txBody>
          <a:bodyPr wrap="square" anchor="t" lIns="18288" rIns="18288" tIns="9144" bIns="9144">
            <a:spAutoFit/>
          </a:bodyPr>
          <a:lstStyle/>
          <a:p>
            <a:pPr algn="l">
              <a:lnSpc>
                <a:spcPct val="100000"/>
              </a:lnSpc>
            </a:pPr>
            <a:r>
              <a:rPr sz="750" b="0" spc="150">
                <a:solidFill>
                  <a:srgbClr val="5D6675"/>
                </a:solidFill>
                <a:latin typeface="Inter Medium"/>
              </a:rPr>
              <a:t>PURPOSE</a:t>
            </a:r>
          </a:p>
        </p:txBody>
      </p:sp>
      <p:sp>
        <p:nvSpPr>
          <p:cNvPr id="79" name="TextBox 78"/>
          <p:cNvSpPr txBox="1"/>
          <p:nvPr/>
        </p:nvSpPr>
        <p:spPr>
          <a:xfrm>
            <a:off x="10049256" y="4507992"/>
            <a:ext cx="1572768" cy="384048"/>
          </a:xfrm>
          <a:prstGeom prst="rect">
            <a:avLst/>
          </a:prstGeom>
          <a:noFill/>
        </p:spPr>
        <p:txBody>
          <a:bodyPr wrap="square" anchor="t" lIns="18288" rIns="18288" tIns="9144" bIns="9144">
            <a:spAutoFit/>
          </a:bodyPr>
          <a:lstStyle/>
          <a:p>
            <a:pPr algn="l">
              <a:lnSpc>
                <a:spcPct val="100000"/>
              </a:lnSpc>
            </a:pPr>
            <a:r>
              <a:rPr sz="950" b="0">
                <a:solidFill>
                  <a:srgbClr val="121826"/>
                </a:solidFill>
                <a:latin typeface="Inter"/>
              </a:rPr>
              <a:t>Fill / confirm / defer gating</a:t>
            </a:r>
          </a:p>
        </p:txBody>
      </p:sp>
      <p:sp>
        <p:nvSpPr>
          <p:cNvPr id="80" name="TextBox 79"/>
          <p:cNvSpPr txBox="1"/>
          <p:nvPr/>
        </p:nvSpPr>
        <p:spPr>
          <a:xfrm>
            <a:off x="9390888" y="4910328"/>
            <a:ext cx="658368" cy="329184"/>
          </a:xfrm>
          <a:prstGeom prst="rect">
            <a:avLst/>
          </a:prstGeom>
          <a:noFill/>
        </p:spPr>
        <p:txBody>
          <a:bodyPr wrap="square" anchor="t" lIns="18288" rIns="18288" tIns="9144" bIns="9144">
            <a:spAutoFit/>
          </a:bodyPr>
          <a:lstStyle/>
          <a:p>
            <a:pPr algn="l">
              <a:lnSpc>
                <a:spcPct val="100000"/>
              </a:lnSpc>
            </a:pPr>
            <a:r>
              <a:rPr sz="750" b="0" spc="150">
                <a:solidFill>
                  <a:srgbClr val="5D6675"/>
                </a:solidFill>
                <a:latin typeface="Inter Medium"/>
              </a:rPr>
              <a:t>INPUT</a:t>
            </a:r>
          </a:p>
        </p:txBody>
      </p:sp>
      <p:sp>
        <p:nvSpPr>
          <p:cNvPr id="81" name="TextBox 80"/>
          <p:cNvSpPr txBox="1"/>
          <p:nvPr/>
        </p:nvSpPr>
        <p:spPr>
          <a:xfrm>
            <a:off x="10049256" y="4892040"/>
            <a:ext cx="1572768" cy="384048"/>
          </a:xfrm>
          <a:prstGeom prst="rect">
            <a:avLst/>
          </a:prstGeom>
          <a:noFill/>
        </p:spPr>
        <p:txBody>
          <a:bodyPr wrap="square" anchor="t" lIns="18288" rIns="18288" tIns="9144" bIns="9144">
            <a:spAutoFit/>
          </a:bodyPr>
          <a:lstStyle/>
          <a:p>
            <a:pPr algn="l">
              <a:lnSpc>
                <a:spcPct val="100000"/>
              </a:lnSpc>
            </a:pPr>
            <a:r>
              <a:rPr sz="950" b="0">
                <a:solidFill>
                  <a:srgbClr val="121826"/>
                </a:solidFill>
                <a:latin typeface="Inter"/>
              </a:rPr>
              <a:t>Strategy score vector</a:t>
            </a:r>
          </a:p>
        </p:txBody>
      </p:sp>
      <p:sp>
        <p:nvSpPr>
          <p:cNvPr id="82" name="TextBox 81"/>
          <p:cNvSpPr txBox="1"/>
          <p:nvPr/>
        </p:nvSpPr>
        <p:spPr>
          <a:xfrm>
            <a:off x="9390888" y="5294376"/>
            <a:ext cx="658368" cy="329184"/>
          </a:xfrm>
          <a:prstGeom prst="rect">
            <a:avLst/>
          </a:prstGeom>
          <a:noFill/>
        </p:spPr>
        <p:txBody>
          <a:bodyPr wrap="square" anchor="t" lIns="18288" rIns="18288" tIns="9144" bIns="9144">
            <a:spAutoFit/>
          </a:bodyPr>
          <a:lstStyle/>
          <a:p>
            <a:pPr algn="l">
              <a:lnSpc>
                <a:spcPct val="100000"/>
              </a:lnSpc>
            </a:pPr>
            <a:r>
              <a:rPr sz="750" b="0" spc="150">
                <a:solidFill>
                  <a:srgbClr val="5D6675"/>
                </a:solidFill>
                <a:latin typeface="Inter Medium"/>
              </a:rPr>
              <a:t>OUTPUT</a:t>
            </a:r>
          </a:p>
        </p:txBody>
      </p:sp>
      <p:sp>
        <p:nvSpPr>
          <p:cNvPr id="83" name="TextBox 82"/>
          <p:cNvSpPr txBox="1"/>
          <p:nvPr/>
        </p:nvSpPr>
        <p:spPr>
          <a:xfrm>
            <a:off x="10049256" y="5276088"/>
            <a:ext cx="1572768" cy="384048"/>
          </a:xfrm>
          <a:prstGeom prst="rect">
            <a:avLst/>
          </a:prstGeom>
          <a:noFill/>
        </p:spPr>
        <p:txBody>
          <a:bodyPr wrap="square" anchor="t" lIns="18288" rIns="18288" tIns="9144" bIns="9144">
            <a:spAutoFit/>
          </a:bodyPr>
          <a:lstStyle/>
          <a:p>
            <a:pPr algn="l">
              <a:lnSpc>
                <a:spcPct val="100000"/>
              </a:lnSpc>
            </a:pPr>
            <a:r>
              <a:rPr sz="950" b="0">
                <a:solidFill>
                  <a:srgbClr val="121826"/>
                </a:solidFill>
                <a:latin typeface="Inter"/>
              </a:rPr>
              <a:t>Calibrated confidence 0–1</a:t>
            </a:r>
          </a:p>
        </p:txBody>
      </p:sp>
      <p:sp>
        <p:nvSpPr>
          <p:cNvPr id="84" name="Rounded Rectangle 83"/>
          <p:cNvSpPr/>
          <p:nvPr/>
        </p:nvSpPr>
        <p:spPr>
          <a:xfrm>
            <a:off x="2377440" y="6327648"/>
            <a:ext cx="7452360" cy="402336"/>
          </a:xfrm>
          <a:prstGeom prst="roundRect">
            <a:avLst>
              <a:gd name="adj" fmla="val 50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300" b="0">
                <a:solidFill>
                  <a:srgbClr val="121826"/>
                </a:solidFill>
                <a:latin typeface="Poppins SemiBold"/>
              </a:rPr>
              <a:t>Hybrid AI architecture combining semantic understanding with browser-assisted automation.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7FA"/>
        </a:solidFill>
        <a:effectLst/>
      </p:bgPr>
    </p:bg>
    <p:spTree>
      <p:nvGrpSpPr>
        <p:cNvPr id="1" name=""/>
        <p:cNvGrpSpPr/>
        <p:nvPr/>
      </p:nvGrpSpPr>
      <p:grpSpPr/>
      <p:sp>
        <p:nvSpPr>
          <p:cNvPr id="2" name="TextBox 1"/>
          <p:cNvSpPr txBox="1"/>
          <p:nvPr/>
        </p:nvSpPr>
        <p:spPr>
          <a:xfrm>
            <a:off x="841248" y="347472"/>
            <a:ext cx="7315200" cy="274320"/>
          </a:xfrm>
          <a:prstGeom prst="rect">
            <a:avLst/>
          </a:prstGeom>
          <a:noFill/>
        </p:spPr>
        <p:txBody>
          <a:bodyPr wrap="square" anchor="t" lIns="18288" rIns="18288" tIns="9144" bIns="9144">
            <a:spAutoFit/>
          </a:bodyPr>
          <a:lstStyle/>
          <a:p>
            <a:pPr algn="l">
              <a:lnSpc>
                <a:spcPct val="100000"/>
              </a:lnSpc>
            </a:pPr>
            <a:r>
              <a:rPr sz="1100" b="0" spc="300">
                <a:solidFill>
                  <a:srgbClr val="4338CA"/>
                </a:solidFill>
                <a:latin typeface="Inter Medium"/>
              </a:rPr>
              <a:t>AI ARCHITECTURE</a:t>
            </a:r>
          </a:p>
        </p:txBody>
      </p:sp>
      <p:sp>
        <p:nvSpPr>
          <p:cNvPr id="3" name="TextBox 2"/>
          <p:cNvSpPr txBox="1"/>
          <p:nvPr/>
        </p:nvSpPr>
        <p:spPr>
          <a:xfrm>
            <a:off x="822960" y="566928"/>
            <a:ext cx="10607040" cy="566928"/>
          </a:xfrm>
          <a:prstGeom prst="rect">
            <a:avLst/>
          </a:prstGeom>
          <a:noFill/>
        </p:spPr>
        <p:txBody>
          <a:bodyPr wrap="square" anchor="t" lIns="18288" rIns="18288" tIns="9144" bIns="9144">
            <a:spAutoFit/>
          </a:bodyPr>
          <a:lstStyle/>
          <a:p>
            <a:pPr algn="l">
              <a:lnSpc>
                <a:spcPct val="100000"/>
              </a:lnSpc>
            </a:pPr>
            <a:r>
              <a:rPr sz="3000" b="1">
                <a:solidFill>
                  <a:srgbClr val="121826"/>
                </a:solidFill>
                <a:latin typeface="Poppins ExtraBold"/>
              </a:rPr>
              <a:t>AI Architecture &amp; ML Pipeline</a:t>
            </a:r>
          </a:p>
        </p:txBody>
      </p:sp>
      <p:sp>
        <p:nvSpPr>
          <p:cNvPr id="4" name="Rounded Rectangle 3"/>
          <p:cNvSpPr/>
          <p:nvPr/>
        </p:nvSpPr>
        <p:spPr>
          <a:xfrm>
            <a:off x="841248" y="1133856"/>
            <a:ext cx="868680" cy="45720"/>
          </a:xfrm>
          <a:prstGeom prst="roundRect">
            <a:avLst>
              <a:gd name="adj" fmla="val 50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81360" y="6473952"/>
            <a:ext cx="1005840" cy="274320"/>
          </a:xfrm>
          <a:prstGeom prst="rect">
            <a:avLst/>
          </a:prstGeom>
          <a:noFill/>
        </p:spPr>
        <p:txBody>
          <a:bodyPr wrap="square" anchor="t" lIns="18288" rIns="18288" tIns="9144" bIns="9144">
            <a:spAutoFit/>
          </a:bodyPr>
          <a:lstStyle/>
          <a:p>
            <a:pPr algn="r">
              <a:lnSpc>
                <a:spcPct val="100000"/>
              </a:lnSpc>
            </a:pPr>
            <a:r>
              <a:rPr sz="1000" b="0">
                <a:solidFill>
                  <a:srgbClr val="5D6675"/>
                </a:solidFill>
                <a:latin typeface="Inter Medium"/>
              </a:rPr>
              <a:t>07 / 13</a:t>
            </a:r>
          </a:p>
        </p:txBody>
      </p:sp>
      <p:sp>
        <p:nvSpPr>
          <p:cNvPr id="6" name="TextBox 5"/>
          <p:cNvSpPr txBox="1"/>
          <p:nvPr/>
        </p:nvSpPr>
        <p:spPr>
          <a:xfrm>
            <a:off x="841248" y="6473952"/>
            <a:ext cx="4572000" cy="274320"/>
          </a:xfrm>
          <a:prstGeom prst="rect">
            <a:avLst/>
          </a:prstGeom>
          <a:noFill/>
        </p:spPr>
        <p:txBody>
          <a:bodyPr wrap="square" anchor="t" lIns="18288" rIns="18288" tIns="9144" bIns="9144">
            <a:spAutoFit/>
          </a:bodyPr>
          <a:lstStyle/>
          <a:p>
            <a:pPr algn="l">
              <a:lnSpc>
                <a:spcPct val="100000"/>
              </a:lnSpc>
            </a:pPr>
            <a:r>
              <a:rPr sz="950" b="0" spc="100">
                <a:solidFill>
                  <a:srgbClr val="5D6675"/>
                </a:solidFill>
                <a:latin typeface="Inter Medium"/>
              </a:rPr>
              <a:t>CareerHub · Semantic Professional Identity Framework</a:t>
            </a:r>
          </a:p>
        </p:txBody>
      </p:sp>
      <p:sp>
        <p:nvSpPr>
          <p:cNvPr id="7" name="Rounded Rectangle 6"/>
          <p:cNvSpPr/>
          <p:nvPr/>
        </p:nvSpPr>
        <p:spPr>
          <a:xfrm>
            <a:off x="822960" y="1389888"/>
            <a:ext cx="922629" cy="731520"/>
          </a:xfrm>
          <a:prstGeom prst="roundRect">
            <a:avLst>
              <a:gd name="adj" fmla="val 20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95000"/>
              </a:lnSpc>
            </a:pPr>
            <a:r>
              <a:rPr sz="800" b="0">
                <a:solidFill>
                  <a:srgbClr val="121826"/>
                </a:solidFill>
                <a:latin typeface="Inter Medium"/>
              </a:rPr>
              <a:t>Recruitment Website</a:t>
            </a:r>
          </a:p>
        </p:txBody>
      </p:sp>
      <p:sp>
        <p:nvSpPr>
          <p:cNvPr id="8" name="Isosceles Triangle 7"/>
          <p:cNvSpPr/>
          <p:nvPr/>
        </p:nvSpPr>
        <p:spPr>
          <a:xfrm rot="5400000">
            <a:off x="1768449" y="1700784"/>
            <a:ext cx="93268" cy="109728"/>
          </a:xfrm>
          <a:prstGeom prst="triangle">
            <a:avLst/>
          </a:prstGeom>
          <a:solidFill>
            <a:srgbClr val="4F46E5">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891893" y="1389888"/>
            <a:ext cx="922629" cy="731520"/>
          </a:xfrm>
          <a:prstGeom prst="roundRect">
            <a:avLst>
              <a:gd name="adj" fmla="val 20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95000"/>
              </a:lnSpc>
            </a:pPr>
            <a:r>
              <a:rPr sz="800" b="0">
                <a:solidFill>
                  <a:srgbClr val="121826"/>
                </a:solidFill>
                <a:latin typeface="Inter Medium"/>
              </a:rPr>
              <a:t>Browser Extension</a:t>
            </a:r>
          </a:p>
        </p:txBody>
      </p:sp>
      <p:sp>
        <p:nvSpPr>
          <p:cNvPr id="10" name="Isosceles Triangle 9"/>
          <p:cNvSpPr/>
          <p:nvPr/>
        </p:nvSpPr>
        <p:spPr>
          <a:xfrm rot="5400000">
            <a:off x="2837383" y="1700784"/>
            <a:ext cx="93268" cy="109728"/>
          </a:xfrm>
          <a:prstGeom prst="triangle">
            <a:avLst/>
          </a:prstGeom>
          <a:solidFill>
            <a:srgbClr val="4F46E5">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960827" y="1389888"/>
            <a:ext cx="922629" cy="731520"/>
          </a:xfrm>
          <a:prstGeom prst="roundRect">
            <a:avLst>
              <a:gd name="adj" fmla="val 20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95000"/>
              </a:lnSpc>
            </a:pPr>
            <a:r>
              <a:rPr sz="800" b="0">
                <a:solidFill>
                  <a:srgbClr val="121826"/>
                </a:solidFill>
                <a:latin typeface="Inter Medium"/>
              </a:rPr>
              <a:t>DOM Extraction</a:t>
            </a:r>
          </a:p>
        </p:txBody>
      </p:sp>
      <p:sp>
        <p:nvSpPr>
          <p:cNvPr id="12" name="Isosceles Triangle 11"/>
          <p:cNvSpPr/>
          <p:nvPr/>
        </p:nvSpPr>
        <p:spPr>
          <a:xfrm rot="5400000">
            <a:off x="3906316" y="1700784"/>
            <a:ext cx="93268" cy="109728"/>
          </a:xfrm>
          <a:prstGeom prst="triangle">
            <a:avLst/>
          </a:prstGeom>
          <a:solidFill>
            <a:srgbClr val="4F46E5">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029760" y="1389888"/>
            <a:ext cx="922629" cy="731520"/>
          </a:xfrm>
          <a:prstGeom prst="roundRect">
            <a:avLst>
              <a:gd name="adj" fmla="val 20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95000"/>
              </a:lnSpc>
            </a:pPr>
            <a:r>
              <a:rPr sz="800" b="0">
                <a:solidFill>
                  <a:srgbClr val="121826"/>
                </a:solidFill>
                <a:latin typeface="Inter Medium"/>
              </a:rPr>
              <a:t>Metadata Extraction</a:t>
            </a:r>
          </a:p>
        </p:txBody>
      </p:sp>
      <p:sp>
        <p:nvSpPr>
          <p:cNvPr id="14" name="Isosceles Triangle 13"/>
          <p:cNvSpPr/>
          <p:nvPr/>
        </p:nvSpPr>
        <p:spPr>
          <a:xfrm rot="5400000">
            <a:off x="4975250" y="1700784"/>
            <a:ext cx="93268" cy="109728"/>
          </a:xfrm>
          <a:prstGeom prst="triangle">
            <a:avLst/>
          </a:prstGeom>
          <a:solidFill>
            <a:srgbClr val="4F46E5">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98694" y="1389888"/>
            <a:ext cx="922629" cy="731520"/>
          </a:xfrm>
          <a:prstGeom prst="roundRect">
            <a:avLst>
              <a:gd name="adj" fmla="val 20000"/>
            </a:avLst>
          </a:prstGeom>
          <a:solidFill>
            <a:srgbClr val="4F46E5">
              <a:alpha val="16000"/>
            </a:srgbClr>
          </a:solidFill>
          <a:ln w="12700">
            <a:solidFill>
              <a:srgbClr val="4F46E5">
                <a:alpha val="6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95000"/>
              </a:lnSpc>
            </a:pPr>
            <a:r>
              <a:rPr sz="800" b="0">
                <a:solidFill>
                  <a:srgbClr val="4338CA"/>
                </a:solidFill>
                <a:latin typeface="Inter Medium"/>
              </a:rPr>
              <a:t>Sentence Embedding</a:t>
            </a:r>
          </a:p>
        </p:txBody>
      </p:sp>
      <p:sp>
        <p:nvSpPr>
          <p:cNvPr id="16" name="Isosceles Triangle 15"/>
          <p:cNvSpPr/>
          <p:nvPr/>
        </p:nvSpPr>
        <p:spPr>
          <a:xfrm rot="5400000">
            <a:off x="6044183" y="1700784"/>
            <a:ext cx="93268" cy="109728"/>
          </a:xfrm>
          <a:prstGeom prst="triangle">
            <a:avLst/>
          </a:prstGeom>
          <a:solidFill>
            <a:srgbClr val="4F46E5">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167627" y="1389888"/>
            <a:ext cx="922629" cy="731520"/>
          </a:xfrm>
          <a:prstGeom prst="roundRect">
            <a:avLst>
              <a:gd name="adj" fmla="val 20000"/>
            </a:avLst>
          </a:prstGeom>
          <a:solidFill>
            <a:srgbClr val="4F46E5">
              <a:alpha val="16000"/>
            </a:srgbClr>
          </a:solidFill>
          <a:ln w="12700">
            <a:solidFill>
              <a:srgbClr val="4F46E5">
                <a:alpha val="6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95000"/>
              </a:lnSpc>
            </a:pPr>
            <a:r>
              <a:rPr sz="800" b="0">
                <a:solidFill>
                  <a:srgbClr val="4338CA"/>
                </a:solidFill>
                <a:latin typeface="Inter Medium"/>
              </a:rPr>
              <a:t>Semantic Field Classification</a:t>
            </a:r>
          </a:p>
        </p:txBody>
      </p:sp>
      <p:sp>
        <p:nvSpPr>
          <p:cNvPr id="18" name="Isosceles Triangle 17"/>
          <p:cNvSpPr/>
          <p:nvPr/>
        </p:nvSpPr>
        <p:spPr>
          <a:xfrm rot="5400000">
            <a:off x="7113117" y="1700784"/>
            <a:ext cx="93268" cy="109728"/>
          </a:xfrm>
          <a:prstGeom prst="triangle">
            <a:avLst/>
          </a:prstGeom>
          <a:solidFill>
            <a:srgbClr val="4F46E5">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236561" y="1389888"/>
            <a:ext cx="922629" cy="731520"/>
          </a:xfrm>
          <a:prstGeom prst="roundRect">
            <a:avLst>
              <a:gd name="adj" fmla="val 20000"/>
            </a:avLst>
          </a:prstGeom>
          <a:solidFill>
            <a:srgbClr val="4F46E5">
              <a:alpha val="16000"/>
            </a:srgbClr>
          </a:solidFill>
          <a:ln w="12700">
            <a:solidFill>
              <a:srgbClr val="4F46E5">
                <a:alpha val="6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95000"/>
              </a:lnSpc>
            </a:pPr>
            <a:r>
              <a:rPr sz="800" b="0">
                <a:solidFill>
                  <a:srgbClr val="4338CA"/>
                </a:solidFill>
                <a:latin typeface="Inter Medium"/>
              </a:rPr>
              <a:t>Confidence Ranking</a:t>
            </a:r>
          </a:p>
        </p:txBody>
      </p:sp>
      <p:sp>
        <p:nvSpPr>
          <p:cNvPr id="20" name="Isosceles Triangle 19"/>
          <p:cNvSpPr/>
          <p:nvPr/>
        </p:nvSpPr>
        <p:spPr>
          <a:xfrm rot="5400000">
            <a:off x="8182051" y="1700784"/>
            <a:ext cx="93268" cy="109728"/>
          </a:xfrm>
          <a:prstGeom prst="triangle">
            <a:avLst/>
          </a:prstGeom>
          <a:solidFill>
            <a:srgbClr val="4F46E5">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305495" y="1389888"/>
            <a:ext cx="922629" cy="731520"/>
          </a:xfrm>
          <a:prstGeom prst="roundRect">
            <a:avLst>
              <a:gd name="adj" fmla="val 20000"/>
            </a:avLst>
          </a:prstGeom>
          <a:solidFill>
            <a:srgbClr val="4F46E5">
              <a:alpha val="16000"/>
            </a:srgbClr>
          </a:solidFill>
          <a:ln w="12700">
            <a:solidFill>
              <a:srgbClr val="4F46E5">
                <a:alpha val="6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95000"/>
              </a:lnSpc>
            </a:pPr>
            <a:r>
              <a:rPr sz="800" b="0">
                <a:solidFill>
                  <a:srgbClr val="4338CA"/>
                </a:solidFill>
                <a:latin typeface="Inter Medium"/>
              </a:rPr>
              <a:t>Professional Profile Mapping</a:t>
            </a:r>
          </a:p>
        </p:txBody>
      </p:sp>
      <p:sp>
        <p:nvSpPr>
          <p:cNvPr id="22" name="Isosceles Triangle 21"/>
          <p:cNvSpPr/>
          <p:nvPr/>
        </p:nvSpPr>
        <p:spPr>
          <a:xfrm rot="5400000">
            <a:off x="9250984" y="1700784"/>
            <a:ext cx="93268" cy="109728"/>
          </a:xfrm>
          <a:prstGeom prst="triangle">
            <a:avLst/>
          </a:prstGeom>
          <a:solidFill>
            <a:srgbClr val="4F46E5">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374428" y="1389888"/>
            <a:ext cx="922629" cy="731520"/>
          </a:xfrm>
          <a:prstGeom prst="roundRect">
            <a:avLst>
              <a:gd name="adj" fmla="val 20000"/>
            </a:avLst>
          </a:prstGeom>
          <a:solidFill>
            <a:srgbClr val="059669">
              <a:alpha val="12000"/>
            </a:srgbClr>
          </a:solidFill>
          <a:ln w="12700">
            <a:solidFill>
              <a:srgbClr val="059669">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95000"/>
              </a:lnSpc>
            </a:pPr>
            <a:r>
              <a:rPr sz="800" b="0">
                <a:solidFill>
                  <a:srgbClr val="047857"/>
                </a:solidFill>
                <a:latin typeface="Inter Medium"/>
              </a:rPr>
              <a:t>User Confirmation</a:t>
            </a:r>
          </a:p>
        </p:txBody>
      </p:sp>
      <p:sp>
        <p:nvSpPr>
          <p:cNvPr id="24" name="Isosceles Triangle 23"/>
          <p:cNvSpPr/>
          <p:nvPr/>
        </p:nvSpPr>
        <p:spPr>
          <a:xfrm rot="5400000">
            <a:off x="10319918" y="1700784"/>
            <a:ext cx="93268" cy="109728"/>
          </a:xfrm>
          <a:prstGeom prst="triangle">
            <a:avLst/>
          </a:prstGeom>
          <a:solidFill>
            <a:srgbClr val="4F46E5">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0443362" y="1389888"/>
            <a:ext cx="922629" cy="731520"/>
          </a:xfrm>
          <a:prstGeom prst="roundRect">
            <a:avLst>
              <a:gd name="adj" fmla="val 20000"/>
            </a:avLst>
          </a:prstGeom>
          <a:solidFill>
            <a:srgbClr val="059669">
              <a:alpha val="12000"/>
            </a:srgbClr>
          </a:solidFill>
          <a:ln w="12700">
            <a:solidFill>
              <a:srgbClr val="059669">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95000"/>
              </a:lnSpc>
            </a:pPr>
            <a:r>
              <a:rPr sz="800" b="0">
                <a:solidFill>
                  <a:srgbClr val="047857"/>
                </a:solidFill>
                <a:latin typeface="Inter Medium"/>
              </a:rPr>
              <a:t>Autofill</a:t>
            </a:r>
          </a:p>
        </p:txBody>
      </p:sp>
      <p:sp>
        <p:nvSpPr>
          <p:cNvPr id="26" name="Rounded Rectangle 25"/>
          <p:cNvSpPr/>
          <p:nvPr/>
        </p:nvSpPr>
        <p:spPr>
          <a:xfrm>
            <a:off x="822960" y="2487168"/>
            <a:ext cx="2121408" cy="2212848"/>
          </a:xfrm>
          <a:prstGeom prst="roundRect">
            <a:avLst>
              <a:gd name="adj" fmla="val 9000"/>
            </a:avLst>
          </a:prstGeom>
          <a:solidFill>
            <a:srgbClr val="FFFFFF"/>
          </a:solidFill>
          <a:ln w="9525">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87552" y="2651760"/>
            <a:ext cx="365760" cy="365760"/>
          </a:xfrm>
          <a:prstGeom prst="roundRect">
            <a:avLst>
              <a:gd name="adj" fmla="val 30000"/>
            </a:avLst>
          </a:prstGeom>
          <a:solidFill>
            <a:srgbClr val="4F46E5">
              <a:alpha val="16000"/>
            </a:srgbClr>
          </a:solidFill>
          <a:ln w="9525">
            <a:solidFill>
              <a:srgbClr val="4F46E5">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Hexagon 27"/>
          <p:cNvSpPr/>
          <p:nvPr/>
        </p:nvSpPr>
        <p:spPr>
          <a:xfrm>
            <a:off x="1082649" y="2746857"/>
            <a:ext cx="175564" cy="175564"/>
          </a:xfrm>
          <a:prstGeom prst="hexagon">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444752" y="2670048"/>
            <a:ext cx="1417320" cy="182880"/>
          </a:xfrm>
          <a:prstGeom prst="rect">
            <a:avLst/>
          </a:prstGeom>
          <a:noFill/>
        </p:spPr>
        <p:txBody>
          <a:bodyPr wrap="square" anchor="t" lIns="18288" rIns="18288" tIns="9144" bIns="9144">
            <a:spAutoFit/>
          </a:bodyPr>
          <a:lstStyle/>
          <a:p>
            <a:pPr algn="l">
              <a:lnSpc>
                <a:spcPct val="100000"/>
              </a:lnSpc>
            </a:pPr>
            <a:r>
              <a:rPr sz="750" b="0" spc="150">
                <a:solidFill>
                  <a:srgbClr val="5D6675"/>
                </a:solidFill>
                <a:latin typeface="Inter Medium"/>
              </a:rPr>
              <a:t>SENTENCE EMBEDDING</a:t>
            </a:r>
          </a:p>
        </p:txBody>
      </p:sp>
      <p:sp>
        <p:nvSpPr>
          <p:cNvPr id="30" name="TextBox 29"/>
          <p:cNvSpPr txBox="1"/>
          <p:nvPr/>
        </p:nvSpPr>
        <p:spPr>
          <a:xfrm>
            <a:off x="1444752" y="2852928"/>
            <a:ext cx="1463040" cy="256032"/>
          </a:xfrm>
          <a:prstGeom prst="rect">
            <a:avLst/>
          </a:prstGeom>
          <a:noFill/>
        </p:spPr>
        <p:txBody>
          <a:bodyPr wrap="square" anchor="t" lIns="18288" rIns="18288" tIns="9144" bIns="9144">
            <a:spAutoFit/>
          </a:bodyPr>
          <a:lstStyle/>
          <a:p>
            <a:pPr algn="l">
              <a:lnSpc>
                <a:spcPct val="100000"/>
              </a:lnSpc>
            </a:pPr>
            <a:r>
              <a:rPr sz="1200" b="1">
                <a:solidFill>
                  <a:srgbClr val="4338CA"/>
                </a:solidFill>
                <a:latin typeface="Poppins SemiBold"/>
              </a:rPr>
              <a:t>all-MiniLM-L6-v2</a:t>
            </a:r>
          </a:p>
        </p:txBody>
      </p:sp>
      <p:cxnSp>
        <p:nvCxnSpPr>
          <p:cNvPr id="31" name="Connector 30"/>
          <p:cNvCxnSpPr/>
          <p:nvPr/>
        </p:nvCxnSpPr>
        <p:spPr>
          <a:xfrm>
            <a:off x="987552" y="3273552"/>
            <a:ext cx="1792224" cy="0"/>
          </a:xfrm>
          <a:prstGeom prst="line">
            <a:avLst/>
          </a:prstGeom>
          <a:ln w="6350">
            <a:solidFill>
              <a:srgbClr val="E3E7EE">
                <a:alpha val="90000"/>
              </a:srgbClr>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87552" y="3383280"/>
            <a:ext cx="1792224" cy="182880"/>
          </a:xfrm>
          <a:prstGeom prst="rect">
            <a:avLst/>
          </a:prstGeom>
          <a:noFill/>
        </p:spPr>
        <p:txBody>
          <a:bodyPr wrap="square" anchor="t" lIns="18288" rIns="18288" tIns="9144" bIns="9144">
            <a:spAutoFit/>
          </a:bodyPr>
          <a:lstStyle/>
          <a:p>
            <a:pPr algn="l">
              <a:lnSpc>
                <a:spcPct val="100000"/>
              </a:lnSpc>
            </a:pPr>
            <a:r>
              <a:rPr sz="750" b="0" spc="200">
                <a:solidFill>
                  <a:srgbClr val="5D6675"/>
                </a:solidFill>
                <a:latin typeface="Inter Medium"/>
              </a:rPr>
              <a:t>PURPOSE</a:t>
            </a:r>
          </a:p>
        </p:txBody>
      </p:sp>
      <p:sp>
        <p:nvSpPr>
          <p:cNvPr id="33" name="TextBox 32"/>
          <p:cNvSpPr txBox="1"/>
          <p:nvPr/>
        </p:nvSpPr>
        <p:spPr>
          <a:xfrm>
            <a:off x="987552" y="3584448"/>
            <a:ext cx="1810512" cy="1005840"/>
          </a:xfrm>
          <a:prstGeom prst="rect">
            <a:avLst/>
          </a:prstGeom>
          <a:noFill/>
        </p:spPr>
        <p:txBody>
          <a:bodyPr wrap="square" anchor="t" lIns="18288" rIns="18288" tIns="9144" bIns="9144">
            <a:spAutoFit/>
          </a:bodyPr>
          <a:lstStyle/>
          <a:p>
            <a:pPr algn="l">
              <a:lnSpc>
                <a:spcPct val="110000"/>
              </a:lnSpc>
            </a:pPr>
            <a:r>
              <a:rPr sz="950" b="0">
                <a:solidFill>
                  <a:srgbClr val="121826"/>
                </a:solidFill>
                <a:latin typeface="Inter"/>
              </a:rPr>
              <a:t>Semantic similarity between HTML fields and profile attributes.</a:t>
            </a:r>
          </a:p>
        </p:txBody>
      </p:sp>
      <p:sp>
        <p:nvSpPr>
          <p:cNvPr id="34" name="Rounded Rectangle 33"/>
          <p:cNvSpPr/>
          <p:nvPr/>
        </p:nvSpPr>
        <p:spPr>
          <a:xfrm>
            <a:off x="3076956" y="2487168"/>
            <a:ext cx="2121408" cy="2212848"/>
          </a:xfrm>
          <a:prstGeom prst="roundRect">
            <a:avLst>
              <a:gd name="adj" fmla="val 9000"/>
            </a:avLst>
          </a:prstGeom>
          <a:solidFill>
            <a:srgbClr val="FFFFFF"/>
          </a:solidFill>
          <a:ln w="9525">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3241548" y="2651760"/>
            <a:ext cx="365760" cy="365760"/>
          </a:xfrm>
          <a:prstGeom prst="roundRect">
            <a:avLst>
              <a:gd name="adj" fmla="val 30000"/>
            </a:avLst>
          </a:prstGeom>
          <a:solidFill>
            <a:srgbClr val="4338CA">
              <a:alpha val="16000"/>
            </a:srgbClr>
          </a:solidFill>
          <a:ln w="9525">
            <a:solidFill>
              <a:srgbClr val="4338CA">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Diamond 35"/>
          <p:cNvSpPr/>
          <p:nvPr/>
        </p:nvSpPr>
        <p:spPr>
          <a:xfrm>
            <a:off x="3336645" y="2746857"/>
            <a:ext cx="175564" cy="175564"/>
          </a:xfrm>
          <a:prstGeom prst="diamond">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98748" y="2670048"/>
            <a:ext cx="1417320" cy="182880"/>
          </a:xfrm>
          <a:prstGeom prst="rect">
            <a:avLst/>
          </a:prstGeom>
          <a:noFill/>
        </p:spPr>
        <p:txBody>
          <a:bodyPr wrap="square" anchor="t" lIns="18288" rIns="18288" tIns="9144" bIns="9144">
            <a:spAutoFit/>
          </a:bodyPr>
          <a:lstStyle/>
          <a:p>
            <a:pPr algn="l">
              <a:lnSpc>
                <a:spcPct val="100000"/>
              </a:lnSpc>
            </a:pPr>
            <a:r>
              <a:rPr sz="750" b="0" spc="150">
                <a:solidFill>
                  <a:srgbClr val="5D6675"/>
                </a:solidFill>
                <a:latin typeface="Inter Medium"/>
              </a:rPr>
              <a:t>FIELD CLASSIFICATION</a:t>
            </a:r>
          </a:p>
        </p:txBody>
      </p:sp>
      <p:sp>
        <p:nvSpPr>
          <p:cNvPr id="38" name="TextBox 37"/>
          <p:cNvSpPr txBox="1"/>
          <p:nvPr/>
        </p:nvSpPr>
        <p:spPr>
          <a:xfrm>
            <a:off x="3698748" y="2852928"/>
            <a:ext cx="1463040" cy="256032"/>
          </a:xfrm>
          <a:prstGeom prst="rect">
            <a:avLst/>
          </a:prstGeom>
          <a:noFill/>
        </p:spPr>
        <p:txBody>
          <a:bodyPr wrap="square" anchor="t" lIns="18288" rIns="18288" tIns="9144" bIns="9144">
            <a:spAutoFit/>
          </a:bodyPr>
          <a:lstStyle/>
          <a:p>
            <a:pPr algn="l">
              <a:lnSpc>
                <a:spcPct val="100000"/>
              </a:lnSpc>
            </a:pPr>
            <a:r>
              <a:rPr sz="1200" b="1">
                <a:solidFill>
                  <a:srgbClr val="4338CA"/>
                </a:solidFill>
                <a:latin typeface="Poppins SemiBold"/>
              </a:rPr>
              <a:t>DeBERTa-v3-base</a:t>
            </a:r>
          </a:p>
        </p:txBody>
      </p:sp>
      <p:cxnSp>
        <p:nvCxnSpPr>
          <p:cNvPr id="39" name="Connector 38"/>
          <p:cNvCxnSpPr/>
          <p:nvPr/>
        </p:nvCxnSpPr>
        <p:spPr>
          <a:xfrm>
            <a:off x="3241548" y="3273552"/>
            <a:ext cx="1792224" cy="0"/>
          </a:xfrm>
          <a:prstGeom prst="line">
            <a:avLst/>
          </a:prstGeom>
          <a:ln w="6350">
            <a:solidFill>
              <a:srgbClr val="E3E7EE">
                <a:alpha val="90000"/>
              </a:srgbClr>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3241548" y="3383280"/>
            <a:ext cx="1792224" cy="182880"/>
          </a:xfrm>
          <a:prstGeom prst="rect">
            <a:avLst/>
          </a:prstGeom>
          <a:noFill/>
        </p:spPr>
        <p:txBody>
          <a:bodyPr wrap="square" anchor="t" lIns="18288" rIns="18288" tIns="9144" bIns="9144">
            <a:spAutoFit/>
          </a:bodyPr>
          <a:lstStyle/>
          <a:p>
            <a:pPr algn="l">
              <a:lnSpc>
                <a:spcPct val="100000"/>
              </a:lnSpc>
            </a:pPr>
            <a:r>
              <a:rPr sz="750" b="0" spc="200">
                <a:solidFill>
                  <a:srgbClr val="5D6675"/>
                </a:solidFill>
                <a:latin typeface="Inter Medium"/>
              </a:rPr>
              <a:t>PURPOSE</a:t>
            </a:r>
          </a:p>
        </p:txBody>
      </p:sp>
      <p:sp>
        <p:nvSpPr>
          <p:cNvPr id="41" name="TextBox 40"/>
          <p:cNvSpPr txBox="1"/>
          <p:nvPr/>
        </p:nvSpPr>
        <p:spPr>
          <a:xfrm>
            <a:off x="3241548" y="3584448"/>
            <a:ext cx="1810512" cy="1005840"/>
          </a:xfrm>
          <a:prstGeom prst="rect">
            <a:avLst/>
          </a:prstGeom>
          <a:noFill/>
        </p:spPr>
        <p:txBody>
          <a:bodyPr wrap="square" anchor="t" lIns="18288" rIns="18288" tIns="9144" bIns="9144">
            <a:spAutoFit/>
          </a:bodyPr>
          <a:lstStyle/>
          <a:p>
            <a:pPr algn="l">
              <a:lnSpc>
                <a:spcPct val="110000"/>
              </a:lnSpc>
            </a:pPr>
            <a:r>
              <a:rPr sz="950" b="0">
                <a:solidFill>
                  <a:srgbClr val="121826"/>
                </a:solidFill>
                <a:latin typeface="Inter"/>
              </a:rPr>
              <a:t>Context-aware HTML field understanding.</a:t>
            </a:r>
          </a:p>
        </p:txBody>
      </p:sp>
      <p:sp>
        <p:nvSpPr>
          <p:cNvPr id="42" name="Rounded Rectangle 41"/>
          <p:cNvSpPr/>
          <p:nvPr/>
        </p:nvSpPr>
        <p:spPr>
          <a:xfrm>
            <a:off x="5330952" y="2487168"/>
            <a:ext cx="2121408" cy="2212848"/>
          </a:xfrm>
          <a:prstGeom prst="roundRect">
            <a:avLst>
              <a:gd name="adj" fmla="val 9000"/>
            </a:avLst>
          </a:prstGeom>
          <a:solidFill>
            <a:srgbClr val="FFFFFF"/>
          </a:solidFill>
          <a:ln w="9525">
            <a:solidFill>
              <a:srgbClr val="D97706">
                <a:alpha val="50000"/>
              </a:srgbClr>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5495544" y="2651760"/>
            <a:ext cx="365760" cy="365760"/>
          </a:xfrm>
          <a:prstGeom prst="roundRect">
            <a:avLst>
              <a:gd name="adj" fmla="val 30000"/>
            </a:avLst>
          </a:prstGeom>
          <a:solidFill>
            <a:srgbClr val="D97706">
              <a:alpha val="16000"/>
            </a:srgbClr>
          </a:solidFill>
          <a:ln w="9525">
            <a:solidFill>
              <a:srgbClr val="D97706">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olded Corner 43"/>
          <p:cNvSpPr/>
          <p:nvPr/>
        </p:nvSpPr>
        <p:spPr>
          <a:xfrm>
            <a:off x="5590641" y="2746857"/>
            <a:ext cx="175564" cy="175564"/>
          </a:xfrm>
          <a:prstGeom prst="foldedCorner">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952744" y="2670048"/>
            <a:ext cx="1417320" cy="182880"/>
          </a:xfrm>
          <a:prstGeom prst="rect">
            <a:avLst/>
          </a:prstGeom>
          <a:noFill/>
        </p:spPr>
        <p:txBody>
          <a:bodyPr wrap="square" anchor="t" lIns="18288" rIns="18288" tIns="9144" bIns="9144">
            <a:spAutoFit/>
          </a:bodyPr>
          <a:lstStyle/>
          <a:p>
            <a:pPr algn="l">
              <a:lnSpc>
                <a:spcPct val="100000"/>
              </a:lnSpc>
            </a:pPr>
            <a:r>
              <a:rPr sz="750" b="0" spc="150">
                <a:solidFill>
                  <a:srgbClr val="5D6675"/>
                </a:solidFill>
                <a:latin typeface="Inter Medium"/>
              </a:rPr>
              <a:t>RESUME EXTRACTION</a:t>
            </a:r>
          </a:p>
        </p:txBody>
      </p:sp>
      <p:sp>
        <p:nvSpPr>
          <p:cNvPr id="46" name="TextBox 45"/>
          <p:cNvSpPr txBox="1"/>
          <p:nvPr/>
        </p:nvSpPr>
        <p:spPr>
          <a:xfrm>
            <a:off x="5952744" y="2852928"/>
            <a:ext cx="1463040" cy="256032"/>
          </a:xfrm>
          <a:prstGeom prst="rect">
            <a:avLst/>
          </a:prstGeom>
          <a:noFill/>
        </p:spPr>
        <p:txBody>
          <a:bodyPr wrap="square" anchor="t" lIns="18288" rIns="18288" tIns="9144" bIns="9144">
            <a:spAutoFit/>
          </a:bodyPr>
          <a:lstStyle/>
          <a:p>
            <a:pPr algn="l">
              <a:lnSpc>
                <a:spcPct val="100000"/>
              </a:lnSpc>
            </a:pPr>
            <a:r>
              <a:rPr sz="1200" b="1">
                <a:solidFill>
                  <a:srgbClr val="4338CA"/>
                </a:solidFill>
                <a:latin typeface="Poppins SemiBold"/>
              </a:rPr>
              <a:t>LayoutLMv3</a:t>
            </a:r>
          </a:p>
        </p:txBody>
      </p:sp>
      <p:cxnSp>
        <p:nvCxnSpPr>
          <p:cNvPr id="47" name="Connector 46"/>
          <p:cNvCxnSpPr/>
          <p:nvPr/>
        </p:nvCxnSpPr>
        <p:spPr>
          <a:xfrm>
            <a:off x="5495544" y="3273552"/>
            <a:ext cx="1792224" cy="0"/>
          </a:xfrm>
          <a:prstGeom prst="line">
            <a:avLst/>
          </a:prstGeom>
          <a:ln w="6350">
            <a:solidFill>
              <a:srgbClr val="E3E7EE">
                <a:alpha val="90000"/>
              </a:srgbClr>
            </a:solidFill>
          </a:ln>
          <a:effectLst/>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5495544" y="3383280"/>
            <a:ext cx="1792224" cy="182880"/>
          </a:xfrm>
          <a:prstGeom prst="rect">
            <a:avLst/>
          </a:prstGeom>
          <a:noFill/>
        </p:spPr>
        <p:txBody>
          <a:bodyPr wrap="square" anchor="t" lIns="18288" rIns="18288" tIns="9144" bIns="9144">
            <a:spAutoFit/>
          </a:bodyPr>
          <a:lstStyle/>
          <a:p>
            <a:pPr algn="l">
              <a:lnSpc>
                <a:spcPct val="100000"/>
              </a:lnSpc>
            </a:pPr>
            <a:r>
              <a:rPr sz="750" b="0" spc="200">
                <a:solidFill>
                  <a:srgbClr val="5D6675"/>
                </a:solidFill>
                <a:latin typeface="Inter Medium"/>
              </a:rPr>
              <a:t>PURPOSE</a:t>
            </a:r>
          </a:p>
        </p:txBody>
      </p:sp>
      <p:sp>
        <p:nvSpPr>
          <p:cNvPr id="49" name="TextBox 48"/>
          <p:cNvSpPr txBox="1"/>
          <p:nvPr/>
        </p:nvSpPr>
        <p:spPr>
          <a:xfrm>
            <a:off x="5495544" y="3584448"/>
            <a:ext cx="1810512" cy="1005840"/>
          </a:xfrm>
          <a:prstGeom prst="rect">
            <a:avLst/>
          </a:prstGeom>
          <a:noFill/>
        </p:spPr>
        <p:txBody>
          <a:bodyPr wrap="square" anchor="t" lIns="18288" rIns="18288" tIns="9144" bIns="9144">
            <a:spAutoFit/>
          </a:bodyPr>
          <a:lstStyle/>
          <a:p>
            <a:pPr algn="l">
              <a:lnSpc>
                <a:spcPct val="110000"/>
              </a:lnSpc>
            </a:pPr>
            <a:r>
              <a:rPr sz="950" b="0">
                <a:solidFill>
                  <a:srgbClr val="121826"/>
                </a:solidFill>
                <a:latin typeface="Inter"/>
              </a:rPr>
              <a:t>Extract structured information from resumes.</a:t>
            </a:r>
          </a:p>
        </p:txBody>
      </p:sp>
      <p:sp>
        <p:nvSpPr>
          <p:cNvPr id="50" name="Rounded Rectangle 49"/>
          <p:cNvSpPr/>
          <p:nvPr/>
        </p:nvSpPr>
        <p:spPr>
          <a:xfrm>
            <a:off x="6501384" y="4343400"/>
            <a:ext cx="786384" cy="237744"/>
          </a:xfrm>
          <a:prstGeom prst="roundRect">
            <a:avLst>
              <a:gd name="adj" fmla="val 50000"/>
            </a:avLst>
          </a:prstGeom>
          <a:solidFill>
            <a:srgbClr val="D97706">
              <a:alpha val="16000"/>
            </a:srgbClr>
          </a:solidFill>
          <a:ln w="6350">
            <a:solidFill>
              <a:srgbClr val="D97706">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800" b="0" spc="150">
                <a:solidFill>
                  <a:srgbClr val="92400E"/>
                </a:solidFill>
                <a:latin typeface="Inter Medium"/>
              </a:rPr>
              <a:t>FUTURE</a:t>
            </a:r>
          </a:p>
        </p:txBody>
      </p:sp>
      <p:sp>
        <p:nvSpPr>
          <p:cNvPr id="51" name="Rounded Rectangle 50"/>
          <p:cNvSpPr/>
          <p:nvPr/>
        </p:nvSpPr>
        <p:spPr>
          <a:xfrm>
            <a:off x="7584948" y="2487168"/>
            <a:ext cx="2121408" cy="2212848"/>
          </a:xfrm>
          <a:prstGeom prst="roundRect">
            <a:avLst>
              <a:gd name="adj" fmla="val 9000"/>
            </a:avLst>
          </a:prstGeom>
          <a:solidFill>
            <a:srgbClr val="FFFFFF"/>
          </a:solidFill>
          <a:ln w="9525">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7749540" y="2651760"/>
            <a:ext cx="365760" cy="365760"/>
          </a:xfrm>
          <a:prstGeom prst="roundRect">
            <a:avLst>
              <a:gd name="adj" fmla="val 30000"/>
            </a:avLst>
          </a:prstGeom>
          <a:solidFill>
            <a:srgbClr val="059669">
              <a:alpha val="16000"/>
            </a:srgbClr>
          </a:solidFill>
          <a:ln w="9525">
            <a:solidFill>
              <a:srgbClr val="059669">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Isosceles Triangle 52"/>
          <p:cNvSpPr/>
          <p:nvPr/>
        </p:nvSpPr>
        <p:spPr>
          <a:xfrm>
            <a:off x="7844637" y="2746857"/>
            <a:ext cx="175564" cy="175564"/>
          </a:xfrm>
          <a:prstGeom prst="triangl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206740" y="2670048"/>
            <a:ext cx="1417320" cy="182880"/>
          </a:xfrm>
          <a:prstGeom prst="rect">
            <a:avLst/>
          </a:prstGeom>
          <a:noFill/>
        </p:spPr>
        <p:txBody>
          <a:bodyPr wrap="square" anchor="t" lIns="18288" rIns="18288" tIns="9144" bIns="9144">
            <a:spAutoFit/>
          </a:bodyPr>
          <a:lstStyle/>
          <a:p>
            <a:pPr algn="l">
              <a:lnSpc>
                <a:spcPct val="100000"/>
              </a:lnSpc>
            </a:pPr>
            <a:r>
              <a:rPr sz="750" b="0" spc="150">
                <a:solidFill>
                  <a:srgbClr val="5D6675"/>
                </a:solidFill>
                <a:latin typeface="Inter Medium"/>
              </a:rPr>
              <a:t>CONFIDENCE ENGINE</a:t>
            </a:r>
          </a:p>
        </p:txBody>
      </p:sp>
      <p:sp>
        <p:nvSpPr>
          <p:cNvPr id="55" name="TextBox 54"/>
          <p:cNvSpPr txBox="1"/>
          <p:nvPr/>
        </p:nvSpPr>
        <p:spPr>
          <a:xfrm>
            <a:off x="8206740" y="2852928"/>
            <a:ext cx="1463040" cy="256032"/>
          </a:xfrm>
          <a:prstGeom prst="rect">
            <a:avLst/>
          </a:prstGeom>
          <a:noFill/>
        </p:spPr>
        <p:txBody>
          <a:bodyPr wrap="square" anchor="t" lIns="18288" rIns="18288" tIns="9144" bIns="9144">
            <a:spAutoFit/>
          </a:bodyPr>
          <a:lstStyle/>
          <a:p>
            <a:pPr algn="l">
              <a:lnSpc>
                <a:spcPct val="100000"/>
              </a:lnSpc>
            </a:pPr>
            <a:r>
              <a:rPr sz="1200" b="1">
                <a:solidFill>
                  <a:srgbClr val="4338CA"/>
                </a:solidFill>
                <a:latin typeface="Poppins SemiBold"/>
              </a:rPr>
              <a:t>LightGBM</a:t>
            </a:r>
          </a:p>
        </p:txBody>
      </p:sp>
      <p:cxnSp>
        <p:nvCxnSpPr>
          <p:cNvPr id="56" name="Connector 55"/>
          <p:cNvCxnSpPr/>
          <p:nvPr/>
        </p:nvCxnSpPr>
        <p:spPr>
          <a:xfrm>
            <a:off x="7749540" y="3273552"/>
            <a:ext cx="1792224" cy="0"/>
          </a:xfrm>
          <a:prstGeom prst="line">
            <a:avLst/>
          </a:prstGeom>
          <a:ln w="6350">
            <a:solidFill>
              <a:srgbClr val="E3E7EE">
                <a:alpha val="90000"/>
              </a:srgbClr>
            </a:solidFill>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7749540" y="3383280"/>
            <a:ext cx="1792224" cy="182880"/>
          </a:xfrm>
          <a:prstGeom prst="rect">
            <a:avLst/>
          </a:prstGeom>
          <a:noFill/>
        </p:spPr>
        <p:txBody>
          <a:bodyPr wrap="square" anchor="t" lIns="18288" rIns="18288" tIns="9144" bIns="9144">
            <a:spAutoFit/>
          </a:bodyPr>
          <a:lstStyle/>
          <a:p>
            <a:pPr algn="l">
              <a:lnSpc>
                <a:spcPct val="100000"/>
              </a:lnSpc>
            </a:pPr>
            <a:r>
              <a:rPr sz="750" b="0" spc="200">
                <a:solidFill>
                  <a:srgbClr val="5D6675"/>
                </a:solidFill>
                <a:latin typeface="Inter Medium"/>
              </a:rPr>
              <a:t>PURPOSE</a:t>
            </a:r>
          </a:p>
        </p:txBody>
      </p:sp>
      <p:sp>
        <p:nvSpPr>
          <p:cNvPr id="58" name="TextBox 57"/>
          <p:cNvSpPr txBox="1"/>
          <p:nvPr/>
        </p:nvSpPr>
        <p:spPr>
          <a:xfrm>
            <a:off x="7749540" y="3584448"/>
            <a:ext cx="1810512" cy="1005840"/>
          </a:xfrm>
          <a:prstGeom prst="rect">
            <a:avLst/>
          </a:prstGeom>
          <a:noFill/>
        </p:spPr>
        <p:txBody>
          <a:bodyPr wrap="square" anchor="t" lIns="18288" rIns="18288" tIns="9144" bIns="9144">
            <a:spAutoFit/>
          </a:bodyPr>
          <a:lstStyle/>
          <a:p>
            <a:pPr algn="l">
              <a:lnSpc>
                <a:spcPct val="110000"/>
              </a:lnSpc>
            </a:pPr>
            <a:r>
              <a:rPr sz="950" b="0">
                <a:solidFill>
                  <a:srgbClr val="121826"/>
                </a:solidFill>
                <a:latin typeface="Inter"/>
              </a:rPr>
              <a:t>Select the best semantic mapping.</a:t>
            </a:r>
          </a:p>
        </p:txBody>
      </p:sp>
      <p:sp>
        <p:nvSpPr>
          <p:cNvPr id="59" name="TextBox 58"/>
          <p:cNvSpPr txBox="1"/>
          <p:nvPr/>
        </p:nvSpPr>
        <p:spPr>
          <a:xfrm>
            <a:off x="9948672" y="2487168"/>
            <a:ext cx="1645920" cy="219456"/>
          </a:xfrm>
          <a:prstGeom prst="rect">
            <a:avLst/>
          </a:prstGeom>
          <a:noFill/>
        </p:spPr>
        <p:txBody>
          <a:bodyPr wrap="square" anchor="t" lIns="18288" rIns="18288" tIns="9144" bIns="9144">
            <a:spAutoFit/>
          </a:bodyPr>
          <a:lstStyle/>
          <a:p>
            <a:pPr algn="l">
              <a:lnSpc>
                <a:spcPct val="100000"/>
              </a:lnSpc>
            </a:pPr>
            <a:r>
              <a:rPr sz="900" b="0" spc="250">
                <a:solidFill>
                  <a:srgbClr val="5D6675"/>
                </a:solidFill>
                <a:latin typeface="Inter Medium"/>
              </a:rPr>
              <a:t>PIPELINE TRAITS</a:t>
            </a:r>
          </a:p>
        </p:txBody>
      </p:sp>
      <p:sp>
        <p:nvSpPr>
          <p:cNvPr id="60" name="Rounded Rectangle 59"/>
          <p:cNvSpPr/>
          <p:nvPr/>
        </p:nvSpPr>
        <p:spPr>
          <a:xfrm>
            <a:off x="9948672" y="2798064"/>
            <a:ext cx="1572768" cy="347472"/>
          </a:xfrm>
          <a:prstGeom prst="roundRect">
            <a:avLst>
              <a:gd name="adj" fmla="val 50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10076688" y="2930652"/>
            <a:ext cx="82296" cy="82296"/>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0241280" y="2798064"/>
            <a:ext cx="1234440" cy="347472"/>
          </a:xfrm>
          <a:prstGeom prst="rect">
            <a:avLst/>
          </a:prstGeom>
          <a:noFill/>
        </p:spPr>
        <p:txBody>
          <a:bodyPr wrap="square" anchor="ctr" lIns="18288" rIns="18288" tIns="9144" bIns="9144">
            <a:spAutoFit/>
          </a:bodyPr>
          <a:lstStyle/>
          <a:p>
            <a:pPr algn="l">
              <a:lnSpc>
                <a:spcPct val="100000"/>
              </a:lnSpc>
            </a:pPr>
            <a:r>
              <a:rPr sz="950" b="0">
                <a:solidFill>
                  <a:srgbClr val="121826"/>
                </a:solidFill>
                <a:latin typeface="Inter Medium"/>
              </a:rPr>
              <a:t>Fast</a:t>
            </a:r>
          </a:p>
        </p:txBody>
      </p:sp>
      <p:sp>
        <p:nvSpPr>
          <p:cNvPr id="63" name="Rounded Rectangle 62"/>
          <p:cNvSpPr/>
          <p:nvPr/>
        </p:nvSpPr>
        <p:spPr>
          <a:xfrm>
            <a:off x="9948672" y="3218688"/>
            <a:ext cx="1572768" cy="347472"/>
          </a:xfrm>
          <a:prstGeom prst="roundRect">
            <a:avLst>
              <a:gd name="adj" fmla="val 50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10076688" y="3351276"/>
            <a:ext cx="82296" cy="82296"/>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241280" y="3218688"/>
            <a:ext cx="1234440" cy="347472"/>
          </a:xfrm>
          <a:prstGeom prst="rect">
            <a:avLst/>
          </a:prstGeom>
          <a:noFill/>
        </p:spPr>
        <p:txBody>
          <a:bodyPr wrap="square" anchor="ctr" lIns="18288" rIns="18288" tIns="9144" bIns="9144">
            <a:spAutoFit/>
          </a:bodyPr>
          <a:lstStyle/>
          <a:p>
            <a:pPr algn="l">
              <a:lnSpc>
                <a:spcPct val="100000"/>
              </a:lnSpc>
            </a:pPr>
            <a:r>
              <a:rPr sz="950" b="0">
                <a:solidFill>
                  <a:srgbClr val="121826"/>
                </a:solidFill>
                <a:latin typeface="Inter Medium"/>
              </a:rPr>
              <a:t>Lightweight</a:t>
            </a:r>
          </a:p>
        </p:txBody>
      </p:sp>
      <p:sp>
        <p:nvSpPr>
          <p:cNvPr id="66" name="Rounded Rectangle 65"/>
          <p:cNvSpPr/>
          <p:nvPr/>
        </p:nvSpPr>
        <p:spPr>
          <a:xfrm>
            <a:off x="9948672" y="3639312"/>
            <a:ext cx="1572768" cy="347472"/>
          </a:xfrm>
          <a:prstGeom prst="roundRect">
            <a:avLst>
              <a:gd name="adj" fmla="val 50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10076688" y="3771900"/>
            <a:ext cx="82296" cy="82296"/>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241280" y="3639312"/>
            <a:ext cx="1234440" cy="347472"/>
          </a:xfrm>
          <a:prstGeom prst="rect">
            <a:avLst/>
          </a:prstGeom>
          <a:noFill/>
        </p:spPr>
        <p:txBody>
          <a:bodyPr wrap="square" anchor="ctr" lIns="18288" rIns="18288" tIns="9144" bIns="9144">
            <a:spAutoFit/>
          </a:bodyPr>
          <a:lstStyle/>
          <a:p>
            <a:pPr algn="l">
              <a:lnSpc>
                <a:spcPct val="100000"/>
              </a:lnSpc>
            </a:pPr>
            <a:r>
              <a:rPr sz="950" b="0">
                <a:solidFill>
                  <a:srgbClr val="121826"/>
                </a:solidFill>
                <a:latin typeface="Inter Medium"/>
              </a:rPr>
              <a:t>Semantic AI</a:t>
            </a:r>
          </a:p>
        </p:txBody>
      </p:sp>
      <p:sp>
        <p:nvSpPr>
          <p:cNvPr id="69" name="Rounded Rectangle 68"/>
          <p:cNvSpPr/>
          <p:nvPr/>
        </p:nvSpPr>
        <p:spPr>
          <a:xfrm>
            <a:off x="9948672" y="4059936"/>
            <a:ext cx="1572768" cy="347472"/>
          </a:xfrm>
          <a:prstGeom prst="roundRect">
            <a:avLst>
              <a:gd name="adj" fmla="val 50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10076688" y="4192524"/>
            <a:ext cx="82296" cy="82296"/>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0241280" y="4059936"/>
            <a:ext cx="1234440" cy="347472"/>
          </a:xfrm>
          <a:prstGeom prst="rect">
            <a:avLst/>
          </a:prstGeom>
          <a:noFill/>
        </p:spPr>
        <p:txBody>
          <a:bodyPr wrap="square" anchor="ctr" lIns="18288" rIns="18288" tIns="9144" bIns="9144">
            <a:spAutoFit/>
          </a:bodyPr>
          <a:lstStyle/>
          <a:p>
            <a:pPr algn="l">
              <a:lnSpc>
                <a:spcPct val="100000"/>
              </a:lnSpc>
            </a:pPr>
            <a:r>
              <a:rPr sz="950" b="0">
                <a:solidFill>
                  <a:srgbClr val="121826"/>
                </a:solidFill>
                <a:latin typeface="Inter Medium"/>
              </a:rPr>
              <a:t>Production Ready</a:t>
            </a:r>
          </a:p>
        </p:txBody>
      </p:sp>
      <p:sp>
        <p:nvSpPr>
          <p:cNvPr id="72" name="Rounded Rectangle 71"/>
          <p:cNvSpPr/>
          <p:nvPr/>
        </p:nvSpPr>
        <p:spPr>
          <a:xfrm>
            <a:off x="9948672" y="4480560"/>
            <a:ext cx="1572768" cy="347472"/>
          </a:xfrm>
          <a:prstGeom prst="roundRect">
            <a:avLst>
              <a:gd name="adj" fmla="val 50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10076688" y="4613148"/>
            <a:ext cx="82296" cy="8229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0241280" y="4480560"/>
            <a:ext cx="1234440" cy="347472"/>
          </a:xfrm>
          <a:prstGeom prst="rect">
            <a:avLst/>
          </a:prstGeom>
          <a:noFill/>
        </p:spPr>
        <p:txBody>
          <a:bodyPr wrap="square" anchor="ctr" lIns="18288" rIns="18288" tIns="9144" bIns="9144">
            <a:spAutoFit/>
          </a:bodyPr>
          <a:lstStyle/>
          <a:p>
            <a:pPr algn="l">
              <a:lnSpc>
                <a:spcPct val="100000"/>
              </a:lnSpc>
            </a:pPr>
            <a:r>
              <a:rPr sz="950" b="0">
                <a:solidFill>
                  <a:srgbClr val="121826"/>
                </a:solidFill>
                <a:latin typeface="Inter Medium"/>
              </a:rPr>
              <a:t>Research Driven</a:t>
            </a:r>
          </a:p>
        </p:txBody>
      </p:sp>
      <p:sp>
        <p:nvSpPr>
          <p:cNvPr id="75" name="Rounded Rectangle 74"/>
          <p:cNvSpPr/>
          <p:nvPr/>
        </p:nvSpPr>
        <p:spPr>
          <a:xfrm>
            <a:off x="822960" y="5623560"/>
            <a:ext cx="10561320" cy="566928"/>
          </a:xfrm>
          <a:prstGeom prst="roundRect">
            <a:avLst>
              <a:gd name="adj" fmla="val 10000"/>
            </a:avLst>
          </a:prstGeom>
          <a:solidFill>
            <a:srgbClr val="FFFFFF"/>
          </a:solidFill>
          <a:ln w="9525">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822960" y="5623560"/>
            <a:ext cx="64008" cy="5669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188720" y="5623560"/>
            <a:ext cx="9966960" cy="566928"/>
          </a:xfrm>
          <a:prstGeom prst="rect">
            <a:avLst/>
          </a:prstGeom>
          <a:noFill/>
        </p:spPr>
        <p:txBody>
          <a:bodyPr wrap="square" anchor="ctr" lIns="18288" rIns="18288" tIns="9144" bIns="9144">
            <a:spAutoFit/>
          </a:bodyPr>
          <a:lstStyle/>
          <a:p>
            <a:pPr algn="l">
              <a:lnSpc>
                <a:spcPct val="100000"/>
              </a:lnSpc>
            </a:pPr>
            <a:r>
              <a:rPr sz="1400" b="0">
                <a:solidFill>
                  <a:srgbClr val="121826"/>
                </a:solidFill>
                <a:latin typeface="Poppins SemiBold"/>
              </a:rPr>
              <a:t>Hybrid AI pipeline combining semantic embeddings, transformer classification, and confidence ranking.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7FA"/>
        </a:solidFill>
        <a:effectLst/>
      </p:bgPr>
    </p:bg>
    <p:spTree>
      <p:nvGrpSpPr>
        <p:cNvPr id="1" name=""/>
        <p:cNvGrpSpPr/>
        <p:nvPr/>
      </p:nvGrpSpPr>
      <p:grpSpPr/>
      <p:sp>
        <p:nvSpPr>
          <p:cNvPr id="2" name="TextBox 1"/>
          <p:cNvSpPr txBox="1"/>
          <p:nvPr/>
        </p:nvSpPr>
        <p:spPr>
          <a:xfrm>
            <a:off x="841248" y="347472"/>
            <a:ext cx="7315200" cy="274320"/>
          </a:xfrm>
          <a:prstGeom prst="rect">
            <a:avLst/>
          </a:prstGeom>
          <a:noFill/>
        </p:spPr>
        <p:txBody>
          <a:bodyPr wrap="square" anchor="t" lIns="18288" rIns="18288" tIns="9144" bIns="9144">
            <a:spAutoFit/>
          </a:bodyPr>
          <a:lstStyle/>
          <a:p>
            <a:pPr algn="l">
              <a:lnSpc>
                <a:spcPct val="100000"/>
              </a:lnSpc>
            </a:pPr>
            <a:r>
              <a:rPr sz="1100" b="0" spc="300">
                <a:solidFill>
                  <a:srgbClr val="4338CA"/>
                </a:solidFill>
                <a:latin typeface="Inter Medium"/>
              </a:rPr>
              <a:t>DATASET COLLECTION FRAMEWORK</a:t>
            </a:r>
          </a:p>
        </p:txBody>
      </p:sp>
      <p:sp>
        <p:nvSpPr>
          <p:cNvPr id="3" name="TextBox 2"/>
          <p:cNvSpPr txBox="1"/>
          <p:nvPr/>
        </p:nvSpPr>
        <p:spPr>
          <a:xfrm>
            <a:off x="822960" y="566928"/>
            <a:ext cx="10607040" cy="566928"/>
          </a:xfrm>
          <a:prstGeom prst="rect">
            <a:avLst/>
          </a:prstGeom>
          <a:noFill/>
        </p:spPr>
        <p:txBody>
          <a:bodyPr wrap="square" anchor="t" lIns="18288" rIns="18288" tIns="9144" bIns="9144">
            <a:spAutoFit/>
          </a:bodyPr>
          <a:lstStyle/>
          <a:p>
            <a:pPr algn="l">
              <a:lnSpc>
                <a:spcPct val="100000"/>
              </a:lnSpc>
            </a:pPr>
            <a:r>
              <a:rPr sz="3000" b="1">
                <a:solidFill>
                  <a:srgbClr val="121826"/>
                </a:solidFill>
                <a:latin typeface="Poppins ExtraBold"/>
              </a:rPr>
              <a:t>Building the First Semantic Recruitment HTML Dataset</a:t>
            </a:r>
          </a:p>
        </p:txBody>
      </p:sp>
      <p:sp>
        <p:nvSpPr>
          <p:cNvPr id="4" name="Rounded Rectangle 3"/>
          <p:cNvSpPr/>
          <p:nvPr/>
        </p:nvSpPr>
        <p:spPr>
          <a:xfrm>
            <a:off x="841248" y="1133856"/>
            <a:ext cx="868680" cy="45720"/>
          </a:xfrm>
          <a:prstGeom prst="roundRect">
            <a:avLst>
              <a:gd name="adj" fmla="val 50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81360" y="6473952"/>
            <a:ext cx="1005840" cy="274320"/>
          </a:xfrm>
          <a:prstGeom prst="rect">
            <a:avLst/>
          </a:prstGeom>
          <a:noFill/>
        </p:spPr>
        <p:txBody>
          <a:bodyPr wrap="square" anchor="t" lIns="18288" rIns="18288" tIns="9144" bIns="9144">
            <a:spAutoFit/>
          </a:bodyPr>
          <a:lstStyle/>
          <a:p>
            <a:pPr algn="r">
              <a:lnSpc>
                <a:spcPct val="100000"/>
              </a:lnSpc>
            </a:pPr>
            <a:r>
              <a:rPr sz="1000" b="0">
                <a:solidFill>
                  <a:srgbClr val="5D6675"/>
                </a:solidFill>
                <a:latin typeface="Inter Medium"/>
              </a:rPr>
              <a:t>08 / 13</a:t>
            </a:r>
          </a:p>
        </p:txBody>
      </p:sp>
      <p:sp>
        <p:nvSpPr>
          <p:cNvPr id="6" name="TextBox 5"/>
          <p:cNvSpPr txBox="1"/>
          <p:nvPr/>
        </p:nvSpPr>
        <p:spPr>
          <a:xfrm>
            <a:off x="841248" y="6473952"/>
            <a:ext cx="4572000" cy="274320"/>
          </a:xfrm>
          <a:prstGeom prst="rect">
            <a:avLst/>
          </a:prstGeom>
          <a:noFill/>
        </p:spPr>
        <p:txBody>
          <a:bodyPr wrap="square" anchor="t" lIns="18288" rIns="18288" tIns="9144" bIns="9144">
            <a:spAutoFit/>
          </a:bodyPr>
          <a:lstStyle/>
          <a:p>
            <a:pPr algn="l">
              <a:lnSpc>
                <a:spcPct val="100000"/>
              </a:lnSpc>
            </a:pPr>
            <a:r>
              <a:rPr sz="950" b="0" spc="100">
                <a:solidFill>
                  <a:srgbClr val="5D6675"/>
                </a:solidFill>
                <a:latin typeface="Inter Medium"/>
              </a:rPr>
              <a:t>CareerHub · Semantic Professional Identity Framework</a:t>
            </a:r>
          </a:p>
        </p:txBody>
      </p:sp>
      <p:sp>
        <p:nvSpPr>
          <p:cNvPr id="7" name="Rounded Rectangle 6"/>
          <p:cNvSpPr/>
          <p:nvPr/>
        </p:nvSpPr>
        <p:spPr>
          <a:xfrm>
            <a:off x="822960" y="1353312"/>
            <a:ext cx="1365068" cy="566928"/>
          </a:xfrm>
          <a:prstGeom prst="roundRect">
            <a:avLst>
              <a:gd name="adj" fmla="val 20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95000"/>
              </a:lnSpc>
            </a:pPr>
            <a:r>
              <a:rPr sz="900" b="0">
                <a:solidFill>
                  <a:srgbClr val="121826"/>
                </a:solidFill>
                <a:latin typeface="Inter Medium"/>
              </a:rPr>
              <a:t>Recruitment Websites</a:t>
            </a:r>
          </a:p>
        </p:txBody>
      </p:sp>
      <p:sp>
        <p:nvSpPr>
          <p:cNvPr id="8" name="Isosceles Triangle 7"/>
          <p:cNvSpPr/>
          <p:nvPr/>
        </p:nvSpPr>
        <p:spPr>
          <a:xfrm rot="5400000">
            <a:off x="2220032" y="1581912"/>
            <a:ext cx="93268" cy="109728"/>
          </a:xfrm>
          <a:prstGeom prst="triangle">
            <a:avLst/>
          </a:prstGeom>
          <a:solidFill>
            <a:srgbClr val="4F46E5">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352620" y="1353312"/>
            <a:ext cx="1365068" cy="566928"/>
          </a:xfrm>
          <a:prstGeom prst="roundRect">
            <a:avLst>
              <a:gd name="adj" fmla="val 20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95000"/>
              </a:lnSpc>
            </a:pPr>
            <a:r>
              <a:rPr sz="900" b="0">
                <a:solidFill>
                  <a:srgbClr val="121826"/>
                </a:solidFill>
                <a:latin typeface="Inter Medium"/>
              </a:rPr>
              <a:t>Browser Extension</a:t>
            </a:r>
          </a:p>
        </p:txBody>
      </p:sp>
      <p:sp>
        <p:nvSpPr>
          <p:cNvPr id="10" name="Isosceles Triangle 9"/>
          <p:cNvSpPr/>
          <p:nvPr/>
        </p:nvSpPr>
        <p:spPr>
          <a:xfrm rot="5400000">
            <a:off x="3749693" y="1581912"/>
            <a:ext cx="93268" cy="109728"/>
          </a:xfrm>
          <a:prstGeom prst="triangle">
            <a:avLst/>
          </a:prstGeom>
          <a:solidFill>
            <a:srgbClr val="4F46E5">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882281" y="1353312"/>
            <a:ext cx="1365068" cy="566928"/>
          </a:xfrm>
          <a:prstGeom prst="roundRect">
            <a:avLst>
              <a:gd name="adj" fmla="val 20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95000"/>
              </a:lnSpc>
            </a:pPr>
            <a:r>
              <a:rPr sz="900" b="0">
                <a:solidFill>
                  <a:srgbClr val="121826"/>
                </a:solidFill>
                <a:latin typeface="Inter Medium"/>
              </a:rPr>
              <a:t>DOM Analyzer</a:t>
            </a:r>
          </a:p>
        </p:txBody>
      </p:sp>
      <p:sp>
        <p:nvSpPr>
          <p:cNvPr id="12" name="Isosceles Triangle 11"/>
          <p:cNvSpPr/>
          <p:nvPr/>
        </p:nvSpPr>
        <p:spPr>
          <a:xfrm rot="5400000">
            <a:off x="5279353" y="1581912"/>
            <a:ext cx="93268" cy="109728"/>
          </a:xfrm>
          <a:prstGeom prst="triangle">
            <a:avLst/>
          </a:prstGeom>
          <a:solidFill>
            <a:srgbClr val="4F46E5">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11941" y="1353312"/>
            <a:ext cx="1365068" cy="566928"/>
          </a:xfrm>
          <a:prstGeom prst="roundRect">
            <a:avLst>
              <a:gd name="adj" fmla="val 20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95000"/>
              </a:lnSpc>
            </a:pPr>
            <a:r>
              <a:rPr sz="900" b="0">
                <a:solidFill>
                  <a:srgbClr val="121826"/>
                </a:solidFill>
                <a:latin typeface="Inter Medium"/>
              </a:rPr>
              <a:t>HTML Metadata Extraction</a:t>
            </a:r>
          </a:p>
        </p:txBody>
      </p:sp>
      <p:sp>
        <p:nvSpPr>
          <p:cNvPr id="14" name="Isosceles Triangle 13"/>
          <p:cNvSpPr/>
          <p:nvPr/>
        </p:nvSpPr>
        <p:spPr>
          <a:xfrm rot="5400000">
            <a:off x="6809014" y="1581912"/>
            <a:ext cx="93268" cy="109728"/>
          </a:xfrm>
          <a:prstGeom prst="triangle">
            <a:avLst/>
          </a:prstGeom>
          <a:solidFill>
            <a:srgbClr val="4F46E5">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941602" y="1353312"/>
            <a:ext cx="1365068" cy="566928"/>
          </a:xfrm>
          <a:prstGeom prst="roundRect">
            <a:avLst>
              <a:gd name="adj" fmla="val 20000"/>
            </a:avLst>
          </a:prstGeom>
          <a:solidFill>
            <a:srgbClr val="4F46E5">
              <a:alpha val="16000"/>
            </a:srgbClr>
          </a:solidFill>
          <a:ln w="12700">
            <a:solidFill>
              <a:srgbClr val="4F46E5">
                <a:alpha val="6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95000"/>
              </a:lnSpc>
            </a:pPr>
            <a:r>
              <a:rPr sz="900" b="0">
                <a:solidFill>
                  <a:srgbClr val="4338CA"/>
                </a:solidFill>
                <a:latin typeface="Inter Medium"/>
              </a:rPr>
              <a:t>Annotation Platform</a:t>
            </a:r>
          </a:p>
        </p:txBody>
      </p:sp>
      <p:sp>
        <p:nvSpPr>
          <p:cNvPr id="16" name="Isosceles Triangle 15"/>
          <p:cNvSpPr/>
          <p:nvPr/>
        </p:nvSpPr>
        <p:spPr>
          <a:xfrm rot="5400000">
            <a:off x="8338674" y="1581912"/>
            <a:ext cx="93268" cy="109728"/>
          </a:xfrm>
          <a:prstGeom prst="triangle">
            <a:avLst/>
          </a:prstGeom>
          <a:solidFill>
            <a:srgbClr val="4F46E5">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471262" y="1353312"/>
            <a:ext cx="1365068" cy="566928"/>
          </a:xfrm>
          <a:prstGeom prst="roundRect">
            <a:avLst>
              <a:gd name="adj" fmla="val 20000"/>
            </a:avLst>
          </a:prstGeom>
          <a:solidFill>
            <a:srgbClr val="4F46E5">
              <a:alpha val="16000"/>
            </a:srgbClr>
          </a:solidFill>
          <a:ln w="12700">
            <a:solidFill>
              <a:srgbClr val="4F46E5">
                <a:alpha val="6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95000"/>
              </a:lnSpc>
            </a:pPr>
            <a:r>
              <a:rPr sz="900" b="0">
                <a:solidFill>
                  <a:srgbClr val="4338CA"/>
                </a:solidFill>
                <a:latin typeface="Inter Medium"/>
              </a:rPr>
              <a:t>Semantic Dataset</a:t>
            </a:r>
          </a:p>
        </p:txBody>
      </p:sp>
      <p:sp>
        <p:nvSpPr>
          <p:cNvPr id="18" name="Isosceles Triangle 17"/>
          <p:cNvSpPr/>
          <p:nvPr/>
        </p:nvSpPr>
        <p:spPr>
          <a:xfrm rot="5400000">
            <a:off x="9868335" y="1581912"/>
            <a:ext cx="93268" cy="109728"/>
          </a:xfrm>
          <a:prstGeom prst="triangle">
            <a:avLst/>
          </a:prstGeom>
          <a:solidFill>
            <a:srgbClr val="4F46E5">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000923" y="1353312"/>
            <a:ext cx="1365068" cy="566928"/>
          </a:xfrm>
          <a:prstGeom prst="roundRect">
            <a:avLst>
              <a:gd name="adj" fmla="val 20000"/>
            </a:avLst>
          </a:prstGeom>
          <a:solidFill>
            <a:srgbClr val="4F46E5"/>
          </a:solidFill>
          <a:ln>
            <a:no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95000"/>
              </a:lnSpc>
            </a:pPr>
            <a:r>
              <a:rPr sz="900" b="1">
                <a:solidFill>
                  <a:srgbClr val="FFFFFF"/>
                </a:solidFill>
                <a:latin typeface="Poppins SemiBold"/>
              </a:rPr>
              <a:t>AI Training Dataset</a:t>
            </a:r>
          </a:p>
        </p:txBody>
      </p:sp>
      <p:sp>
        <p:nvSpPr>
          <p:cNvPr id="20" name="Rounded Rectangle 19"/>
          <p:cNvSpPr/>
          <p:nvPr/>
        </p:nvSpPr>
        <p:spPr>
          <a:xfrm>
            <a:off x="822960" y="2212848"/>
            <a:ext cx="3383280" cy="2542032"/>
          </a:xfrm>
          <a:prstGeom prst="roundRect">
            <a:avLst>
              <a:gd name="adj" fmla="val 8000"/>
            </a:avLst>
          </a:prstGeom>
          <a:solidFill>
            <a:srgbClr val="FFFFFF"/>
          </a:solidFill>
          <a:ln w="9525">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05840" y="2395728"/>
            <a:ext cx="347472" cy="347472"/>
          </a:xfrm>
          <a:prstGeom prst="roundRect">
            <a:avLst>
              <a:gd name="adj" fmla="val 30000"/>
            </a:avLst>
          </a:prstGeom>
          <a:solidFill>
            <a:srgbClr val="4338CA">
              <a:alpha val="16000"/>
            </a:srgbClr>
          </a:solidFill>
          <a:ln w="9525">
            <a:solidFill>
              <a:srgbClr val="4338CA">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ube 21"/>
          <p:cNvSpPr/>
          <p:nvPr/>
        </p:nvSpPr>
        <p:spPr>
          <a:xfrm>
            <a:off x="1096182" y="2486070"/>
            <a:ext cx="166786" cy="166786"/>
          </a:xfrm>
          <a:prstGeom prst="cub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463040" y="2414016"/>
            <a:ext cx="2560320" cy="219456"/>
          </a:xfrm>
          <a:prstGeom prst="rect">
            <a:avLst/>
          </a:prstGeom>
          <a:noFill/>
        </p:spPr>
        <p:txBody>
          <a:bodyPr wrap="square" anchor="t" lIns="18288" rIns="18288" tIns="9144" bIns="9144">
            <a:spAutoFit/>
          </a:bodyPr>
          <a:lstStyle/>
          <a:p>
            <a:pPr algn="l">
              <a:lnSpc>
                <a:spcPct val="100000"/>
              </a:lnSpc>
            </a:pPr>
            <a:r>
              <a:rPr sz="750" b="0" spc="200">
                <a:solidFill>
                  <a:srgbClr val="5D6675"/>
                </a:solidFill>
                <a:latin typeface="Inter Medium"/>
              </a:rPr>
              <a:t>CARD 01 · RAW</a:t>
            </a:r>
          </a:p>
        </p:txBody>
      </p:sp>
      <p:sp>
        <p:nvSpPr>
          <p:cNvPr id="24" name="TextBox 23"/>
          <p:cNvSpPr txBox="1"/>
          <p:nvPr/>
        </p:nvSpPr>
        <p:spPr>
          <a:xfrm>
            <a:off x="1463040" y="2596896"/>
            <a:ext cx="2651760" cy="256032"/>
          </a:xfrm>
          <a:prstGeom prst="rect">
            <a:avLst/>
          </a:prstGeom>
          <a:noFill/>
        </p:spPr>
        <p:txBody>
          <a:bodyPr wrap="square" anchor="t" lIns="18288" rIns="18288" tIns="9144" bIns="9144">
            <a:spAutoFit/>
          </a:bodyPr>
          <a:lstStyle/>
          <a:p>
            <a:pPr algn="l">
              <a:lnSpc>
                <a:spcPct val="100000"/>
              </a:lnSpc>
            </a:pPr>
            <a:r>
              <a:rPr sz="1300" b="1">
                <a:solidFill>
                  <a:srgbClr val="121826"/>
                </a:solidFill>
                <a:latin typeface="Poppins SemiBold"/>
              </a:rPr>
              <a:t>Raw HTML Dataset</a:t>
            </a:r>
          </a:p>
        </p:txBody>
      </p:sp>
      <p:sp>
        <p:nvSpPr>
          <p:cNvPr id="25" name="Rounded Rectangle 24"/>
          <p:cNvSpPr/>
          <p:nvPr/>
        </p:nvSpPr>
        <p:spPr>
          <a:xfrm>
            <a:off x="1005840" y="3035808"/>
            <a:ext cx="1463040" cy="310896"/>
          </a:xfrm>
          <a:prstGeom prst="roundRect">
            <a:avLst>
              <a:gd name="adj" fmla="val 40000"/>
            </a:avLst>
          </a:prstGeom>
          <a:solidFill>
            <a:srgbClr val="EDF0F5"/>
          </a:solidFill>
          <a:ln w="6350">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850" b="0">
                <a:solidFill>
                  <a:srgbClr val="5D6675"/>
                </a:solidFill>
                <a:latin typeface="Inter Medium"/>
              </a:rPr>
              <a:t>HTML</a:t>
            </a:r>
          </a:p>
        </p:txBody>
      </p:sp>
      <p:sp>
        <p:nvSpPr>
          <p:cNvPr id="26" name="Rounded Rectangle 25"/>
          <p:cNvSpPr/>
          <p:nvPr/>
        </p:nvSpPr>
        <p:spPr>
          <a:xfrm>
            <a:off x="2560320" y="3035808"/>
            <a:ext cx="1463040" cy="310896"/>
          </a:xfrm>
          <a:prstGeom prst="roundRect">
            <a:avLst>
              <a:gd name="adj" fmla="val 40000"/>
            </a:avLst>
          </a:prstGeom>
          <a:solidFill>
            <a:srgbClr val="EDF0F5"/>
          </a:solidFill>
          <a:ln w="6350">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850" b="0">
                <a:solidFill>
                  <a:srgbClr val="5D6675"/>
                </a:solidFill>
                <a:latin typeface="Inter Medium"/>
              </a:rPr>
              <a:t>Labels</a:t>
            </a:r>
          </a:p>
        </p:txBody>
      </p:sp>
      <p:sp>
        <p:nvSpPr>
          <p:cNvPr id="27" name="Rounded Rectangle 26"/>
          <p:cNvSpPr/>
          <p:nvPr/>
        </p:nvSpPr>
        <p:spPr>
          <a:xfrm>
            <a:off x="1005840" y="3438144"/>
            <a:ext cx="1463040" cy="310896"/>
          </a:xfrm>
          <a:prstGeom prst="roundRect">
            <a:avLst>
              <a:gd name="adj" fmla="val 40000"/>
            </a:avLst>
          </a:prstGeom>
          <a:solidFill>
            <a:srgbClr val="EDF0F5"/>
          </a:solidFill>
          <a:ln w="6350">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850" b="0">
                <a:solidFill>
                  <a:srgbClr val="5D6675"/>
                </a:solidFill>
                <a:latin typeface="Inter Medium"/>
              </a:rPr>
              <a:t>Placeholder</a:t>
            </a:r>
          </a:p>
        </p:txBody>
      </p:sp>
      <p:sp>
        <p:nvSpPr>
          <p:cNvPr id="28" name="Rounded Rectangle 27"/>
          <p:cNvSpPr/>
          <p:nvPr/>
        </p:nvSpPr>
        <p:spPr>
          <a:xfrm>
            <a:off x="2560320" y="3438144"/>
            <a:ext cx="1463040" cy="310896"/>
          </a:xfrm>
          <a:prstGeom prst="roundRect">
            <a:avLst>
              <a:gd name="adj" fmla="val 40000"/>
            </a:avLst>
          </a:prstGeom>
          <a:solidFill>
            <a:srgbClr val="EDF0F5"/>
          </a:solidFill>
          <a:ln w="6350">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850" b="0">
                <a:solidFill>
                  <a:srgbClr val="5D6675"/>
                </a:solidFill>
                <a:latin typeface="Inter Medium"/>
              </a:rPr>
              <a:t>XPath</a:t>
            </a:r>
          </a:p>
        </p:txBody>
      </p:sp>
      <p:sp>
        <p:nvSpPr>
          <p:cNvPr id="29" name="Rounded Rectangle 28"/>
          <p:cNvSpPr/>
          <p:nvPr/>
        </p:nvSpPr>
        <p:spPr>
          <a:xfrm>
            <a:off x="1005840" y="3840480"/>
            <a:ext cx="1463040" cy="310896"/>
          </a:xfrm>
          <a:prstGeom prst="roundRect">
            <a:avLst>
              <a:gd name="adj" fmla="val 40000"/>
            </a:avLst>
          </a:prstGeom>
          <a:solidFill>
            <a:srgbClr val="EDF0F5"/>
          </a:solidFill>
          <a:ln w="6350">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850" b="0">
                <a:solidFill>
                  <a:srgbClr val="5D6675"/>
                </a:solidFill>
                <a:latin typeface="Inter Medium"/>
              </a:rPr>
              <a:t>CSS Selector</a:t>
            </a:r>
          </a:p>
        </p:txBody>
      </p:sp>
      <p:sp>
        <p:nvSpPr>
          <p:cNvPr id="30" name="Rounded Rectangle 29"/>
          <p:cNvSpPr/>
          <p:nvPr/>
        </p:nvSpPr>
        <p:spPr>
          <a:xfrm>
            <a:off x="2560320" y="3840480"/>
            <a:ext cx="1463040" cy="310896"/>
          </a:xfrm>
          <a:prstGeom prst="roundRect">
            <a:avLst>
              <a:gd name="adj" fmla="val 40000"/>
            </a:avLst>
          </a:prstGeom>
          <a:solidFill>
            <a:srgbClr val="EDF0F5"/>
          </a:solidFill>
          <a:ln w="6350">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850" b="0">
                <a:solidFill>
                  <a:srgbClr val="5D6675"/>
                </a:solidFill>
                <a:latin typeface="Inter Medium"/>
              </a:rPr>
              <a:t>ARIA</a:t>
            </a:r>
          </a:p>
        </p:txBody>
      </p:sp>
      <p:sp>
        <p:nvSpPr>
          <p:cNvPr id="31" name="Rounded Rectangle 30"/>
          <p:cNvSpPr/>
          <p:nvPr/>
        </p:nvSpPr>
        <p:spPr>
          <a:xfrm>
            <a:off x="1005840" y="4242816"/>
            <a:ext cx="1463040" cy="310896"/>
          </a:xfrm>
          <a:prstGeom prst="roundRect">
            <a:avLst>
              <a:gd name="adj" fmla="val 40000"/>
            </a:avLst>
          </a:prstGeom>
          <a:solidFill>
            <a:srgbClr val="EDF0F5"/>
          </a:solidFill>
          <a:ln w="6350">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850" b="0">
                <a:solidFill>
                  <a:srgbClr val="5D6675"/>
                </a:solidFill>
                <a:latin typeface="Inter Medium"/>
              </a:rPr>
              <a:t>Nearby Text</a:t>
            </a:r>
          </a:p>
        </p:txBody>
      </p:sp>
      <p:sp>
        <p:nvSpPr>
          <p:cNvPr id="32" name="Rounded Rectangle 31"/>
          <p:cNvSpPr/>
          <p:nvPr/>
        </p:nvSpPr>
        <p:spPr>
          <a:xfrm>
            <a:off x="2560320" y="4242816"/>
            <a:ext cx="1463040" cy="310896"/>
          </a:xfrm>
          <a:prstGeom prst="roundRect">
            <a:avLst>
              <a:gd name="adj" fmla="val 40000"/>
            </a:avLst>
          </a:prstGeom>
          <a:solidFill>
            <a:srgbClr val="EDF0F5"/>
          </a:solidFill>
          <a:ln w="6350">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850" b="0">
                <a:solidFill>
                  <a:srgbClr val="5D6675"/>
                </a:solidFill>
                <a:latin typeface="Inter Medium"/>
              </a:rPr>
              <a:t>DOM Context</a:t>
            </a:r>
          </a:p>
        </p:txBody>
      </p:sp>
      <p:sp>
        <p:nvSpPr>
          <p:cNvPr id="33" name="Rounded Rectangle 32"/>
          <p:cNvSpPr/>
          <p:nvPr/>
        </p:nvSpPr>
        <p:spPr>
          <a:xfrm>
            <a:off x="4407408" y="2212848"/>
            <a:ext cx="3383280" cy="2542032"/>
          </a:xfrm>
          <a:prstGeom prst="roundRect">
            <a:avLst>
              <a:gd name="adj" fmla="val 8000"/>
            </a:avLst>
          </a:prstGeom>
          <a:solidFill>
            <a:srgbClr val="FFFFFF"/>
          </a:solidFill>
          <a:ln w="9525">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590288" y="2395728"/>
            <a:ext cx="347472" cy="347472"/>
          </a:xfrm>
          <a:prstGeom prst="roundRect">
            <a:avLst>
              <a:gd name="adj" fmla="val 30000"/>
            </a:avLst>
          </a:prstGeom>
          <a:solidFill>
            <a:srgbClr val="059669">
              <a:alpha val="16000"/>
            </a:srgbClr>
          </a:solidFill>
          <a:ln w="9525">
            <a:solidFill>
              <a:srgbClr val="059669">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Diamond 34"/>
          <p:cNvSpPr/>
          <p:nvPr/>
        </p:nvSpPr>
        <p:spPr>
          <a:xfrm>
            <a:off x="4680630" y="2486070"/>
            <a:ext cx="166786" cy="166786"/>
          </a:xfrm>
          <a:prstGeom prst="diamond">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47488" y="2414016"/>
            <a:ext cx="2560320" cy="219456"/>
          </a:xfrm>
          <a:prstGeom prst="rect">
            <a:avLst/>
          </a:prstGeom>
          <a:noFill/>
        </p:spPr>
        <p:txBody>
          <a:bodyPr wrap="square" anchor="t" lIns="18288" rIns="18288" tIns="9144" bIns="9144">
            <a:spAutoFit/>
          </a:bodyPr>
          <a:lstStyle/>
          <a:p>
            <a:pPr algn="l">
              <a:lnSpc>
                <a:spcPct val="100000"/>
              </a:lnSpc>
            </a:pPr>
            <a:r>
              <a:rPr sz="750" b="0" spc="200">
                <a:solidFill>
                  <a:srgbClr val="5D6675"/>
                </a:solidFill>
                <a:latin typeface="Inter Medium"/>
              </a:rPr>
              <a:t>CARD 02 · GROUND TRUTH</a:t>
            </a:r>
          </a:p>
        </p:txBody>
      </p:sp>
      <p:sp>
        <p:nvSpPr>
          <p:cNvPr id="37" name="TextBox 36"/>
          <p:cNvSpPr txBox="1"/>
          <p:nvPr/>
        </p:nvSpPr>
        <p:spPr>
          <a:xfrm>
            <a:off x="5047488" y="2596896"/>
            <a:ext cx="2697480" cy="256032"/>
          </a:xfrm>
          <a:prstGeom prst="rect">
            <a:avLst/>
          </a:prstGeom>
          <a:noFill/>
        </p:spPr>
        <p:txBody>
          <a:bodyPr wrap="square" anchor="t" lIns="18288" rIns="18288" tIns="9144" bIns="9144">
            <a:spAutoFit/>
          </a:bodyPr>
          <a:lstStyle/>
          <a:p>
            <a:pPr algn="l">
              <a:lnSpc>
                <a:spcPct val="100000"/>
              </a:lnSpc>
            </a:pPr>
            <a:r>
              <a:rPr sz="1250" b="1">
                <a:solidFill>
                  <a:srgbClr val="121826"/>
                </a:solidFill>
                <a:latin typeface="Poppins SemiBold"/>
              </a:rPr>
              <a:t>Semantic Annotation Dataset</a:t>
            </a:r>
          </a:p>
        </p:txBody>
      </p:sp>
      <p:sp>
        <p:nvSpPr>
          <p:cNvPr id="38" name="Oval 37"/>
          <p:cNvSpPr/>
          <p:nvPr/>
        </p:nvSpPr>
        <p:spPr>
          <a:xfrm>
            <a:off x="4608576" y="3163824"/>
            <a:ext cx="73152" cy="73152"/>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791456" y="3090672"/>
            <a:ext cx="1737360" cy="256032"/>
          </a:xfrm>
          <a:prstGeom prst="rect">
            <a:avLst/>
          </a:prstGeom>
          <a:noFill/>
        </p:spPr>
        <p:txBody>
          <a:bodyPr wrap="square" anchor="t" lIns="18288" rIns="18288" tIns="9144" bIns="9144">
            <a:spAutoFit/>
          </a:bodyPr>
          <a:lstStyle/>
          <a:p>
            <a:pPr algn="l">
              <a:lnSpc>
                <a:spcPct val="100000"/>
              </a:lnSpc>
            </a:pPr>
            <a:r>
              <a:rPr sz="950" b="0">
                <a:solidFill>
                  <a:srgbClr val="121826"/>
                </a:solidFill>
                <a:latin typeface="Inter Medium"/>
              </a:rPr>
              <a:t>Ground Truth Labels</a:t>
            </a:r>
          </a:p>
        </p:txBody>
      </p:sp>
      <p:sp>
        <p:nvSpPr>
          <p:cNvPr id="40" name="TextBox 39"/>
          <p:cNvSpPr txBox="1"/>
          <p:nvPr/>
        </p:nvSpPr>
        <p:spPr>
          <a:xfrm>
            <a:off x="6419088" y="3090672"/>
            <a:ext cx="1188720" cy="256032"/>
          </a:xfrm>
          <a:prstGeom prst="rect">
            <a:avLst/>
          </a:prstGeom>
          <a:noFill/>
        </p:spPr>
        <p:txBody>
          <a:bodyPr wrap="square" anchor="t" lIns="18288" rIns="18288" tIns="9144" bIns="9144">
            <a:spAutoFit/>
          </a:bodyPr>
          <a:lstStyle/>
          <a:p>
            <a:pPr algn="r">
              <a:lnSpc>
                <a:spcPct val="100000"/>
              </a:lnSpc>
            </a:pPr>
            <a:r>
              <a:rPr sz="850" b="0">
                <a:solidFill>
                  <a:srgbClr val="5D6675"/>
                </a:solidFill>
                <a:latin typeface="Inter"/>
              </a:rPr>
              <a:t>100+ classes</a:t>
            </a:r>
          </a:p>
        </p:txBody>
      </p:sp>
      <p:sp>
        <p:nvSpPr>
          <p:cNvPr id="41" name="Oval 40"/>
          <p:cNvSpPr/>
          <p:nvPr/>
        </p:nvSpPr>
        <p:spPr>
          <a:xfrm>
            <a:off x="4608576" y="3483864"/>
            <a:ext cx="73152" cy="73152"/>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791456" y="3410712"/>
            <a:ext cx="1737360" cy="256032"/>
          </a:xfrm>
          <a:prstGeom prst="rect">
            <a:avLst/>
          </a:prstGeom>
          <a:noFill/>
        </p:spPr>
        <p:txBody>
          <a:bodyPr wrap="square" anchor="t" lIns="18288" rIns="18288" tIns="9144" bIns="9144">
            <a:spAutoFit/>
          </a:bodyPr>
          <a:lstStyle/>
          <a:p>
            <a:pPr algn="l">
              <a:lnSpc>
                <a:spcPct val="100000"/>
              </a:lnSpc>
            </a:pPr>
            <a:r>
              <a:rPr sz="950" b="0">
                <a:solidFill>
                  <a:srgbClr val="121826"/>
                </a:solidFill>
                <a:latin typeface="Inter Medium"/>
              </a:rPr>
              <a:t>Category</a:t>
            </a:r>
          </a:p>
        </p:txBody>
      </p:sp>
      <p:sp>
        <p:nvSpPr>
          <p:cNvPr id="43" name="TextBox 42"/>
          <p:cNvSpPr txBox="1"/>
          <p:nvPr/>
        </p:nvSpPr>
        <p:spPr>
          <a:xfrm>
            <a:off x="6419088" y="3410712"/>
            <a:ext cx="1188720" cy="256032"/>
          </a:xfrm>
          <a:prstGeom prst="rect">
            <a:avLst/>
          </a:prstGeom>
          <a:noFill/>
        </p:spPr>
        <p:txBody>
          <a:bodyPr wrap="square" anchor="t" lIns="18288" rIns="18288" tIns="9144" bIns="9144">
            <a:spAutoFit/>
          </a:bodyPr>
          <a:lstStyle/>
          <a:p>
            <a:pPr algn="r">
              <a:lnSpc>
                <a:spcPct val="100000"/>
              </a:lnSpc>
            </a:pPr>
            <a:r>
              <a:rPr sz="850" b="0">
                <a:solidFill>
                  <a:srgbClr val="5D6675"/>
                </a:solidFill>
                <a:latin typeface="Inter"/>
              </a:rPr>
              <a:t>8 groups</a:t>
            </a:r>
          </a:p>
        </p:txBody>
      </p:sp>
      <p:sp>
        <p:nvSpPr>
          <p:cNvPr id="44" name="Oval 43"/>
          <p:cNvSpPr/>
          <p:nvPr/>
        </p:nvSpPr>
        <p:spPr>
          <a:xfrm>
            <a:off x="4608576" y="3803904"/>
            <a:ext cx="73152" cy="73152"/>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791456" y="3730752"/>
            <a:ext cx="1737360" cy="256032"/>
          </a:xfrm>
          <a:prstGeom prst="rect">
            <a:avLst/>
          </a:prstGeom>
          <a:noFill/>
        </p:spPr>
        <p:txBody>
          <a:bodyPr wrap="square" anchor="t" lIns="18288" rIns="18288" tIns="9144" bIns="9144">
            <a:spAutoFit/>
          </a:bodyPr>
          <a:lstStyle/>
          <a:p>
            <a:pPr algn="l">
              <a:lnSpc>
                <a:spcPct val="100000"/>
              </a:lnSpc>
            </a:pPr>
            <a:r>
              <a:rPr sz="950" b="0">
                <a:solidFill>
                  <a:srgbClr val="121826"/>
                </a:solidFill>
                <a:latin typeface="Inter Medium"/>
              </a:rPr>
              <a:t>Reviewer</a:t>
            </a:r>
          </a:p>
        </p:txBody>
      </p:sp>
      <p:sp>
        <p:nvSpPr>
          <p:cNvPr id="46" name="TextBox 45"/>
          <p:cNvSpPr txBox="1"/>
          <p:nvPr/>
        </p:nvSpPr>
        <p:spPr>
          <a:xfrm>
            <a:off x="6419088" y="3730752"/>
            <a:ext cx="1188720" cy="256032"/>
          </a:xfrm>
          <a:prstGeom prst="rect">
            <a:avLst/>
          </a:prstGeom>
          <a:noFill/>
        </p:spPr>
        <p:txBody>
          <a:bodyPr wrap="square" anchor="t" lIns="18288" rIns="18288" tIns="9144" bIns="9144">
            <a:spAutoFit/>
          </a:bodyPr>
          <a:lstStyle/>
          <a:p>
            <a:pPr algn="r">
              <a:lnSpc>
                <a:spcPct val="100000"/>
              </a:lnSpc>
            </a:pPr>
            <a:r>
              <a:rPr sz="850" b="0">
                <a:solidFill>
                  <a:srgbClr val="5D6675"/>
                </a:solidFill>
                <a:latin typeface="Inter"/>
              </a:rPr>
              <a:t>dual review</a:t>
            </a:r>
          </a:p>
        </p:txBody>
      </p:sp>
      <p:sp>
        <p:nvSpPr>
          <p:cNvPr id="47" name="Oval 46"/>
          <p:cNvSpPr/>
          <p:nvPr/>
        </p:nvSpPr>
        <p:spPr>
          <a:xfrm>
            <a:off x="4608576" y="4123944"/>
            <a:ext cx="73152" cy="73152"/>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791456" y="4050791"/>
            <a:ext cx="1737360" cy="256032"/>
          </a:xfrm>
          <a:prstGeom prst="rect">
            <a:avLst/>
          </a:prstGeom>
          <a:noFill/>
        </p:spPr>
        <p:txBody>
          <a:bodyPr wrap="square" anchor="t" lIns="18288" rIns="18288" tIns="9144" bIns="9144">
            <a:spAutoFit/>
          </a:bodyPr>
          <a:lstStyle/>
          <a:p>
            <a:pPr algn="l">
              <a:lnSpc>
                <a:spcPct val="100000"/>
              </a:lnSpc>
            </a:pPr>
            <a:r>
              <a:rPr sz="950" b="0">
                <a:solidFill>
                  <a:srgbClr val="121826"/>
                </a:solidFill>
                <a:latin typeface="Inter Medium"/>
              </a:rPr>
              <a:t>Confidence</a:t>
            </a:r>
          </a:p>
        </p:txBody>
      </p:sp>
      <p:sp>
        <p:nvSpPr>
          <p:cNvPr id="49" name="TextBox 48"/>
          <p:cNvSpPr txBox="1"/>
          <p:nvPr/>
        </p:nvSpPr>
        <p:spPr>
          <a:xfrm>
            <a:off x="6419088" y="4050791"/>
            <a:ext cx="1188720" cy="256032"/>
          </a:xfrm>
          <a:prstGeom prst="rect">
            <a:avLst/>
          </a:prstGeom>
          <a:noFill/>
        </p:spPr>
        <p:txBody>
          <a:bodyPr wrap="square" anchor="t" lIns="18288" rIns="18288" tIns="9144" bIns="9144">
            <a:spAutoFit/>
          </a:bodyPr>
          <a:lstStyle/>
          <a:p>
            <a:pPr algn="r">
              <a:lnSpc>
                <a:spcPct val="100000"/>
              </a:lnSpc>
            </a:pPr>
            <a:r>
              <a:rPr sz="850" b="0">
                <a:solidFill>
                  <a:srgbClr val="5D6675"/>
                </a:solidFill>
                <a:latin typeface="Inter"/>
              </a:rPr>
              <a:t>0–1 score</a:t>
            </a:r>
          </a:p>
        </p:txBody>
      </p:sp>
      <p:sp>
        <p:nvSpPr>
          <p:cNvPr id="50" name="Oval 49"/>
          <p:cNvSpPr/>
          <p:nvPr/>
        </p:nvSpPr>
        <p:spPr>
          <a:xfrm>
            <a:off x="4608576" y="4443983"/>
            <a:ext cx="73152" cy="73152"/>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791456" y="4370831"/>
            <a:ext cx="1737360" cy="256032"/>
          </a:xfrm>
          <a:prstGeom prst="rect">
            <a:avLst/>
          </a:prstGeom>
          <a:noFill/>
        </p:spPr>
        <p:txBody>
          <a:bodyPr wrap="square" anchor="t" lIns="18288" rIns="18288" tIns="9144" bIns="9144">
            <a:spAutoFit/>
          </a:bodyPr>
          <a:lstStyle/>
          <a:p>
            <a:pPr algn="l">
              <a:lnSpc>
                <a:spcPct val="100000"/>
              </a:lnSpc>
            </a:pPr>
            <a:r>
              <a:rPr sz="950" b="0">
                <a:solidFill>
                  <a:srgbClr val="121826"/>
                </a:solidFill>
                <a:latin typeface="Inter Medium"/>
              </a:rPr>
              <a:t>Version</a:t>
            </a:r>
          </a:p>
        </p:txBody>
      </p:sp>
      <p:sp>
        <p:nvSpPr>
          <p:cNvPr id="52" name="TextBox 51"/>
          <p:cNvSpPr txBox="1"/>
          <p:nvPr/>
        </p:nvSpPr>
        <p:spPr>
          <a:xfrm>
            <a:off x="6419088" y="4370831"/>
            <a:ext cx="1188720" cy="256032"/>
          </a:xfrm>
          <a:prstGeom prst="rect">
            <a:avLst/>
          </a:prstGeom>
          <a:noFill/>
        </p:spPr>
        <p:txBody>
          <a:bodyPr wrap="square" anchor="t" lIns="18288" rIns="18288" tIns="9144" bIns="9144">
            <a:spAutoFit/>
          </a:bodyPr>
          <a:lstStyle/>
          <a:p>
            <a:pPr algn="r">
              <a:lnSpc>
                <a:spcPct val="100000"/>
              </a:lnSpc>
            </a:pPr>
            <a:r>
              <a:rPr sz="850" b="0">
                <a:solidFill>
                  <a:srgbClr val="5D6675"/>
                </a:solidFill>
                <a:latin typeface="Inter"/>
              </a:rPr>
              <a:t>v1.0 · tracked</a:t>
            </a:r>
          </a:p>
        </p:txBody>
      </p:sp>
      <p:sp>
        <p:nvSpPr>
          <p:cNvPr id="53" name="Rounded Rectangle 52"/>
          <p:cNvSpPr/>
          <p:nvPr/>
        </p:nvSpPr>
        <p:spPr>
          <a:xfrm>
            <a:off x="7991856" y="2212848"/>
            <a:ext cx="3383280" cy="2542032"/>
          </a:xfrm>
          <a:prstGeom prst="roundRect">
            <a:avLst>
              <a:gd name="adj" fmla="val 8000"/>
            </a:avLst>
          </a:prstGeom>
          <a:solidFill>
            <a:srgbClr val="FFFFFF"/>
          </a:solidFill>
          <a:ln w="9525">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8174736" y="2395728"/>
            <a:ext cx="347472" cy="347472"/>
          </a:xfrm>
          <a:prstGeom prst="roundRect">
            <a:avLst>
              <a:gd name="adj" fmla="val 30000"/>
            </a:avLst>
          </a:prstGeom>
          <a:solidFill>
            <a:srgbClr val="D97706">
              <a:alpha val="16000"/>
            </a:srgbClr>
          </a:solidFill>
          <a:ln w="9525">
            <a:solidFill>
              <a:srgbClr val="D97706">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Hexagon 54"/>
          <p:cNvSpPr/>
          <p:nvPr/>
        </p:nvSpPr>
        <p:spPr>
          <a:xfrm>
            <a:off x="8265078" y="2486070"/>
            <a:ext cx="166786" cy="166786"/>
          </a:xfrm>
          <a:prstGeom prst="hexagon">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631936" y="2414016"/>
            <a:ext cx="2560320" cy="219456"/>
          </a:xfrm>
          <a:prstGeom prst="rect">
            <a:avLst/>
          </a:prstGeom>
          <a:noFill/>
        </p:spPr>
        <p:txBody>
          <a:bodyPr wrap="square" anchor="t" lIns="18288" rIns="18288" tIns="9144" bIns="9144">
            <a:spAutoFit/>
          </a:bodyPr>
          <a:lstStyle/>
          <a:p>
            <a:pPr algn="l">
              <a:lnSpc>
                <a:spcPct val="100000"/>
              </a:lnSpc>
            </a:pPr>
            <a:r>
              <a:rPr sz="750" b="0" spc="200">
                <a:solidFill>
                  <a:srgbClr val="5D6675"/>
                </a:solidFill>
                <a:latin typeface="Inter Medium"/>
              </a:rPr>
              <a:t>CARD 03 · KNOWLEDGE</a:t>
            </a:r>
          </a:p>
        </p:txBody>
      </p:sp>
      <p:sp>
        <p:nvSpPr>
          <p:cNvPr id="57" name="TextBox 56"/>
          <p:cNvSpPr txBox="1"/>
          <p:nvPr/>
        </p:nvSpPr>
        <p:spPr>
          <a:xfrm>
            <a:off x="8631936" y="2596896"/>
            <a:ext cx="2651760" cy="256032"/>
          </a:xfrm>
          <a:prstGeom prst="rect">
            <a:avLst/>
          </a:prstGeom>
          <a:noFill/>
        </p:spPr>
        <p:txBody>
          <a:bodyPr wrap="square" anchor="t" lIns="18288" rIns="18288" tIns="9144" bIns="9144">
            <a:spAutoFit/>
          </a:bodyPr>
          <a:lstStyle/>
          <a:p>
            <a:pPr algn="l">
              <a:lnSpc>
                <a:spcPct val="100000"/>
              </a:lnSpc>
            </a:pPr>
            <a:r>
              <a:rPr sz="1300" b="1">
                <a:solidFill>
                  <a:srgbClr val="121826"/>
                </a:solidFill>
                <a:latin typeface="Poppins SemiBold"/>
              </a:rPr>
              <a:t>Portal Knowledge Graph</a:t>
            </a:r>
          </a:p>
        </p:txBody>
      </p:sp>
      <p:sp>
        <p:nvSpPr>
          <p:cNvPr id="58" name="Oval 57"/>
          <p:cNvSpPr/>
          <p:nvPr/>
        </p:nvSpPr>
        <p:spPr>
          <a:xfrm>
            <a:off x="8193024" y="3200400"/>
            <a:ext cx="73152" cy="7315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375904" y="3127248"/>
            <a:ext cx="1783080" cy="256032"/>
          </a:xfrm>
          <a:prstGeom prst="rect">
            <a:avLst/>
          </a:prstGeom>
          <a:noFill/>
        </p:spPr>
        <p:txBody>
          <a:bodyPr wrap="square" anchor="t" lIns="18288" rIns="18288" tIns="9144" bIns="9144">
            <a:spAutoFit/>
          </a:bodyPr>
          <a:lstStyle/>
          <a:p>
            <a:pPr algn="l">
              <a:lnSpc>
                <a:spcPct val="100000"/>
              </a:lnSpc>
            </a:pPr>
            <a:r>
              <a:rPr sz="950" b="0">
                <a:solidFill>
                  <a:srgbClr val="121826"/>
                </a:solidFill>
                <a:latin typeface="Inter Medium"/>
              </a:rPr>
              <a:t>Portal</a:t>
            </a:r>
          </a:p>
        </p:txBody>
      </p:sp>
      <p:sp>
        <p:nvSpPr>
          <p:cNvPr id="60" name="TextBox 59"/>
          <p:cNvSpPr txBox="1"/>
          <p:nvPr/>
        </p:nvSpPr>
        <p:spPr>
          <a:xfrm>
            <a:off x="10049256" y="3127248"/>
            <a:ext cx="1143000" cy="256032"/>
          </a:xfrm>
          <a:prstGeom prst="rect">
            <a:avLst/>
          </a:prstGeom>
          <a:noFill/>
        </p:spPr>
        <p:txBody>
          <a:bodyPr wrap="square" anchor="t" lIns="18288" rIns="18288" tIns="9144" bIns="9144">
            <a:spAutoFit/>
          </a:bodyPr>
          <a:lstStyle/>
          <a:p>
            <a:pPr algn="r">
              <a:lnSpc>
                <a:spcPct val="100000"/>
              </a:lnSpc>
            </a:pPr>
            <a:r>
              <a:rPr sz="850" b="0">
                <a:solidFill>
                  <a:srgbClr val="5D6675"/>
                </a:solidFill>
                <a:latin typeface="Inter"/>
              </a:rPr>
              <a:t>50+ sites</a:t>
            </a:r>
          </a:p>
        </p:txBody>
      </p:sp>
      <p:sp>
        <p:nvSpPr>
          <p:cNvPr id="61" name="Oval 60"/>
          <p:cNvSpPr/>
          <p:nvPr/>
        </p:nvSpPr>
        <p:spPr>
          <a:xfrm>
            <a:off x="8193024" y="3547872"/>
            <a:ext cx="73152" cy="7315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375904" y="3474720"/>
            <a:ext cx="1783080" cy="256032"/>
          </a:xfrm>
          <a:prstGeom prst="rect">
            <a:avLst/>
          </a:prstGeom>
          <a:noFill/>
        </p:spPr>
        <p:txBody>
          <a:bodyPr wrap="square" anchor="t" lIns="18288" rIns="18288" tIns="9144" bIns="9144">
            <a:spAutoFit/>
          </a:bodyPr>
          <a:lstStyle/>
          <a:p>
            <a:pPr algn="l">
              <a:lnSpc>
                <a:spcPct val="100000"/>
              </a:lnSpc>
            </a:pPr>
            <a:r>
              <a:rPr sz="950" b="0">
                <a:solidFill>
                  <a:srgbClr val="121826"/>
                </a:solidFill>
                <a:latin typeface="Inter Medium"/>
              </a:rPr>
              <a:t>Framework</a:t>
            </a:r>
          </a:p>
        </p:txBody>
      </p:sp>
      <p:sp>
        <p:nvSpPr>
          <p:cNvPr id="63" name="TextBox 62"/>
          <p:cNvSpPr txBox="1"/>
          <p:nvPr/>
        </p:nvSpPr>
        <p:spPr>
          <a:xfrm>
            <a:off x="10049256" y="3474720"/>
            <a:ext cx="1143000" cy="256032"/>
          </a:xfrm>
          <a:prstGeom prst="rect">
            <a:avLst/>
          </a:prstGeom>
          <a:noFill/>
        </p:spPr>
        <p:txBody>
          <a:bodyPr wrap="square" anchor="t" lIns="18288" rIns="18288" tIns="9144" bIns="9144">
            <a:spAutoFit/>
          </a:bodyPr>
          <a:lstStyle/>
          <a:p>
            <a:pPr algn="r">
              <a:lnSpc>
                <a:spcPct val="100000"/>
              </a:lnSpc>
            </a:pPr>
            <a:r>
              <a:rPr sz="850" b="0">
                <a:solidFill>
                  <a:srgbClr val="5D6675"/>
                </a:solidFill>
                <a:latin typeface="Inter"/>
              </a:rPr>
              <a:t>React · custom</a:t>
            </a:r>
          </a:p>
        </p:txBody>
      </p:sp>
      <p:sp>
        <p:nvSpPr>
          <p:cNvPr id="64" name="Oval 63"/>
          <p:cNvSpPr/>
          <p:nvPr/>
        </p:nvSpPr>
        <p:spPr>
          <a:xfrm>
            <a:off x="8193024" y="3895344"/>
            <a:ext cx="73152" cy="7315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375904" y="3822191"/>
            <a:ext cx="1783080" cy="256032"/>
          </a:xfrm>
          <a:prstGeom prst="rect">
            <a:avLst/>
          </a:prstGeom>
          <a:noFill/>
        </p:spPr>
        <p:txBody>
          <a:bodyPr wrap="square" anchor="t" lIns="18288" rIns="18288" tIns="9144" bIns="9144">
            <a:spAutoFit/>
          </a:bodyPr>
          <a:lstStyle/>
          <a:p>
            <a:pPr algn="l">
              <a:lnSpc>
                <a:spcPct val="100000"/>
              </a:lnSpc>
            </a:pPr>
            <a:r>
              <a:rPr sz="950" b="0">
                <a:solidFill>
                  <a:srgbClr val="121826"/>
                </a:solidFill>
                <a:latin typeface="Inter Medium"/>
              </a:rPr>
              <a:t>Field Dictionary</a:t>
            </a:r>
          </a:p>
        </p:txBody>
      </p:sp>
      <p:sp>
        <p:nvSpPr>
          <p:cNvPr id="66" name="TextBox 65"/>
          <p:cNvSpPr txBox="1"/>
          <p:nvPr/>
        </p:nvSpPr>
        <p:spPr>
          <a:xfrm>
            <a:off x="10049256" y="3822191"/>
            <a:ext cx="1143000" cy="256032"/>
          </a:xfrm>
          <a:prstGeom prst="rect">
            <a:avLst/>
          </a:prstGeom>
          <a:noFill/>
        </p:spPr>
        <p:txBody>
          <a:bodyPr wrap="square" anchor="t" lIns="18288" rIns="18288" tIns="9144" bIns="9144">
            <a:spAutoFit/>
          </a:bodyPr>
          <a:lstStyle/>
          <a:p>
            <a:pPr algn="r">
              <a:lnSpc>
                <a:spcPct val="100000"/>
              </a:lnSpc>
            </a:pPr>
            <a:r>
              <a:rPr sz="850" b="0">
                <a:solidFill>
                  <a:srgbClr val="5D6675"/>
                </a:solidFill>
                <a:latin typeface="Inter"/>
              </a:rPr>
              <a:t>per-portal map</a:t>
            </a:r>
          </a:p>
        </p:txBody>
      </p:sp>
      <p:sp>
        <p:nvSpPr>
          <p:cNvPr id="67" name="Oval 66"/>
          <p:cNvSpPr/>
          <p:nvPr/>
        </p:nvSpPr>
        <p:spPr>
          <a:xfrm>
            <a:off x="8193024" y="4242816"/>
            <a:ext cx="73152" cy="7315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375904" y="4169664"/>
            <a:ext cx="1783080" cy="256032"/>
          </a:xfrm>
          <a:prstGeom prst="rect">
            <a:avLst/>
          </a:prstGeom>
          <a:noFill/>
        </p:spPr>
        <p:txBody>
          <a:bodyPr wrap="square" anchor="t" lIns="18288" rIns="18288" tIns="9144" bIns="9144">
            <a:spAutoFit/>
          </a:bodyPr>
          <a:lstStyle/>
          <a:p>
            <a:pPr algn="l">
              <a:lnSpc>
                <a:spcPct val="100000"/>
              </a:lnSpc>
            </a:pPr>
            <a:r>
              <a:rPr sz="950" b="0">
                <a:solidFill>
                  <a:srgbClr val="121826"/>
                </a:solidFill>
                <a:latin typeface="Inter Medium"/>
              </a:rPr>
              <a:t>Semantic Relationships</a:t>
            </a:r>
          </a:p>
        </p:txBody>
      </p:sp>
      <p:sp>
        <p:nvSpPr>
          <p:cNvPr id="69" name="TextBox 68"/>
          <p:cNvSpPr txBox="1"/>
          <p:nvPr/>
        </p:nvSpPr>
        <p:spPr>
          <a:xfrm>
            <a:off x="10049256" y="4169664"/>
            <a:ext cx="1143000" cy="256032"/>
          </a:xfrm>
          <a:prstGeom prst="rect">
            <a:avLst/>
          </a:prstGeom>
          <a:noFill/>
        </p:spPr>
        <p:txBody>
          <a:bodyPr wrap="square" anchor="t" lIns="18288" rIns="18288" tIns="9144" bIns="9144">
            <a:spAutoFit/>
          </a:bodyPr>
          <a:lstStyle/>
          <a:p>
            <a:pPr algn="r">
              <a:lnSpc>
                <a:spcPct val="100000"/>
              </a:lnSpc>
            </a:pPr>
            <a:r>
              <a:rPr sz="850" b="0">
                <a:solidFill>
                  <a:srgbClr val="5D6675"/>
                </a:solidFill>
                <a:latin typeface="Inter"/>
              </a:rPr>
              <a:t>ontology edges</a:t>
            </a:r>
          </a:p>
        </p:txBody>
      </p:sp>
      <p:sp>
        <p:nvSpPr>
          <p:cNvPr id="70" name="Rounded Rectangle 69"/>
          <p:cNvSpPr/>
          <p:nvPr/>
        </p:nvSpPr>
        <p:spPr>
          <a:xfrm>
            <a:off x="822960" y="4956048"/>
            <a:ext cx="10561320" cy="1298448"/>
          </a:xfrm>
          <a:prstGeom prst="roundRect">
            <a:avLst>
              <a:gd name="adj" fmla="val 8000"/>
            </a:avLst>
          </a:prstGeom>
          <a:solidFill>
            <a:srgbClr val="EDF0F5"/>
          </a:solidFill>
          <a:ln w="9525">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078992" y="5120640"/>
            <a:ext cx="2743200" cy="219456"/>
          </a:xfrm>
          <a:prstGeom prst="rect">
            <a:avLst/>
          </a:prstGeom>
          <a:noFill/>
        </p:spPr>
        <p:txBody>
          <a:bodyPr wrap="square" anchor="t" lIns="18288" rIns="18288" tIns="9144" bIns="9144">
            <a:spAutoFit/>
          </a:bodyPr>
          <a:lstStyle/>
          <a:p>
            <a:pPr algn="l">
              <a:lnSpc>
                <a:spcPct val="100000"/>
              </a:lnSpc>
            </a:pPr>
            <a:r>
              <a:rPr sz="1000" b="0" spc="300">
                <a:solidFill>
                  <a:srgbClr val="4338CA"/>
                </a:solidFill>
                <a:latin typeface="Inter Medium"/>
              </a:rPr>
              <a:t>RESEARCH TARGET</a:t>
            </a:r>
          </a:p>
        </p:txBody>
      </p:sp>
      <p:sp>
        <p:nvSpPr>
          <p:cNvPr id="72" name="TextBox 71"/>
          <p:cNvSpPr txBox="1"/>
          <p:nvPr/>
        </p:nvSpPr>
        <p:spPr>
          <a:xfrm>
            <a:off x="3977639" y="5102352"/>
            <a:ext cx="2286000" cy="502920"/>
          </a:xfrm>
          <a:prstGeom prst="rect">
            <a:avLst/>
          </a:prstGeom>
          <a:noFill/>
        </p:spPr>
        <p:txBody>
          <a:bodyPr wrap="square" anchor="t" lIns="18288" rIns="18288" tIns="9144" bIns="9144">
            <a:spAutoFit/>
          </a:bodyPr>
          <a:lstStyle/>
          <a:p>
            <a:pPr algn="l">
              <a:lnSpc>
                <a:spcPct val="100000"/>
              </a:lnSpc>
            </a:pPr>
            <a:r>
              <a:rPr sz="2700" b="1">
                <a:solidFill>
                  <a:srgbClr val="4338CA"/>
                </a:solidFill>
                <a:latin typeface="Poppins ExtraBold"/>
              </a:rPr>
              <a:t>50+</a:t>
            </a:r>
          </a:p>
        </p:txBody>
      </p:sp>
      <p:sp>
        <p:nvSpPr>
          <p:cNvPr id="73" name="TextBox 72"/>
          <p:cNvSpPr txBox="1"/>
          <p:nvPr/>
        </p:nvSpPr>
        <p:spPr>
          <a:xfrm>
            <a:off x="3977639" y="5687568"/>
            <a:ext cx="2286000" cy="274320"/>
          </a:xfrm>
          <a:prstGeom prst="rect">
            <a:avLst/>
          </a:prstGeom>
          <a:noFill/>
        </p:spPr>
        <p:txBody>
          <a:bodyPr wrap="square" anchor="t" lIns="18288" rIns="18288" tIns="9144" bIns="9144">
            <a:spAutoFit/>
          </a:bodyPr>
          <a:lstStyle/>
          <a:p>
            <a:pPr algn="l">
              <a:lnSpc>
                <a:spcPct val="100000"/>
              </a:lnSpc>
            </a:pPr>
            <a:r>
              <a:rPr sz="1100" b="0">
                <a:solidFill>
                  <a:srgbClr val="5D6675"/>
                </a:solidFill>
                <a:latin typeface="Inter Medium"/>
              </a:rPr>
              <a:t>Recruitment Websites</a:t>
            </a:r>
          </a:p>
        </p:txBody>
      </p:sp>
      <p:sp>
        <p:nvSpPr>
          <p:cNvPr id="74" name="TextBox 73"/>
          <p:cNvSpPr txBox="1"/>
          <p:nvPr/>
        </p:nvSpPr>
        <p:spPr>
          <a:xfrm>
            <a:off x="6492240" y="5102352"/>
            <a:ext cx="2286000" cy="502920"/>
          </a:xfrm>
          <a:prstGeom prst="rect">
            <a:avLst/>
          </a:prstGeom>
          <a:noFill/>
        </p:spPr>
        <p:txBody>
          <a:bodyPr wrap="square" anchor="t" lIns="18288" rIns="18288" tIns="9144" bIns="9144">
            <a:spAutoFit/>
          </a:bodyPr>
          <a:lstStyle/>
          <a:p>
            <a:pPr algn="l">
              <a:lnSpc>
                <a:spcPct val="100000"/>
              </a:lnSpc>
            </a:pPr>
            <a:r>
              <a:rPr sz="2700" b="1">
                <a:solidFill>
                  <a:srgbClr val="047857"/>
                </a:solidFill>
                <a:latin typeface="Poppins ExtraBold"/>
              </a:rPr>
              <a:t>20K+</a:t>
            </a:r>
          </a:p>
        </p:txBody>
      </p:sp>
      <p:sp>
        <p:nvSpPr>
          <p:cNvPr id="75" name="TextBox 74"/>
          <p:cNvSpPr txBox="1"/>
          <p:nvPr/>
        </p:nvSpPr>
        <p:spPr>
          <a:xfrm>
            <a:off x="6492240" y="5687568"/>
            <a:ext cx="2286000" cy="274320"/>
          </a:xfrm>
          <a:prstGeom prst="rect">
            <a:avLst/>
          </a:prstGeom>
          <a:noFill/>
        </p:spPr>
        <p:txBody>
          <a:bodyPr wrap="square" anchor="t" lIns="18288" rIns="18288" tIns="9144" bIns="9144">
            <a:spAutoFit/>
          </a:bodyPr>
          <a:lstStyle/>
          <a:p>
            <a:pPr algn="l">
              <a:lnSpc>
                <a:spcPct val="100000"/>
              </a:lnSpc>
            </a:pPr>
            <a:r>
              <a:rPr sz="1100" b="0">
                <a:solidFill>
                  <a:srgbClr val="5D6675"/>
                </a:solidFill>
                <a:latin typeface="Inter Medium"/>
              </a:rPr>
              <a:t>HTML Fields</a:t>
            </a:r>
          </a:p>
        </p:txBody>
      </p:sp>
      <p:sp>
        <p:nvSpPr>
          <p:cNvPr id="76" name="TextBox 75"/>
          <p:cNvSpPr txBox="1"/>
          <p:nvPr/>
        </p:nvSpPr>
        <p:spPr>
          <a:xfrm>
            <a:off x="9006840" y="5102352"/>
            <a:ext cx="2286000" cy="502920"/>
          </a:xfrm>
          <a:prstGeom prst="rect">
            <a:avLst/>
          </a:prstGeom>
          <a:noFill/>
        </p:spPr>
        <p:txBody>
          <a:bodyPr wrap="square" anchor="t" lIns="18288" rIns="18288" tIns="9144" bIns="9144">
            <a:spAutoFit/>
          </a:bodyPr>
          <a:lstStyle/>
          <a:p>
            <a:pPr algn="l">
              <a:lnSpc>
                <a:spcPct val="100000"/>
              </a:lnSpc>
            </a:pPr>
            <a:r>
              <a:rPr sz="2700" b="1">
                <a:solidFill>
                  <a:srgbClr val="92400E"/>
                </a:solidFill>
                <a:latin typeface="Poppins ExtraBold"/>
              </a:rPr>
              <a:t>100+</a:t>
            </a:r>
          </a:p>
        </p:txBody>
      </p:sp>
      <p:sp>
        <p:nvSpPr>
          <p:cNvPr id="77" name="TextBox 76"/>
          <p:cNvSpPr txBox="1"/>
          <p:nvPr/>
        </p:nvSpPr>
        <p:spPr>
          <a:xfrm>
            <a:off x="9006840" y="5687568"/>
            <a:ext cx="2286000" cy="274320"/>
          </a:xfrm>
          <a:prstGeom prst="rect">
            <a:avLst/>
          </a:prstGeom>
          <a:noFill/>
        </p:spPr>
        <p:txBody>
          <a:bodyPr wrap="square" anchor="t" lIns="18288" rIns="18288" tIns="9144" bIns="9144">
            <a:spAutoFit/>
          </a:bodyPr>
          <a:lstStyle/>
          <a:p>
            <a:pPr algn="l">
              <a:lnSpc>
                <a:spcPct val="100000"/>
              </a:lnSpc>
            </a:pPr>
            <a:r>
              <a:rPr sz="1100" b="0">
                <a:solidFill>
                  <a:srgbClr val="5D6675"/>
                </a:solidFill>
                <a:latin typeface="Inter Medium"/>
              </a:rPr>
              <a:t>Semantic Categories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7FA"/>
        </a:solidFill>
        <a:effectLst/>
      </p:bgPr>
    </p:bg>
    <p:spTree>
      <p:nvGrpSpPr>
        <p:cNvPr id="1" name=""/>
        <p:cNvGrpSpPr/>
        <p:nvPr/>
      </p:nvGrpSpPr>
      <p:grpSpPr/>
      <p:sp>
        <p:nvSpPr>
          <p:cNvPr id="2" name="TextBox 1"/>
          <p:cNvSpPr txBox="1"/>
          <p:nvPr/>
        </p:nvSpPr>
        <p:spPr>
          <a:xfrm>
            <a:off x="841248" y="347472"/>
            <a:ext cx="7315200" cy="274320"/>
          </a:xfrm>
          <a:prstGeom prst="rect">
            <a:avLst/>
          </a:prstGeom>
          <a:noFill/>
        </p:spPr>
        <p:txBody>
          <a:bodyPr wrap="square" anchor="t" lIns="18288" rIns="18288" tIns="9144" bIns="9144">
            <a:spAutoFit/>
          </a:bodyPr>
          <a:lstStyle/>
          <a:p>
            <a:pPr algn="l">
              <a:lnSpc>
                <a:spcPct val="100000"/>
              </a:lnSpc>
            </a:pPr>
            <a:r>
              <a:rPr sz="1100" b="0" spc="300">
                <a:solidFill>
                  <a:srgbClr val="4338CA"/>
                </a:solidFill>
                <a:latin typeface="Inter Medium"/>
              </a:rPr>
              <a:t>COMPARATIVE ANALYSIS</a:t>
            </a:r>
          </a:p>
        </p:txBody>
      </p:sp>
      <p:sp>
        <p:nvSpPr>
          <p:cNvPr id="3" name="TextBox 2"/>
          <p:cNvSpPr txBox="1"/>
          <p:nvPr/>
        </p:nvSpPr>
        <p:spPr>
          <a:xfrm>
            <a:off x="822960" y="566928"/>
            <a:ext cx="10607040" cy="566928"/>
          </a:xfrm>
          <a:prstGeom prst="rect">
            <a:avLst/>
          </a:prstGeom>
          <a:noFill/>
        </p:spPr>
        <p:txBody>
          <a:bodyPr wrap="square" anchor="t" lIns="18288" rIns="18288" tIns="9144" bIns="9144">
            <a:spAutoFit/>
          </a:bodyPr>
          <a:lstStyle/>
          <a:p>
            <a:pPr algn="l">
              <a:lnSpc>
                <a:spcPct val="100000"/>
              </a:lnSpc>
            </a:pPr>
            <a:r>
              <a:rPr sz="3000" b="1">
                <a:solidFill>
                  <a:srgbClr val="121826"/>
                </a:solidFill>
                <a:latin typeface="Poppins ExtraBold"/>
              </a:rPr>
              <a:t>Google Autofill vs CareerHub AI</a:t>
            </a:r>
          </a:p>
        </p:txBody>
      </p:sp>
      <p:sp>
        <p:nvSpPr>
          <p:cNvPr id="4" name="Rounded Rectangle 3"/>
          <p:cNvSpPr/>
          <p:nvPr/>
        </p:nvSpPr>
        <p:spPr>
          <a:xfrm>
            <a:off x="841248" y="1133856"/>
            <a:ext cx="868680" cy="45720"/>
          </a:xfrm>
          <a:prstGeom prst="roundRect">
            <a:avLst>
              <a:gd name="adj" fmla="val 50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81360" y="6473952"/>
            <a:ext cx="1005840" cy="274320"/>
          </a:xfrm>
          <a:prstGeom prst="rect">
            <a:avLst/>
          </a:prstGeom>
          <a:noFill/>
        </p:spPr>
        <p:txBody>
          <a:bodyPr wrap="square" anchor="t" lIns="18288" rIns="18288" tIns="9144" bIns="9144">
            <a:spAutoFit/>
          </a:bodyPr>
          <a:lstStyle/>
          <a:p>
            <a:pPr algn="r">
              <a:lnSpc>
                <a:spcPct val="100000"/>
              </a:lnSpc>
            </a:pPr>
            <a:r>
              <a:rPr sz="1000" b="0">
                <a:solidFill>
                  <a:srgbClr val="5D6675"/>
                </a:solidFill>
                <a:latin typeface="Inter Medium"/>
              </a:rPr>
              <a:t>09 / 13</a:t>
            </a:r>
          </a:p>
        </p:txBody>
      </p:sp>
      <p:sp>
        <p:nvSpPr>
          <p:cNvPr id="6" name="TextBox 5"/>
          <p:cNvSpPr txBox="1"/>
          <p:nvPr/>
        </p:nvSpPr>
        <p:spPr>
          <a:xfrm>
            <a:off x="841248" y="6473952"/>
            <a:ext cx="4572000" cy="274320"/>
          </a:xfrm>
          <a:prstGeom prst="rect">
            <a:avLst/>
          </a:prstGeom>
          <a:noFill/>
        </p:spPr>
        <p:txBody>
          <a:bodyPr wrap="square" anchor="t" lIns="18288" rIns="18288" tIns="9144" bIns="9144">
            <a:spAutoFit/>
          </a:bodyPr>
          <a:lstStyle/>
          <a:p>
            <a:pPr algn="l">
              <a:lnSpc>
                <a:spcPct val="100000"/>
              </a:lnSpc>
            </a:pPr>
            <a:r>
              <a:rPr sz="950" b="0" spc="100">
                <a:solidFill>
                  <a:srgbClr val="5D6675"/>
                </a:solidFill>
                <a:latin typeface="Inter Medium"/>
              </a:rPr>
              <a:t>CareerHub · Semantic Professional Identity Framework</a:t>
            </a:r>
          </a:p>
        </p:txBody>
      </p:sp>
      <p:sp>
        <p:nvSpPr>
          <p:cNvPr id="7" name="Rounded Rectangle 6"/>
          <p:cNvSpPr/>
          <p:nvPr/>
        </p:nvSpPr>
        <p:spPr>
          <a:xfrm>
            <a:off x="822960" y="1371600"/>
            <a:ext cx="4160520" cy="4434840"/>
          </a:xfrm>
          <a:prstGeom prst="roundRect">
            <a:avLst>
              <a:gd name="adj" fmla="val 7000"/>
            </a:avLst>
          </a:prstGeom>
          <a:solidFill>
            <a:srgbClr val="EDF0F5"/>
          </a:solidFill>
          <a:ln w="12700">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178040" y="1371600"/>
            <a:ext cx="4206240" cy="4434840"/>
          </a:xfrm>
          <a:prstGeom prst="roundRect">
            <a:avLst>
              <a:gd name="adj" fmla="val 7000"/>
            </a:avLst>
          </a:prstGeom>
          <a:solidFill>
            <a:srgbClr val="4F46E5">
              <a:alpha val="8000"/>
            </a:srgbClr>
          </a:solidFill>
          <a:ln w="15875">
            <a:solidFill>
              <a:srgbClr val="4F46E5">
                <a:alpha val="60000"/>
              </a:srgbClr>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51560" y="1554480"/>
            <a:ext cx="365760" cy="365760"/>
          </a:xfrm>
          <a:prstGeom prst="roundRect">
            <a:avLst>
              <a:gd name="adj" fmla="val 30000"/>
            </a:avLst>
          </a:prstGeom>
          <a:solidFill>
            <a:srgbClr val="5D6675">
              <a:alpha val="16000"/>
            </a:srgbClr>
          </a:solidFill>
          <a:ln w="9525">
            <a:solidFill>
              <a:srgbClr val="5D6675">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ame 9"/>
          <p:cNvSpPr/>
          <p:nvPr/>
        </p:nvSpPr>
        <p:spPr>
          <a:xfrm>
            <a:off x="1146657" y="1649577"/>
            <a:ext cx="175564" cy="175564"/>
          </a:xfrm>
          <a:prstGeom prst="frame">
            <a:avLst/>
          </a:prstGeom>
          <a:solidFill>
            <a:srgbClr val="5D66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36192" y="1554480"/>
            <a:ext cx="2743200" cy="274320"/>
          </a:xfrm>
          <a:prstGeom prst="rect">
            <a:avLst/>
          </a:prstGeom>
          <a:noFill/>
        </p:spPr>
        <p:txBody>
          <a:bodyPr wrap="square" anchor="t" lIns="18288" rIns="18288" tIns="9144" bIns="9144">
            <a:spAutoFit/>
          </a:bodyPr>
          <a:lstStyle/>
          <a:p>
            <a:pPr algn="l">
              <a:lnSpc>
                <a:spcPct val="100000"/>
              </a:lnSpc>
            </a:pPr>
            <a:r>
              <a:rPr sz="1500" b="1">
                <a:solidFill>
                  <a:srgbClr val="121826"/>
                </a:solidFill>
                <a:latin typeface="Poppins SemiBold"/>
              </a:rPr>
              <a:t>Google Autofill</a:t>
            </a:r>
          </a:p>
        </p:txBody>
      </p:sp>
      <p:sp>
        <p:nvSpPr>
          <p:cNvPr id="12" name="TextBox 11"/>
          <p:cNvSpPr txBox="1"/>
          <p:nvPr/>
        </p:nvSpPr>
        <p:spPr>
          <a:xfrm>
            <a:off x="1536192" y="1828800"/>
            <a:ext cx="2743200" cy="201168"/>
          </a:xfrm>
          <a:prstGeom prst="rect">
            <a:avLst/>
          </a:prstGeom>
          <a:noFill/>
        </p:spPr>
        <p:txBody>
          <a:bodyPr wrap="square" anchor="t" lIns="18288" rIns="18288" tIns="9144" bIns="9144">
            <a:spAutoFit/>
          </a:bodyPr>
          <a:lstStyle/>
          <a:p>
            <a:pPr algn="l">
              <a:lnSpc>
                <a:spcPct val="100000"/>
              </a:lnSpc>
            </a:pPr>
            <a:r>
              <a:rPr sz="850" b="0">
                <a:solidFill>
                  <a:srgbClr val="5D6675"/>
                </a:solidFill>
                <a:latin typeface="Inter"/>
              </a:rPr>
              <a:t>built-in browser feature</a:t>
            </a:r>
          </a:p>
        </p:txBody>
      </p:sp>
      <p:sp>
        <p:nvSpPr>
          <p:cNvPr id="13" name="Rounded Rectangle 12"/>
          <p:cNvSpPr/>
          <p:nvPr/>
        </p:nvSpPr>
        <p:spPr>
          <a:xfrm>
            <a:off x="7406640" y="1554480"/>
            <a:ext cx="365760" cy="365760"/>
          </a:xfrm>
          <a:prstGeom prst="roundRect">
            <a:avLst>
              <a:gd name="adj" fmla="val 30000"/>
            </a:avLst>
          </a:prstGeom>
          <a:solidFill>
            <a:srgbClr val="4F46E5">
              <a:alpha val="16000"/>
            </a:srgbClr>
          </a:solidFill>
          <a:ln w="9525">
            <a:solidFill>
              <a:srgbClr val="4F46E5">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Hexagon 13"/>
          <p:cNvSpPr/>
          <p:nvPr/>
        </p:nvSpPr>
        <p:spPr>
          <a:xfrm>
            <a:off x="7501737" y="1649577"/>
            <a:ext cx="175564" cy="175564"/>
          </a:xfrm>
          <a:prstGeom prst="hexagon">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91271" y="1554480"/>
            <a:ext cx="2926080" cy="274320"/>
          </a:xfrm>
          <a:prstGeom prst="rect">
            <a:avLst/>
          </a:prstGeom>
          <a:noFill/>
        </p:spPr>
        <p:txBody>
          <a:bodyPr wrap="square" anchor="t" lIns="18288" rIns="18288" tIns="9144" bIns="9144">
            <a:spAutoFit/>
          </a:bodyPr>
          <a:lstStyle/>
          <a:p>
            <a:pPr algn="l">
              <a:lnSpc>
                <a:spcPct val="100000"/>
              </a:lnSpc>
            </a:pPr>
            <a:r>
              <a:rPr sz="1500" b="1">
                <a:solidFill>
                  <a:srgbClr val="4338CA"/>
                </a:solidFill>
                <a:latin typeface="Poppins SemiBold"/>
              </a:rPr>
              <a:t>CareerHub AI</a:t>
            </a:r>
          </a:p>
        </p:txBody>
      </p:sp>
      <p:sp>
        <p:nvSpPr>
          <p:cNvPr id="16" name="TextBox 15"/>
          <p:cNvSpPr txBox="1"/>
          <p:nvPr/>
        </p:nvSpPr>
        <p:spPr>
          <a:xfrm>
            <a:off x="7891271" y="1828800"/>
            <a:ext cx="2926080" cy="201168"/>
          </a:xfrm>
          <a:prstGeom prst="rect">
            <a:avLst/>
          </a:prstGeom>
          <a:noFill/>
        </p:spPr>
        <p:txBody>
          <a:bodyPr wrap="square" anchor="t" lIns="18288" rIns="18288" tIns="9144" bIns="9144">
            <a:spAutoFit/>
          </a:bodyPr>
          <a:lstStyle/>
          <a:p>
            <a:pPr algn="l">
              <a:lnSpc>
                <a:spcPct val="100000"/>
              </a:lnSpc>
            </a:pPr>
            <a:r>
              <a:rPr sz="850" b="0">
                <a:solidFill>
                  <a:srgbClr val="5D6675"/>
                </a:solidFill>
                <a:latin typeface="Inter"/>
              </a:rPr>
              <a:t>semantic identity engine</a:t>
            </a:r>
          </a:p>
        </p:txBody>
      </p:sp>
      <p:sp>
        <p:nvSpPr>
          <p:cNvPr id="17" name="Oval 16"/>
          <p:cNvSpPr/>
          <p:nvPr/>
        </p:nvSpPr>
        <p:spPr>
          <a:xfrm>
            <a:off x="5870448" y="1481328"/>
            <a:ext cx="475488" cy="475488"/>
          </a:xfrm>
          <a:prstGeom prst="ellipse">
            <a:avLst/>
          </a:prstGeom>
          <a:solidFill>
            <a:srgbClr val="4F46E5">
              <a:alpha val="16000"/>
            </a:srgbClr>
          </a:solidFill>
          <a:ln w="9525">
            <a:solidFill>
              <a:srgbClr val="4F46E5">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100" b="1">
                <a:solidFill>
                  <a:srgbClr val="4338CA"/>
                </a:solidFill>
                <a:latin typeface="Poppins SemiBold"/>
              </a:rPr>
              <a:t>VS</a:t>
            </a:r>
          </a:p>
        </p:txBody>
      </p:sp>
      <p:sp>
        <p:nvSpPr>
          <p:cNvPr id="18" name="Rounded Rectangle 17"/>
          <p:cNvSpPr/>
          <p:nvPr/>
        </p:nvSpPr>
        <p:spPr>
          <a:xfrm>
            <a:off x="932688" y="2199132"/>
            <a:ext cx="3941063" cy="228600"/>
          </a:xfrm>
          <a:prstGeom prst="roundRect">
            <a:avLst>
              <a:gd name="adj" fmla="val 30000"/>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287768" y="2199132"/>
            <a:ext cx="3986783" cy="228600"/>
          </a:xfrm>
          <a:prstGeom prst="roundRect">
            <a:avLst>
              <a:gd name="adj" fmla="val 30000"/>
            </a:avLst>
          </a:prstGeom>
          <a:solidFill>
            <a:srgbClr val="FFFFFF">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74920" y="2212848"/>
            <a:ext cx="2011680" cy="219456"/>
          </a:xfrm>
          <a:prstGeom prst="rect">
            <a:avLst/>
          </a:prstGeom>
          <a:noFill/>
        </p:spPr>
        <p:txBody>
          <a:bodyPr wrap="square" anchor="t" lIns="18288" rIns="18288" tIns="9144" bIns="9144">
            <a:spAutoFit/>
          </a:bodyPr>
          <a:lstStyle/>
          <a:p>
            <a:pPr algn="ctr">
              <a:lnSpc>
                <a:spcPct val="100000"/>
              </a:lnSpc>
            </a:pPr>
            <a:r>
              <a:rPr sz="800" b="0" spc="100">
                <a:solidFill>
                  <a:srgbClr val="5D6675"/>
                </a:solidFill>
                <a:latin typeface="Inter Medium"/>
              </a:rPr>
              <a:t>PURPOSE</a:t>
            </a:r>
          </a:p>
        </p:txBody>
      </p:sp>
      <p:sp>
        <p:nvSpPr>
          <p:cNvPr id="21" name="TextBox 20"/>
          <p:cNvSpPr txBox="1"/>
          <p:nvPr/>
        </p:nvSpPr>
        <p:spPr>
          <a:xfrm>
            <a:off x="960120" y="2212848"/>
            <a:ext cx="3886200" cy="219456"/>
          </a:xfrm>
          <a:prstGeom prst="rect">
            <a:avLst/>
          </a:prstGeom>
          <a:noFill/>
        </p:spPr>
        <p:txBody>
          <a:bodyPr wrap="square" anchor="t" lIns="18288" rIns="18288" tIns="9144" bIns="9144">
            <a:spAutoFit/>
          </a:bodyPr>
          <a:lstStyle/>
          <a:p>
            <a:pPr algn="ctr">
              <a:lnSpc>
                <a:spcPct val="100000"/>
              </a:lnSpc>
            </a:pPr>
            <a:r>
              <a:rPr sz="950" b="0">
                <a:solidFill>
                  <a:srgbClr val="5D6675"/>
                </a:solidFill>
                <a:latin typeface="Inter"/>
              </a:rPr>
              <a:t>Generic form filling</a:t>
            </a:r>
          </a:p>
        </p:txBody>
      </p:sp>
      <p:sp>
        <p:nvSpPr>
          <p:cNvPr id="22" name="TextBox 21"/>
          <p:cNvSpPr txBox="1"/>
          <p:nvPr/>
        </p:nvSpPr>
        <p:spPr>
          <a:xfrm>
            <a:off x="7315200" y="2212848"/>
            <a:ext cx="3931920" cy="219456"/>
          </a:xfrm>
          <a:prstGeom prst="rect">
            <a:avLst/>
          </a:prstGeom>
          <a:noFill/>
        </p:spPr>
        <p:txBody>
          <a:bodyPr wrap="square" anchor="t" lIns="18288" rIns="18288" tIns="9144" bIns="9144">
            <a:spAutoFit/>
          </a:bodyPr>
          <a:lstStyle/>
          <a:p>
            <a:pPr algn="ctr">
              <a:lnSpc>
                <a:spcPct val="100000"/>
              </a:lnSpc>
            </a:pPr>
            <a:r>
              <a:rPr sz="950" b="0">
                <a:solidFill>
                  <a:srgbClr val="121826"/>
                </a:solidFill>
                <a:latin typeface="Inter"/>
              </a:rPr>
              <a:t>Recruitment-focused identity</a:t>
            </a:r>
          </a:p>
        </p:txBody>
      </p:sp>
      <p:sp>
        <p:nvSpPr>
          <p:cNvPr id="23" name="TextBox 22"/>
          <p:cNvSpPr txBox="1"/>
          <p:nvPr/>
        </p:nvSpPr>
        <p:spPr>
          <a:xfrm>
            <a:off x="5074920" y="2457907"/>
            <a:ext cx="2011680" cy="219456"/>
          </a:xfrm>
          <a:prstGeom prst="rect">
            <a:avLst/>
          </a:prstGeom>
          <a:noFill/>
        </p:spPr>
        <p:txBody>
          <a:bodyPr wrap="square" anchor="t" lIns="18288" rIns="18288" tIns="9144" bIns="9144">
            <a:spAutoFit/>
          </a:bodyPr>
          <a:lstStyle/>
          <a:p>
            <a:pPr algn="ctr">
              <a:lnSpc>
                <a:spcPct val="100000"/>
              </a:lnSpc>
            </a:pPr>
            <a:r>
              <a:rPr sz="800" b="0" spc="100">
                <a:solidFill>
                  <a:srgbClr val="5D6675"/>
                </a:solidFill>
                <a:latin typeface="Inter Medium"/>
              </a:rPr>
              <a:t>PROFILE TYPE</a:t>
            </a:r>
          </a:p>
        </p:txBody>
      </p:sp>
      <p:sp>
        <p:nvSpPr>
          <p:cNvPr id="24" name="TextBox 23"/>
          <p:cNvSpPr txBox="1"/>
          <p:nvPr/>
        </p:nvSpPr>
        <p:spPr>
          <a:xfrm>
            <a:off x="960120" y="2457907"/>
            <a:ext cx="3886200" cy="219456"/>
          </a:xfrm>
          <a:prstGeom prst="rect">
            <a:avLst/>
          </a:prstGeom>
          <a:noFill/>
        </p:spPr>
        <p:txBody>
          <a:bodyPr wrap="square" anchor="t" lIns="18288" rIns="18288" tIns="9144" bIns="9144">
            <a:spAutoFit/>
          </a:bodyPr>
          <a:lstStyle/>
          <a:p>
            <a:pPr algn="ctr">
              <a:lnSpc>
                <a:spcPct val="100000"/>
              </a:lnSpc>
            </a:pPr>
            <a:r>
              <a:rPr sz="950" b="0">
                <a:solidFill>
                  <a:srgbClr val="5D6675"/>
                </a:solidFill>
                <a:latin typeface="Inter"/>
              </a:rPr>
              <a:t>Browser data store</a:t>
            </a:r>
          </a:p>
        </p:txBody>
      </p:sp>
      <p:sp>
        <p:nvSpPr>
          <p:cNvPr id="25" name="TextBox 24"/>
          <p:cNvSpPr txBox="1"/>
          <p:nvPr/>
        </p:nvSpPr>
        <p:spPr>
          <a:xfrm>
            <a:off x="7315200" y="2457907"/>
            <a:ext cx="3931920" cy="219456"/>
          </a:xfrm>
          <a:prstGeom prst="rect">
            <a:avLst/>
          </a:prstGeom>
          <a:noFill/>
        </p:spPr>
        <p:txBody>
          <a:bodyPr wrap="square" anchor="t" lIns="18288" rIns="18288" tIns="9144" bIns="9144">
            <a:spAutoFit/>
          </a:bodyPr>
          <a:lstStyle/>
          <a:p>
            <a:pPr algn="ctr">
              <a:lnSpc>
                <a:spcPct val="100000"/>
              </a:lnSpc>
            </a:pPr>
            <a:r>
              <a:rPr sz="950" b="0">
                <a:solidFill>
                  <a:srgbClr val="121826"/>
                </a:solidFill>
                <a:latin typeface="Inter"/>
              </a:rPr>
              <a:t>Professional identity graph</a:t>
            </a:r>
          </a:p>
        </p:txBody>
      </p:sp>
      <p:sp>
        <p:nvSpPr>
          <p:cNvPr id="26" name="Rounded Rectangle 25"/>
          <p:cNvSpPr/>
          <p:nvPr/>
        </p:nvSpPr>
        <p:spPr>
          <a:xfrm>
            <a:off x="932688" y="2689250"/>
            <a:ext cx="3941063" cy="228600"/>
          </a:xfrm>
          <a:prstGeom prst="roundRect">
            <a:avLst>
              <a:gd name="adj" fmla="val 30000"/>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287768" y="2689250"/>
            <a:ext cx="3986783" cy="228600"/>
          </a:xfrm>
          <a:prstGeom prst="roundRect">
            <a:avLst>
              <a:gd name="adj" fmla="val 30000"/>
            </a:avLst>
          </a:prstGeom>
          <a:solidFill>
            <a:srgbClr val="FFFFFF">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2702966"/>
            <a:ext cx="2011680" cy="219456"/>
          </a:xfrm>
          <a:prstGeom prst="rect">
            <a:avLst/>
          </a:prstGeom>
          <a:noFill/>
        </p:spPr>
        <p:txBody>
          <a:bodyPr wrap="square" anchor="t" lIns="18288" rIns="18288" tIns="9144" bIns="9144">
            <a:spAutoFit/>
          </a:bodyPr>
          <a:lstStyle/>
          <a:p>
            <a:pPr algn="ctr">
              <a:lnSpc>
                <a:spcPct val="100000"/>
              </a:lnSpc>
            </a:pPr>
            <a:r>
              <a:rPr sz="800" b="0" spc="100">
                <a:solidFill>
                  <a:srgbClr val="5D6675"/>
                </a:solidFill>
                <a:latin typeface="Inter Medium"/>
              </a:rPr>
              <a:t>SUPPORTED INFORMATION</a:t>
            </a:r>
          </a:p>
        </p:txBody>
      </p:sp>
      <p:sp>
        <p:nvSpPr>
          <p:cNvPr id="29" name="TextBox 28"/>
          <p:cNvSpPr txBox="1"/>
          <p:nvPr/>
        </p:nvSpPr>
        <p:spPr>
          <a:xfrm>
            <a:off x="960120" y="2702966"/>
            <a:ext cx="3886200" cy="219456"/>
          </a:xfrm>
          <a:prstGeom prst="rect">
            <a:avLst/>
          </a:prstGeom>
          <a:noFill/>
        </p:spPr>
        <p:txBody>
          <a:bodyPr wrap="square" anchor="t" lIns="18288" rIns="18288" tIns="9144" bIns="9144">
            <a:spAutoFit/>
          </a:bodyPr>
          <a:lstStyle/>
          <a:p>
            <a:pPr algn="ctr">
              <a:lnSpc>
                <a:spcPct val="100000"/>
              </a:lnSpc>
            </a:pPr>
            <a:r>
              <a:rPr sz="950" b="0">
                <a:solidFill>
                  <a:srgbClr val="5D6675"/>
                </a:solidFill>
                <a:latin typeface="Inter"/>
              </a:rPr>
              <a:t>Name · address · payment</a:t>
            </a:r>
          </a:p>
        </p:txBody>
      </p:sp>
      <p:sp>
        <p:nvSpPr>
          <p:cNvPr id="30" name="TextBox 29"/>
          <p:cNvSpPr txBox="1"/>
          <p:nvPr/>
        </p:nvSpPr>
        <p:spPr>
          <a:xfrm>
            <a:off x="7315200" y="2702966"/>
            <a:ext cx="3931920" cy="219456"/>
          </a:xfrm>
          <a:prstGeom prst="rect">
            <a:avLst/>
          </a:prstGeom>
          <a:noFill/>
        </p:spPr>
        <p:txBody>
          <a:bodyPr wrap="square" anchor="t" lIns="18288" rIns="18288" tIns="9144" bIns="9144">
            <a:spAutoFit/>
          </a:bodyPr>
          <a:lstStyle/>
          <a:p>
            <a:pPr algn="ctr">
              <a:lnSpc>
                <a:spcPct val="100000"/>
              </a:lnSpc>
            </a:pPr>
            <a:r>
              <a:rPr sz="950" b="0">
                <a:solidFill>
                  <a:srgbClr val="121826"/>
                </a:solidFill>
                <a:latin typeface="Inter"/>
              </a:rPr>
              <a:t>80+ professional attributes</a:t>
            </a:r>
          </a:p>
        </p:txBody>
      </p:sp>
      <p:sp>
        <p:nvSpPr>
          <p:cNvPr id="31" name="TextBox 30"/>
          <p:cNvSpPr txBox="1"/>
          <p:nvPr/>
        </p:nvSpPr>
        <p:spPr>
          <a:xfrm>
            <a:off x="5074920" y="2948025"/>
            <a:ext cx="2011680" cy="219456"/>
          </a:xfrm>
          <a:prstGeom prst="rect">
            <a:avLst/>
          </a:prstGeom>
          <a:noFill/>
        </p:spPr>
        <p:txBody>
          <a:bodyPr wrap="square" anchor="t" lIns="18288" rIns="18288" tIns="9144" bIns="9144">
            <a:spAutoFit/>
          </a:bodyPr>
          <a:lstStyle/>
          <a:p>
            <a:pPr algn="ctr">
              <a:lnSpc>
                <a:spcPct val="100000"/>
              </a:lnSpc>
            </a:pPr>
            <a:r>
              <a:rPr sz="800" b="0" spc="100">
                <a:solidFill>
                  <a:srgbClr val="5D6675"/>
                </a:solidFill>
                <a:latin typeface="Inter Medium"/>
              </a:rPr>
              <a:t>SEMANTIC AI</a:t>
            </a:r>
          </a:p>
        </p:txBody>
      </p:sp>
      <p:sp>
        <p:nvSpPr>
          <p:cNvPr id="32" name="Rounded Rectangle 31"/>
          <p:cNvSpPr/>
          <p:nvPr/>
        </p:nvSpPr>
        <p:spPr>
          <a:xfrm>
            <a:off x="2619756" y="2961741"/>
            <a:ext cx="566928" cy="192024"/>
          </a:xfrm>
          <a:prstGeom prst="roundRect">
            <a:avLst>
              <a:gd name="adj" fmla="val 50000"/>
            </a:avLst>
          </a:prstGeom>
          <a:solidFill>
            <a:srgbClr val="DC2626">
              <a:alpha val="14000"/>
            </a:srgbClr>
          </a:solidFill>
          <a:ln w="6350">
            <a:solidFill>
              <a:srgbClr val="DC2626">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750" b="0" spc="100">
                <a:solidFill>
                  <a:srgbClr val="B91C1C"/>
                </a:solidFill>
                <a:latin typeface="Inter Medium"/>
              </a:rPr>
              <a:t>NO</a:t>
            </a:r>
          </a:p>
        </p:txBody>
      </p:sp>
      <p:sp>
        <p:nvSpPr>
          <p:cNvPr id="33" name="Rounded Rectangle 32"/>
          <p:cNvSpPr/>
          <p:nvPr/>
        </p:nvSpPr>
        <p:spPr>
          <a:xfrm>
            <a:off x="8997695" y="2961741"/>
            <a:ext cx="566928" cy="192024"/>
          </a:xfrm>
          <a:prstGeom prst="roundRect">
            <a:avLst>
              <a:gd name="adj" fmla="val 50000"/>
            </a:avLst>
          </a:prstGeom>
          <a:solidFill>
            <a:srgbClr val="059669">
              <a:alpha val="14000"/>
            </a:srgbClr>
          </a:solidFill>
          <a:ln w="6350">
            <a:solidFill>
              <a:srgbClr val="059669">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750" b="0" spc="100">
                <a:solidFill>
                  <a:srgbClr val="047857"/>
                </a:solidFill>
                <a:latin typeface="Inter Medium"/>
              </a:rPr>
              <a:t>YES</a:t>
            </a:r>
          </a:p>
        </p:txBody>
      </p:sp>
      <p:sp>
        <p:nvSpPr>
          <p:cNvPr id="34" name="Rounded Rectangle 33"/>
          <p:cNvSpPr/>
          <p:nvPr/>
        </p:nvSpPr>
        <p:spPr>
          <a:xfrm>
            <a:off x="932688" y="3179368"/>
            <a:ext cx="3941063" cy="228600"/>
          </a:xfrm>
          <a:prstGeom prst="roundRect">
            <a:avLst>
              <a:gd name="adj" fmla="val 30000"/>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7287768" y="3179368"/>
            <a:ext cx="3986783" cy="228600"/>
          </a:xfrm>
          <a:prstGeom prst="roundRect">
            <a:avLst>
              <a:gd name="adj" fmla="val 30000"/>
            </a:avLst>
          </a:prstGeom>
          <a:solidFill>
            <a:srgbClr val="FFFFFF">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74920" y="3193084"/>
            <a:ext cx="2011680" cy="219456"/>
          </a:xfrm>
          <a:prstGeom prst="rect">
            <a:avLst/>
          </a:prstGeom>
          <a:noFill/>
        </p:spPr>
        <p:txBody>
          <a:bodyPr wrap="square" anchor="t" lIns="18288" rIns="18288" tIns="9144" bIns="9144">
            <a:spAutoFit/>
          </a:bodyPr>
          <a:lstStyle/>
          <a:p>
            <a:pPr algn="ctr">
              <a:lnSpc>
                <a:spcPct val="100000"/>
              </a:lnSpc>
            </a:pPr>
            <a:r>
              <a:rPr sz="800" b="0" spc="100">
                <a:solidFill>
                  <a:srgbClr val="5D6675"/>
                </a:solidFill>
                <a:latin typeface="Inter Medium"/>
              </a:rPr>
              <a:t>DOM UNDERSTANDING</a:t>
            </a:r>
          </a:p>
        </p:txBody>
      </p:sp>
      <p:sp>
        <p:nvSpPr>
          <p:cNvPr id="37" name="TextBox 36"/>
          <p:cNvSpPr txBox="1"/>
          <p:nvPr/>
        </p:nvSpPr>
        <p:spPr>
          <a:xfrm>
            <a:off x="960120" y="3193084"/>
            <a:ext cx="3886200" cy="219456"/>
          </a:xfrm>
          <a:prstGeom prst="rect">
            <a:avLst/>
          </a:prstGeom>
          <a:noFill/>
        </p:spPr>
        <p:txBody>
          <a:bodyPr wrap="square" anchor="t" lIns="18288" rIns="18288" tIns="9144" bIns="9144">
            <a:spAutoFit/>
          </a:bodyPr>
          <a:lstStyle/>
          <a:p>
            <a:pPr algn="ctr">
              <a:lnSpc>
                <a:spcPct val="100000"/>
              </a:lnSpc>
            </a:pPr>
            <a:r>
              <a:rPr sz="950" b="0">
                <a:solidFill>
                  <a:srgbClr val="5D6675"/>
                </a:solidFill>
                <a:latin typeface="Inter"/>
              </a:rPr>
              <a:t>Static heuristics</a:t>
            </a:r>
          </a:p>
        </p:txBody>
      </p:sp>
      <p:sp>
        <p:nvSpPr>
          <p:cNvPr id="38" name="TextBox 37"/>
          <p:cNvSpPr txBox="1"/>
          <p:nvPr/>
        </p:nvSpPr>
        <p:spPr>
          <a:xfrm>
            <a:off x="7315200" y="3193084"/>
            <a:ext cx="3931920" cy="219456"/>
          </a:xfrm>
          <a:prstGeom prst="rect">
            <a:avLst/>
          </a:prstGeom>
          <a:noFill/>
        </p:spPr>
        <p:txBody>
          <a:bodyPr wrap="square" anchor="t" lIns="18288" rIns="18288" tIns="9144" bIns="9144">
            <a:spAutoFit/>
          </a:bodyPr>
          <a:lstStyle/>
          <a:p>
            <a:pPr algn="ctr">
              <a:lnSpc>
                <a:spcPct val="100000"/>
              </a:lnSpc>
            </a:pPr>
            <a:r>
              <a:rPr sz="950" b="0">
                <a:solidFill>
                  <a:srgbClr val="121826"/>
                </a:solidFill>
                <a:latin typeface="Inter"/>
              </a:rPr>
              <a:t>Deep DOM context</a:t>
            </a:r>
          </a:p>
        </p:txBody>
      </p:sp>
      <p:sp>
        <p:nvSpPr>
          <p:cNvPr id="39" name="TextBox 38"/>
          <p:cNvSpPr txBox="1"/>
          <p:nvPr/>
        </p:nvSpPr>
        <p:spPr>
          <a:xfrm>
            <a:off x="5074920" y="3438144"/>
            <a:ext cx="2011680" cy="219456"/>
          </a:xfrm>
          <a:prstGeom prst="rect">
            <a:avLst/>
          </a:prstGeom>
          <a:noFill/>
        </p:spPr>
        <p:txBody>
          <a:bodyPr wrap="square" anchor="t" lIns="18288" rIns="18288" tIns="9144" bIns="9144">
            <a:spAutoFit/>
          </a:bodyPr>
          <a:lstStyle/>
          <a:p>
            <a:pPr algn="ctr">
              <a:lnSpc>
                <a:spcPct val="100000"/>
              </a:lnSpc>
            </a:pPr>
            <a:r>
              <a:rPr sz="800" b="0" spc="100">
                <a:solidFill>
                  <a:srgbClr val="5D6675"/>
                </a:solidFill>
                <a:latin typeface="Inter Medium"/>
              </a:rPr>
              <a:t>CONTEXT UNDERSTANDING</a:t>
            </a:r>
          </a:p>
        </p:txBody>
      </p:sp>
      <p:sp>
        <p:nvSpPr>
          <p:cNvPr id="40" name="Rounded Rectangle 39"/>
          <p:cNvSpPr/>
          <p:nvPr/>
        </p:nvSpPr>
        <p:spPr>
          <a:xfrm>
            <a:off x="2619756" y="3451860"/>
            <a:ext cx="566928" cy="192024"/>
          </a:xfrm>
          <a:prstGeom prst="roundRect">
            <a:avLst>
              <a:gd name="adj" fmla="val 50000"/>
            </a:avLst>
          </a:prstGeom>
          <a:solidFill>
            <a:srgbClr val="DC2626">
              <a:alpha val="14000"/>
            </a:srgbClr>
          </a:solidFill>
          <a:ln w="6350">
            <a:solidFill>
              <a:srgbClr val="DC2626">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750" b="0" spc="100">
                <a:solidFill>
                  <a:srgbClr val="B91C1C"/>
                </a:solidFill>
                <a:latin typeface="Inter Medium"/>
              </a:rPr>
              <a:t>NO</a:t>
            </a:r>
          </a:p>
        </p:txBody>
      </p:sp>
      <p:sp>
        <p:nvSpPr>
          <p:cNvPr id="41" name="Rounded Rectangle 40"/>
          <p:cNvSpPr/>
          <p:nvPr/>
        </p:nvSpPr>
        <p:spPr>
          <a:xfrm>
            <a:off x="8997695" y="3451860"/>
            <a:ext cx="566928" cy="192024"/>
          </a:xfrm>
          <a:prstGeom prst="roundRect">
            <a:avLst>
              <a:gd name="adj" fmla="val 50000"/>
            </a:avLst>
          </a:prstGeom>
          <a:solidFill>
            <a:srgbClr val="059669">
              <a:alpha val="14000"/>
            </a:srgbClr>
          </a:solidFill>
          <a:ln w="6350">
            <a:solidFill>
              <a:srgbClr val="059669">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750" b="0" spc="100">
                <a:solidFill>
                  <a:srgbClr val="047857"/>
                </a:solidFill>
                <a:latin typeface="Inter Medium"/>
              </a:rPr>
              <a:t>YES</a:t>
            </a:r>
          </a:p>
        </p:txBody>
      </p:sp>
      <p:sp>
        <p:nvSpPr>
          <p:cNvPr id="42" name="Rounded Rectangle 41"/>
          <p:cNvSpPr/>
          <p:nvPr/>
        </p:nvSpPr>
        <p:spPr>
          <a:xfrm>
            <a:off x="932688" y="3669487"/>
            <a:ext cx="3941063" cy="228600"/>
          </a:xfrm>
          <a:prstGeom prst="roundRect">
            <a:avLst>
              <a:gd name="adj" fmla="val 30000"/>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7287768" y="3669487"/>
            <a:ext cx="3986783" cy="228600"/>
          </a:xfrm>
          <a:prstGeom prst="roundRect">
            <a:avLst>
              <a:gd name="adj" fmla="val 30000"/>
            </a:avLst>
          </a:prstGeom>
          <a:solidFill>
            <a:srgbClr val="FFFFFF">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3683203"/>
            <a:ext cx="2011680" cy="219456"/>
          </a:xfrm>
          <a:prstGeom prst="rect">
            <a:avLst/>
          </a:prstGeom>
          <a:noFill/>
        </p:spPr>
        <p:txBody>
          <a:bodyPr wrap="square" anchor="t" lIns="18288" rIns="18288" tIns="9144" bIns="9144">
            <a:spAutoFit/>
          </a:bodyPr>
          <a:lstStyle/>
          <a:p>
            <a:pPr algn="ctr">
              <a:lnSpc>
                <a:spcPct val="100000"/>
              </a:lnSpc>
            </a:pPr>
            <a:r>
              <a:rPr sz="800" b="0" spc="100">
                <a:solidFill>
                  <a:srgbClr val="5D6675"/>
                </a:solidFill>
                <a:latin typeface="Inter Medium"/>
              </a:rPr>
              <a:t>PROFILE SYNCHRONIZATION</a:t>
            </a:r>
          </a:p>
        </p:txBody>
      </p:sp>
      <p:sp>
        <p:nvSpPr>
          <p:cNvPr id="45" name="Rounded Rectangle 44"/>
          <p:cNvSpPr/>
          <p:nvPr/>
        </p:nvSpPr>
        <p:spPr>
          <a:xfrm>
            <a:off x="2619756" y="3696919"/>
            <a:ext cx="566928" cy="192024"/>
          </a:xfrm>
          <a:prstGeom prst="roundRect">
            <a:avLst>
              <a:gd name="adj" fmla="val 50000"/>
            </a:avLst>
          </a:prstGeom>
          <a:solidFill>
            <a:srgbClr val="DC2626">
              <a:alpha val="14000"/>
            </a:srgbClr>
          </a:solidFill>
          <a:ln w="6350">
            <a:solidFill>
              <a:srgbClr val="DC2626">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750" b="0" spc="100">
                <a:solidFill>
                  <a:srgbClr val="B91C1C"/>
                </a:solidFill>
                <a:latin typeface="Inter Medium"/>
              </a:rPr>
              <a:t>NO</a:t>
            </a:r>
          </a:p>
        </p:txBody>
      </p:sp>
      <p:sp>
        <p:nvSpPr>
          <p:cNvPr id="46" name="TextBox 45"/>
          <p:cNvSpPr txBox="1"/>
          <p:nvPr/>
        </p:nvSpPr>
        <p:spPr>
          <a:xfrm>
            <a:off x="7315200" y="3683203"/>
            <a:ext cx="3931920" cy="219456"/>
          </a:xfrm>
          <a:prstGeom prst="rect">
            <a:avLst/>
          </a:prstGeom>
          <a:noFill/>
        </p:spPr>
        <p:txBody>
          <a:bodyPr wrap="square" anchor="t" lIns="18288" rIns="18288" tIns="9144" bIns="9144">
            <a:spAutoFit/>
          </a:bodyPr>
          <a:lstStyle/>
          <a:p>
            <a:pPr algn="ctr">
              <a:lnSpc>
                <a:spcPct val="100000"/>
              </a:lnSpc>
            </a:pPr>
            <a:r>
              <a:rPr sz="950" b="0">
                <a:solidFill>
                  <a:srgbClr val="121826"/>
                </a:solidFill>
                <a:latin typeface="Inter"/>
              </a:rPr>
              <a:t>Cloud-synced · versioned</a:t>
            </a:r>
          </a:p>
        </p:txBody>
      </p:sp>
      <p:sp>
        <p:nvSpPr>
          <p:cNvPr id="47" name="TextBox 46"/>
          <p:cNvSpPr txBox="1"/>
          <p:nvPr/>
        </p:nvSpPr>
        <p:spPr>
          <a:xfrm>
            <a:off x="5074920" y="3928262"/>
            <a:ext cx="2011680" cy="219456"/>
          </a:xfrm>
          <a:prstGeom prst="rect">
            <a:avLst/>
          </a:prstGeom>
          <a:noFill/>
        </p:spPr>
        <p:txBody>
          <a:bodyPr wrap="square" anchor="t" lIns="18288" rIns="18288" tIns="9144" bIns="9144">
            <a:spAutoFit/>
          </a:bodyPr>
          <a:lstStyle/>
          <a:p>
            <a:pPr algn="ctr">
              <a:lnSpc>
                <a:spcPct val="100000"/>
              </a:lnSpc>
            </a:pPr>
            <a:r>
              <a:rPr sz="800" b="0" spc="100">
                <a:solidFill>
                  <a:srgbClr val="5D6675"/>
                </a:solidFill>
                <a:latin typeface="Inter Medium"/>
              </a:rPr>
              <a:t>RESUME SUPPORT</a:t>
            </a:r>
          </a:p>
        </p:txBody>
      </p:sp>
      <p:sp>
        <p:nvSpPr>
          <p:cNvPr id="48" name="Rounded Rectangle 47"/>
          <p:cNvSpPr/>
          <p:nvPr/>
        </p:nvSpPr>
        <p:spPr>
          <a:xfrm>
            <a:off x="2619756" y="3941978"/>
            <a:ext cx="566928" cy="192024"/>
          </a:xfrm>
          <a:prstGeom prst="roundRect">
            <a:avLst>
              <a:gd name="adj" fmla="val 50000"/>
            </a:avLst>
          </a:prstGeom>
          <a:solidFill>
            <a:srgbClr val="DC2626">
              <a:alpha val="14000"/>
            </a:srgbClr>
          </a:solidFill>
          <a:ln w="6350">
            <a:solidFill>
              <a:srgbClr val="DC2626">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750" b="0" spc="100">
                <a:solidFill>
                  <a:srgbClr val="B91C1C"/>
                </a:solidFill>
                <a:latin typeface="Inter Medium"/>
              </a:rPr>
              <a:t>NO</a:t>
            </a:r>
          </a:p>
        </p:txBody>
      </p:sp>
      <p:sp>
        <p:nvSpPr>
          <p:cNvPr id="49" name="TextBox 48"/>
          <p:cNvSpPr txBox="1"/>
          <p:nvPr/>
        </p:nvSpPr>
        <p:spPr>
          <a:xfrm>
            <a:off x="7315200" y="3928262"/>
            <a:ext cx="3931920" cy="219456"/>
          </a:xfrm>
          <a:prstGeom prst="rect">
            <a:avLst/>
          </a:prstGeom>
          <a:noFill/>
        </p:spPr>
        <p:txBody>
          <a:bodyPr wrap="square" anchor="t" lIns="18288" rIns="18288" tIns="9144" bIns="9144">
            <a:spAutoFit/>
          </a:bodyPr>
          <a:lstStyle/>
          <a:p>
            <a:pPr algn="ctr">
              <a:lnSpc>
                <a:spcPct val="100000"/>
              </a:lnSpc>
            </a:pPr>
            <a:r>
              <a:rPr sz="950" b="0">
                <a:solidFill>
                  <a:srgbClr val="121826"/>
                </a:solidFill>
                <a:latin typeface="Inter"/>
              </a:rPr>
              <a:t>Parsing + generation</a:t>
            </a:r>
          </a:p>
        </p:txBody>
      </p:sp>
      <p:sp>
        <p:nvSpPr>
          <p:cNvPr id="50" name="Rounded Rectangle 49"/>
          <p:cNvSpPr/>
          <p:nvPr/>
        </p:nvSpPr>
        <p:spPr>
          <a:xfrm>
            <a:off x="932688" y="4159605"/>
            <a:ext cx="3941063" cy="228600"/>
          </a:xfrm>
          <a:prstGeom prst="roundRect">
            <a:avLst>
              <a:gd name="adj" fmla="val 30000"/>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7287768" y="4159605"/>
            <a:ext cx="3986783" cy="228600"/>
          </a:xfrm>
          <a:prstGeom prst="roundRect">
            <a:avLst>
              <a:gd name="adj" fmla="val 30000"/>
            </a:avLst>
          </a:prstGeom>
          <a:solidFill>
            <a:srgbClr val="FFFFFF">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074920" y="4173321"/>
            <a:ext cx="2011680" cy="219456"/>
          </a:xfrm>
          <a:prstGeom prst="rect">
            <a:avLst/>
          </a:prstGeom>
          <a:noFill/>
        </p:spPr>
        <p:txBody>
          <a:bodyPr wrap="square" anchor="t" lIns="18288" rIns="18288" tIns="9144" bIns="9144">
            <a:spAutoFit/>
          </a:bodyPr>
          <a:lstStyle/>
          <a:p>
            <a:pPr algn="ctr">
              <a:lnSpc>
                <a:spcPct val="100000"/>
              </a:lnSpc>
            </a:pPr>
            <a:r>
              <a:rPr sz="800" b="0" spc="100">
                <a:solidFill>
                  <a:srgbClr val="5D6675"/>
                </a:solidFill>
                <a:latin typeface="Inter Medium"/>
              </a:rPr>
              <a:t>CROSS PLATFORM</a:t>
            </a:r>
          </a:p>
        </p:txBody>
      </p:sp>
      <p:sp>
        <p:nvSpPr>
          <p:cNvPr id="53" name="TextBox 52"/>
          <p:cNvSpPr txBox="1"/>
          <p:nvPr/>
        </p:nvSpPr>
        <p:spPr>
          <a:xfrm>
            <a:off x="960120" y="4173321"/>
            <a:ext cx="3886200" cy="219456"/>
          </a:xfrm>
          <a:prstGeom prst="rect">
            <a:avLst/>
          </a:prstGeom>
          <a:noFill/>
        </p:spPr>
        <p:txBody>
          <a:bodyPr wrap="square" anchor="t" lIns="18288" rIns="18288" tIns="9144" bIns="9144">
            <a:spAutoFit/>
          </a:bodyPr>
          <a:lstStyle/>
          <a:p>
            <a:pPr algn="ctr">
              <a:lnSpc>
                <a:spcPct val="100000"/>
              </a:lnSpc>
            </a:pPr>
            <a:r>
              <a:rPr sz="950" b="0">
                <a:solidFill>
                  <a:srgbClr val="5D6675"/>
                </a:solidFill>
                <a:latin typeface="Inter"/>
              </a:rPr>
              <a:t>Single browser</a:t>
            </a:r>
          </a:p>
        </p:txBody>
      </p:sp>
      <p:sp>
        <p:nvSpPr>
          <p:cNvPr id="54" name="TextBox 53"/>
          <p:cNvSpPr txBox="1"/>
          <p:nvPr/>
        </p:nvSpPr>
        <p:spPr>
          <a:xfrm>
            <a:off x="7315200" y="4173321"/>
            <a:ext cx="3931920" cy="219456"/>
          </a:xfrm>
          <a:prstGeom prst="rect">
            <a:avLst/>
          </a:prstGeom>
          <a:noFill/>
        </p:spPr>
        <p:txBody>
          <a:bodyPr wrap="square" anchor="t" lIns="18288" rIns="18288" tIns="9144" bIns="9144">
            <a:spAutoFit/>
          </a:bodyPr>
          <a:lstStyle/>
          <a:p>
            <a:pPr algn="ctr">
              <a:lnSpc>
                <a:spcPct val="100000"/>
              </a:lnSpc>
            </a:pPr>
            <a:r>
              <a:rPr sz="950" b="0">
                <a:solidFill>
                  <a:srgbClr val="121826"/>
                </a:solidFill>
                <a:latin typeface="Inter"/>
              </a:rPr>
              <a:t>Any portal · any ATS</a:t>
            </a:r>
          </a:p>
        </p:txBody>
      </p:sp>
      <p:sp>
        <p:nvSpPr>
          <p:cNvPr id="55" name="TextBox 54"/>
          <p:cNvSpPr txBox="1"/>
          <p:nvPr/>
        </p:nvSpPr>
        <p:spPr>
          <a:xfrm>
            <a:off x="5074920" y="4418380"/>
            <a:ext cx="2011680" cy="219456"/>
          </a:xfrm>
          <a:prstGeom prst="rect">
            <a:avLst/>
          </a:prstGeom>
          <a:noFill/>
        </p:spPr>
        <p:txBody>
          <a:bodyPr wrap="square" anchor="t" lIns="18288" rIns="18288" tIns="9144" bIns="9144">
            <a:spAutoFit/>
          </a:bodyPr>
          <a:lstStyle/>
          <a:p>
            <a:pPr algn="ctr">
              <a:lnSpc>
                <a:spcPct val="100000"/>
              </a:lnSpc>
            </a:pPr>
            <a:r>
              <a:rPr sz="800" b="0" spc="100">
                <a:solidFill>
                  <a:srgbClr val="5D6675"/>
                </a:solidFill>
                <a:latin typeface="Inter Medium"/>
              </a:rPr>
              <a:t>RECRUITMENT OPTIMIZATION</a:t>
            </a:r>
          </a:p>
        </p:txBody>
      </p:sp>
      <p:sp>
        <p:nvSpPr>
          <p:cNvPr id="56" name="Rounded Rectangle 55"/>
          <p:cNvSpPr/>
          <p:nvPr/>
        </p:nvSpPr>
        <p:spPr>
          <a:xfrm>
            <a:off x="2619756" y="4432096"/>
            <a:ext cx="566928" cy="192024"/>
          </a:xfrm>
          <a:prstGeom prst="roundRect">
            <a:avLst>
              <a:gd name="adj" fmla="val 50000"/>
            </a:avLst>
          </a:prstGeom>
          <a:solidFill>
            <a:srgbClr val="DC2626">
              <a:alpha val="14000"/>
            </a:srgbClr>
          </a:solidFill>
          <a:ln w="6350">
            <a:solidFill>
              <a:srgbClr val="DC2626">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750" b="0" spc="100">
                <a:solidFill>
                  <a:srgbClr val="B91C1C"/>
                </a:solidFill>
                <a:latin typeface="Inter Medium"/>
              </a:rPr>
              <a:t>NO</a:t>
            </a:r>
          </a:p>
        </p:txBody>
      </p:sp>
      <p:sp>
        <p:nvSpPr>
          <p:cNvPr id="57" name="Rounded Rectangle 56"/>
          <p:cNvSpPr/>
          <p:nvPr/>
        </p:nvSpPr>
        <p:spPr>
          <a:xfrm>
            <a:off x="8997695" y="4432096"/>
            <a:ext cx="566928" cy="192024"/>
          </a:xfrm>
          <a:prstGeom prst="roundRect">
            <a:avLst>
              <a:gd name="adj" fmla="val 50000"/>
            </a:avLst>
          </a:prstGeom>
          <a:solidFill>
            <a:srgbClr val="059669">
              <a:alpha val="14000"/>
            </a:srgbClr>
          </a:solidFill>
          <a:ln w="6350">
            <a:solidFill>
              <a:srgbClr val="059669">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750" b="0" spc="100">
                <a:solidFill>
                  <a:srgbClr val="047857"/>
                </a:solidFill>
                <a:latin typeface="Inter Medium"/>
              </a:rPr>
              <a:t>YES</a:t>
            </a:r>
          </a:p>
        </p:txBody>
      </p:sp>
      <p:sp>
        <p:nvSpPr>
          <p:cNvPr id="58" name="Rounded Rectangle 57"/>
          <p:cNvSpPr/>
          <p:nvPr/>
        </p:nvSpPr>
        <p:spPr>
          <a:xfrm>
            <a:off x="932688" y="4649724"/>
            <a:ext cx="3941063" cy="228600"/>
          </a:xfrm>
          <a:prstGeom prst="roundRect">
            <a:avLst>
              <a:gd name="adj" fmla="val 30000"/>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7287768" y="4649724"/>
            <a:ext cx="3986783" cy="228600"/>
          </a:xfrm>
          <a:prstGeom prst="roundRect">
            <a:avLst>
              <a:gd name="adj" fmla="val 30000"/>
            </a:avLst>
          </a:prstGeom>
          <a:solidFill>
            <a:srgbClr val="FFFFFF">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074920" y="4663440"/>
            <a:ext cx="2011680" cy="219456"/>
          </a:xfrm>
          <a:prstGeom prst="rect">
            <a:avLst/>
          </a:prstGeom>
          <a:noFill/>
        </p:spPr>
        <p:txBody>
          <a:bodyPr wrap="square" anchor="t" lIns="18288" rIns="18288" tIns="9144" bIns="9144">
            <a:spAutoFit/>
          </a:bodyPr>
          <a:lstStyle/>
          <a:p>
            <a:pPr algn="ctr">
              <a:lnSpc>
                <a:spcPct val="100000"/>
              </a:lnSpc>
            </a:pPr>
            <a:r>
              <a:rPr sz="800" b="0" spc="100">
                <a:solidFill>
                  <a:srgbClr val="5D6675"/>
                </a:solidFill>
                <a:latin typeface="Inter Medium"/>
              </a:rPr>
              <a:t>BROWSER EXTENSION</a:t>
            </a:r>
          </a:p>
        </p:txBody>
      </p:sp>
      <p:sp>
        <p:nvSpPr>
          <p:cNvPr id="61" name="TextBox 60"/>
          <p:cNvSpPr txBox="1"/>
          <p:nvPr/>
        </p:nvSpPr>
        <p:spPr>
          <a:xfrm>
            <a:off x="960120" y="4663440"/>
            <a:ext cx="3886200" cy="219456"/>
          </a:xfrm>
          <a:prstGeom prst="rect">
            <a:avLst/>
          </a:prstGeom>
          <a:noFill/>
        </p:spPr>
        <p:txBody>
          <a:bodyPr wrap="square" anchor="t" lIns="18288" rIns="18288" tIns="9144" bIns="9144">
            <a:spAutoFit/>
          </a:bodyPr>
          <a:lstStyle/>
          <a:p>
            <a:pPr algn="ctr">
              <a:lnSpc>
                <a:spcPct val="100000"/>
              </a:lnSpc>
            </a:pPr>
            <a:r>
              <a:rPr sz="950" b="0">
                <a:solidFill>
                  <a:srgbClr val="5D6675"/>
                </a:solidFill>
                <a:latin typeface="Inter"/>
              </a:rPr>
              <a:t>Built-in · closed</a:t>
            </a:r>
          </a:p>
        </p:txBody>
      </p:sp>
      <p:sp>
        <p:nvSpPr>
          <p:cNvPr id="62" name="TextBox 61"/>
          <p:cNvSpPr txBox="1"/>
          <p:nvPr/>
        </p:nvSpPr>
        <p:spPr>
          <a:xfrm>
            <a:off x="7315200" y="4663440"/>
            <a:ext cx="3931920" cy="219456"/>
          </a:xfrm>
          <a:prstGeom prst="rect">
            <a:avLst/>
          </a:prstGeom>
          <a:noFill/>
        </p:spPr>
        <p:txBody>
          <a:bodyPr wrap="square" anchor="t" lIns="18288" rIns="18288" tIns="9144" bIns="9144">
            <a:spAutoFit/>
          </a:bodyPr>
          <a:lstStyle/>
          <a:p>
            <a:pPr algn="ctr">
              <a:lnSpc>
                <a:spcPct val="100000"/>
              </a:lnSpc>
            </a:pPr>
            <a:r>
              <a:rPr sz="950" b="0">
                <a:solidFill>
                  <a:srgbClr val="121826"/>
                </a:solidFill>
                <a:latin typeface="Inter"/>
              </a:rPr>
              <a:t>MV3 · user-controlled</a:t>
            </a:r>
          </a:p>
        </p:txBody>
      </p:sp>
      <p:sp>
        <p:nvSpPr>
          <p:cNvPr id="63" name="TextBox 62"/>
          <p:cNvSpPr txBox="1"/>
          <p:nvPr/>
        </p:nvSpPr>
        <p:spPr>
          <a:xfrm>
            <a:off x="5074920" y="4908499"/>
            <a:ext cx="2011680" cy="219456"/>
          </a:xfrm>
          <a:prstGeom prst="rect">
            <a:avLst/>
          </a:prstGeom>
          <a:noFill/>
        </p:spPr>
        <p:txBody>
          <a:bodyPr wrap="square" anchor="t" lIns="18288" rIns="18288" tIns="9144" bIns="9144">
            <a:spAutoFit/>
          </a:bodyPr>
          <a:lstStyle/>
          <a:p>
            <a:pPr algn="ctr">
              <a:lnSpc>
                <a:spcPct val="100000"/>
              </a:lnSpc>
            </a:pPr>
            <a:r>
              <a:rPr sz="800" b="0" spc="100">
                <a:solidFill>
                  <a:srgbClr val="5D6675"/>
                </a:solidFill>
                <a:latin typeface="Inter Medium"/>
              </a:rPr>
              <a:t>CONFIDENCE SCORE</a:t>
            </a:r>
          </a:p>
        </p:txBody>
      </p:sp>
      <p:sp>
        <p:nvSpPr>
          <p:cNvPr id="64" name="Rounded Rectangle 63"/>
          <p:cNvSpPr/>
          <p:nvPr/>
        </p:nvSpPr>
        <p:spPr>
          <a:xfrm>
            <a:off x="2619756" y="4922215"/>
            <a:ext cx="566928" cy="192024"/>
          </a:xfrm>
          <a:prstGeom prst="roundRect">
            <a:avLst>
              <a:gd name="adj" fmla="val 50000"/>
            </a:avLst>
          </a:prstGeom>
          <a:solidFill>
            <a:srgbClr val="DC2626">
              <a:alpha val="14000"/>
            </a:srgbClr>
          </a:solidFill>
          <a:ln w="6350">
            <a:solidFill>
              <a:srgbClr val="DC2626">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750" b="0" spc="100">
                <a:solidFill>
                  <a:srgbClr val="B91C1C"/>
                </a:solidFill>
                <a:latin typeface="Inter Medium"/>
              </a:rPr>
              <a:t>NO</a:t>
            </a:r>
          </a:p>
        </p:txBody>
      </p:sp>
      <p:sp>
        <p:nvSpPr>
          <p:cNvPr id="65" name="TextBox 64"/>
          <p:cNvSpPr txBox="1"/>
          <p:nvPr/>
        </p:nvSpPr>
        <p:spPr>
          <a:xfrm>
            <a:off x="7315200" y="4908499"/>
            <a:ext cx="3931920" cy="219456"/>
          </a:xfrm>
          <a:prstGeom prst="rect">
            <a:avLst/>
          </a:prstGeom>
          <a:noFill/>
        </p:spPr>
        <p:txBody>
          <a:bodyPr wrap="square" anchor="t" lIns="18288" rIns="18288" tIns="9144" bIns="9144">
            <a:spAutoFit/>
          </a:bodyPr>
          <a:lstStyle/>
          <a:p>
            <a:pPr algn="ctr">
              <a:lnSpc>
                <a:spcPct val="100000"/>
              </a:lnSpc>
            </a:pPr>
            <a:r>
              <a:rPr sz="950" b="0">
                <a:solidFill>
                  <a:srgbClr val="121826"/>
                </a:solidFill>
                <a:latin typeface="Inter"/>
              </a:rPr>
              <a:t>Calibrated 0–1</a:t>
            </a:r>
          </a:p>
        </p:txBody>
      </p:sp>
      <p:sp>
        <p:nvSpPr>
          <p:cNvPr id="66" name="Rounded Rectangle 65"/>
          <p:cNvSpPr/>
          <p:nvPr/>
        </p:nvSpPr>
        <p:spPr>
          <a:xfrm>
            <a:off x="932688" y="5139842"/>
            <a:ext cx="3941063" cy="228600"/>
          </a:xfrm>
          <a:prstGeom prst="roundRect">
            <a:avLst>
              <a:gd name="adj" fmla="val 30000"/>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7287768" y="5139842"/>
            <a:ext cx="3986783" cy="228600"/>
          </a:xfrm>
          <a:prstGeom prst="roundRect">
            <a:avLst>
              <a:gd name="adj" fmla="val 30000"/>
            </a:avLst>
          </a:prstGeom>
          <a:solidFill>
            <a:srgbClr val="FFFFFF">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074920" y="5153558"/>
            <a:ext cx="2011680" cy="219456"/>
          </a:xfrm>
          <a:prstGeom prst="rect">
            <a:avLst/>
          </a:prstGeom>
          <a:noFill/>
        </p:spPr>
        <p:txBody>
          <a:bodyPr wrap="square" anchor="t" lIns="18288" rIns="18288" tIns="9144" bIns="9144">
            <a:spAutoFit/>
          </a:bodyPr>
          <a:lstStyle/>
          <a:p>
            <a:pPr algn="ctr">
              <a:lnSpc>
                <a:spcPct val="100000"/>
              </a:lnSpc>
            </a:pPr>
            <a:r>
              <a:rPr sz="800" b="0" spc="100">
                <a:solidFill>
                  <a:srgbClr val="5D6675"/>
                </a:solidFill>
                <a:latin typeface="Inter Medium"/>
              </a:rPr>
              <a:t>LEARNING CAPABILITY</a:t>
            </a:r>
          </a:p>
        </p:txBody>
      </p:sp>
      <p:sp>
        <p:nvSpPr>
          <p:cNvPr id="69" name="TextBox 68"/>
          <p:cNvSpPr txBox="1"/>
          <p:nvPr/>
        </p:nvSpPr>
        <p:spPr>
          <a:xfrm>
            <a:off x="960120" y="5153558"/>
            <a:ext cx="3886200" cy="219456"/>
          </a:xfrm>
          <a:prstGeom prst="rect">
            <a:avLst/>
          </a:prstGeom>
          <a:noFill/>
        </p:spPr>
        <p:txBody>
          <a:bodyPr wrap="square" anchor="t" lIns="18288" rIns="18288" tIns="9144" bIns="9144">
            <a:spAutoFit/>
          </a:bodyPr>
          <a:lstStyle/>
          <a:p>
            <a:pPr algn="ctr">
              <a:lnSpc>
                <a:spcPct val="100000"/>
              </a:lnSpc>
            </a:pPr>
            <a:r>
              <a:rPr sz="950" b="0">
                <a:solidFill>
                  <a:srgbClr val="5D6675"/>
                </a:solidFill>
                <a:latin typeface="Inter"/>
              </a:rPr>
              <a:t>Static rules</a:t>
            </a:r>
          </a:p>
        </p:txBody>
      </p:sp>
      <p:sp>
        <p:nvSpPr>
          <p:cNvPr id="70" name="TextBox 69"/>
          <p:cNvSpPr txBox="1"/>
          <p:nvPr/>
        </p:nvSpPr>
        <p:spPr>
          <a:xfrm>
            <a:off x="7315200" y="5153558"/>
            <a:ext cx="3931920" cy="219456"/>
          </a:xfrm>
          <a:prstGeom prst="rect">
            <a:avLst/>
          </a:prstGeom>
          <a:noFill/>
        </p:spPr>
        <p:txBody>
          <a:bodyPr wrap="square" anchor="t" lIns="18288" rIns="18288" tIns="9144" bIns="9144">
            <a:spAutoFit/>
          </a:bodyPr>
          <a:lstStyle/>
          <a:p>
            <a:pPr algn="ctr">
              <a:lnSpc>
                <a:spcPct val="100000"/>
              </a:lnSpc>
            </a:pPr>
            <a:r>
              <a:rPr sz="950" b="0">
                <a:solidFill>
                  <a:srgbClr val="121826"/>
                </a:solidFill>
                <a:latin typeface="Inter"/>
              </a:rPr>
              <a:t>Improves with data</a:t>
            </a:r>
          </a:p>
        </p:txBody>
      </p:sp>
      <p:sp>
        <p:nvSpPr>
          <p:cNvPr id="71" name="TextBox 70"/>
          <p:cNvSpPr txBox="1"/>
          <p:nvPr/>
        </p:nvSpPr>
        <p:spPr>
          <a:xfrm>
            <a:off x="5074920" y="5398617"/>
            <a:ext cx="2011680" cy="219456"/>
          </a:xfrm>
          <a:prstGeom prst="rect">
            <a:avLst/>
          </a:prstGeom>
          <a:noFill/>
        </p:spPr>
        <p:txBody>
          <a:bodyPr wrap="square" anchor="t" lIns="18288" rIns="18288" tIns="9144" bIns="9144">
            <a:spAutoFit/>
          </a:bodyPr>
          <a:lstStyle/>
          <a:p>
            <a:pPr algn="ctr">
              <a:lnSpc>
                <a:spcPct val="100000"/>
              </a:lnSpc>
            </a:pPr>
            <a:r>
              <a:rPr sz="800" b="0" spc="100">
                <a:solidFill>
                  <a:srgbClr val="5D6675"/>
                </a:solidFill>
                <a:latin typeface="Inter Medium"/>
              </a:rPr>
              <a:t>FUTURE AI</a:t>
            </a:r>
          </a:p>
        </p:txBody>
      </p:sp>
      <p:sp>
        <p:nvSpPr>
          <p:cNvPr id="72" name="TextBox 71"/>
          <p:cNvSpPr txBox="1"/>
          <p:nvPr/>
        </p:nvSpPr>
        <p:spPr>
          <a:xfrm>
            <a:off x="960120" y="5398617"/>
            <a:ext cx="3886200" cy="219456"/>
          </a:xfrm>
          <a:prstGeom prst="rect">
            <a:avLst/>
          </a:prstGeom>
          <a:noFill/>
        </p:spPr>
        <p:txBody>
          <a:bodyPr wrap="square" anchor="t" lIns="18288" rIns="18288" tIns="9144" bIns="9144">
            <a:spAutoFit/>
          </a:bodyPr>
          <a:lstStyle/>
          <a:p>
            <a:pPr algn="ctr">
              <a:lnSpc>
                <a:spcPct val="100000"/>
              </a:lnSpc>
            </a:pPr>
            <a:r>
              <a:rPr sz="950" b="0">
                <a:solidFill>
                  <a:srgbClr val="5D6675"/>
                </a:solidFill>
                <a:latin typeface="Inter"/>
              </a:rPr>
              <a:t>—</a:t>
            </a:r>
          </a:p>
        </p:txBody>
      </p:sp>
      <p:sp>
        <p:nvSpPr>
          <p:cNvPr id="73" name="TextBox 72"/>
          <p:cNvSpPr txBox="1"/>
          <p:nvPr/>
        </p:nvSpPr>
        <p:spPr>
          <a:xfrm>
            <a:off x="7315200" y="5398617"/>
            <a:ext cx="3931920" cy="219456"/>
          </a:xfrm>
          <a:prstGeom prst="rect">
            <a:avLst/>
          </a:prstGeom>
          <a:noFill/>
        </p:spPr>
        <p:txBody>
          <a:bodyPr wrap="square" anchor="t" lIns="18288" rIns="18288" tIns="9144" bIns="9144">
            <a:spAutoFit/>
          </a:bodyPr>
          <a:lstStyle/>
          <a:p>
            <a:pPr algn="ctr">
              <a:lnSpc>
                <a:spcPct val="100000"/>
              </a:lnSpc>
            </a:pPr>
            <a:r>
              <a:rPr sz="950" b="0">
                <a:solidFill>
                  <a:srgbClr val="121826"/>
                </a:solidFill>
                <a:latin typeface="Inter"/>
              </a:rPr>
              <a:t>Transformer roadmap</a:t>
            </a:r>
          </a:p>
        </p:txBody>
      </p:sp>
      <p:sp>
        <p:nvSpPr>
          <p:cNvPr id="74" name="Rounded Rectangle 73"/>
          <p:cNvSpPr/>
          <p:nvPr/>
        </p:nvSpPr>
        <p:spPr>
          <a:xfrm>
            <a:off x="822960" y="5925312"/>
            <a:ext cx="10561320" cy="475488"/>
          </a:xfrm>
          <a:prstGeom prst="roundRect">
            <a:avLst>
              <a:gd name="adj" fmla="val 10000"/>
            </a:avLst>
          </a:prstGeom>
          <a:solidFill>
            <a:srgbClr val="FFFFFF"/>
          </a:solidFill>
          <a:ln w="9525">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350" b="0">
                <a:solidFill>
                  <a:srgbClr val="5D6675"/>
                </a:solidFill>
                <a:latin typeface="Poppins SemiBold"/>
              </a:rPr>
              <a:t>Google Autofill stores browser data.   </a:t>
            </a:r>
            <a:r>
              <a:rPr sz="1350" b="1">
                <a:solidFill>
                  <a:srgbClr val="4338CA"/>
                </a:solidFill>
                <a:latin typeface="Poppins SemiBold"/>
              </a:rPr>
              <a:t>CareerHub understands professional identity.</a:t>
            </a:r>
          </a:p>
        </p:txBody>
      </p:sp>
      <p:sp>
        <p:nvSpPr>
          <p:cNvPr id="75" name="Rectangle 74"/>
          <p:cNvSpPr/>
          <p:nvPr/>
        </p:nvSpPr>
        <p:spPr>
          <a:xfrm>
            <a:off x="822960" y="5925312"/>
            <a:ext cx="64008" cy="47548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7FA"/>
        </a:solidFill>
        <a:effectLst/>
      </p:bgPr>
    </p:bg>
    <p:spTree>
      <p:nvGrpSpPr>
        <p:cNvPr id="1" name=""/>
        <p:cNvGrpSpPr/>
        <p:nvPr/>
      </p:nvGrpSpPr>
      <p:grpSpPr/>
      <p:sp>
        <p:nvSpPr>
          <p:cNvPr id="2" name="TextBox 1"/>
          <p:cNvSpPr txBox="1"/>
          <p:nvPr/>
        </p:nvSpPr>
        <p:spPr>
          <a:xfrm>
            <a:off x="841248" y="347472"/>
            <a:ext cx="7315200" cy="274320"/>
          </a:xfrm>
          <a:prstGeom prst="rect">
            <a:avLst/>
          </a:prstGeom>
          <a:noFill/>
        </p:spPr>
        <p:txBody>
          <a:bodyPr wrap="square" anchor="t" lIns="18288" rIns="18288" tIns="9144" bIns="9144">
            <a:spAutoFit/>
          </a:bodyPr>
          <a:lstStyle/>
          <a:p>
            <a:pPr algn="l">
              <a:lnSpc>
                <a:spcPct val="100000"/>
              </a:lnSpc>
            </a:pPr>
            <a:r>
              <a:rPr sz="1100" b="0" spc="300">
                <a:solidFill>
                  <a:srgbClr val="4338CA"/>
                </a:solidFill>
                <a:latin typeface="Inter Medium"/>
              </a:rPr>
              <a:t>LITERATURE REVIEW</a:t>
            </a:r>
          </a:p>
        </p:txBody>
      </p:sp>
      <p:sp>
        <p:nvSpPr>
          <p:cNvPr id="3" name="TextBox 2"/>
          <p:cNvSpPr txBox="1"/>
          <p:nvPr/>
        </p:nvSpPr>
        <p:spPr>
          <a:xfrm>
            <a:off x="822960" y="566928"/>
            <a:ext cx="10607040" cy="566928"/>
          </a:xfrm>
          <a:prstGeom prst="rect">
            <a:avLst/>
          </a:prstGeom>
          <a:noFill/>
        </p:spPr>
        <p:txBody>
          <a:bodyPr wrap="square" anchor="t" lIns="18288" rIns="18288" tIns="9144" bIns="9144">
            <a:spAutoFit/>
          </a:bodyPr>
          <a:lstStyle/>
          <a:p>
            <a:pPr algn="l">
              <a:lnSpc>
                <a:spcPct val="100000"/>
              </a:lnSpc>
            </a:pPr>
            <a:r>
              <a:rPr sz="3000" b="1">
                <a:solidFill>
                  <a:srgbClr val="121826"/>
                </a:solidFill>
                <a:latin typeface="Poppins ExtraBold"/>
              </a:rPr>
              <a:t>Literature Review Timeline</a:t>
            </a:r>
          </a:p>
        </p:txBody>
      </p:sp>
      <p:sp>
        <p:nvSpPr>
          <p:cNvPr id="4" name="Rounded Rectangle 3"/>
          <p:cNvSpPr/>
          <p:nvPr/>
        </p:nvSpPr>
        <p:spPr>
          <a:xfrm>
            <a:off x="841248" y="1133856"/>
            <a:ext cx="868680" cy="45720"/>
          </a:xfrm>
          <a:prstGeom prst="roundRect">
            <a:avLst>
              <a:gd name="adj" fmla="val 50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81360" y="6473952"/>
            <a:ext cx="1005840" cy="274320"/>
          </a:xfrm>
          <a:prstGeom prst="rect">
            <a:avLst/>
          </a:prstGeom>
          <a:noFill/>
        </p:spPr>
        <p:txBody>
          <a:bodyPr wrap="square" anchor="t" lIns="18288" rIns="18288" tIns="9144" bIns="9144">
            <a:spAutoFit/>
          </a:bodyPr>
          <a:lstStyle/>
          <a:p>
            <a:pPr algn="r">
              <a:lnSpc>
                <a:spcPct val="100000"/>
              </a:lnSpc>
            </a:pPr>
            <a:r>
              <a:rPr sz="1000" b="0">
                <a:solidFill>
                  <a:srgbClr val="5D6675"/>
                </a:solidFill>
                <a:latin typeface="Inter Medium"/>
              </a:rPr>
              <a:t>10 / 13</a:t>
            </a:r>
          </a:p>
        </p:txBody>
      </p:sp>
      <p:sp>
        <p:nvSpPr>
          <p:cNvPr id="6" name="TextBox 5"/>
          <p:cNvSpPr txBox="1"/>
          <p:nvPr/>
        </p:nvSpPr>
        <p:spPr>
          <a:xfrm>
            <a:off x="841248" y="6473952"/>
            <a:ext cx="4572000" cy="274320"/>
          </a:xfrm>
          <a:prstGeom prst="rect">
            <a:avLst/>
          </a:prstGeom>
          <a:noFill/>
        </p:spPr>
        <p:txBody>
          <a:bodyPr wrap="square" anchor="t" lIns="18288" rIns="18288" tIns="9144" bIns="9144">
            <a:spAutoFit/>
          </a:bodyPr>
          <a:lstStyle/>
          <a:p>
            <a:pPr algn="l">
              <a:lnSpc>
                <a:spcPct val="100000"/>
              </a:lnSpc>
            </a:pPr>
            <a:r>
              <a:rPr sz="950" b="0" spc="100">
                <a:solidFill>
                  <a:srgbClr val="5D6675"/>
                </a:solidFill>
                <a:latin typeface="Inter Medium"/>
              </a:rPr>
              <a:t>CareerHub · Semantic Professional Identity Framework</a:t>
            </a:r>
          </a:p>
        </p:txBody>
      </p:sp>
      <p:cxnSp>
        <p:nvCxnSpPr>
          <p:cNvPr id="7" name="Connector 6"/>
          <p:cNvCxnSpPr/>
          <p:nvPr/>
        </p:nvCxnSpPr>
        <p:spPr>
          <a:xfrm>
            <a:off x="914400" y="3639312"/>
            <a:ext cx="10469880" cy="0"/>
          </a:xfrm>
          <a:prstGeom prst="line">
            <a:avLst/>
          </a:prstGeom>
          <a:ln w="19050">
            <a:solidFill>
              <a:srgbClr val="9AA3B2">
                <a:alpha val="90000"/>
              </a:srgbClr>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417320" y="3383280"/>
            <a:ext cx="0" cy="201168"/>
          </a:xfrm>
          <a:prstGeom prst="line">
            <a:avLst/>
          </a:prstGeom>
          <a:ln w="9525">
            <a:solidFill>
              <a:srgbClr val="9AA3B2">
                <a:alpha val="90000"/>
              </a:srgbClr>
            </a:solidFill>
          </a:ln>
          <a:effectLst/>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1353312" y="3575304"/>
            <a:ext cx="128016" cy="128016"/>
          </a:xfrm>
          <a:prstGeom prst="ellipse">
            <a:avLst/>
          </a:prstGeom>
          <a:solidFill>
            <a:srgbClr val="FFFFFF"/>
          </a:solidFill>
          <a:ln w="12700">
            <a:solidFill>
              <a:srgbClr val="9AA3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13232" y="1810512"/>
            <a:ext cx="2212848" cy="1572768"/>
          </a:xfrm>
          <a:prstGeom prst="roundRect">
            <a:avLst>
              <a:gd name="adj" fmla="val 9000"/>
            </a:avLst>
          </a:prstGeom>
          <a:solidFill>
            <a:srgbClr val="FFFFFF"/>
          </a:solidFill>
          <a:ln w="9525">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59536" y="1938528"/>
            <a:ext cx="603504" cy="219456"/>
          </a:xfrm>
          <a:prstGeom prst="roundRect">
            <a:avLst>
              <a:gd name="adj" fmla="val 50000"/>
            </a:avLst>
          </a:prstGeom>
          <a:solidFill>
            <a:srgbClr val="4F46E5">
              <a:alpha val="16000"/>
            </a:srgbClr>
          </a:solidFill>
          <a:ln w="6350">
            <a:solidFill>
              <a:srgbClr val="4F46E5">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850" b="0" spc="100">
                <a:solidFill>
                  <a:srgbClr val="4338CA"/>
                </a:solidFill>
                <a:latin typeface="Inter Medium"/>
              </a:rPr>
              <a:t>2017</a:t>
            </a:r>
          </a:p>
        </p:txBody>
      </p:sp>
      <p:sp>
        <p:nvSpPr>
          <p:cNvPr id="12" name="TextBox 11"/>
          <p:cNvSpPr txBox="1"/>
          <p:nvPr/>
        </p:nvSpPr>
        <p:spPr>
          <a:xfrm>
            <a:off x="859536" y="2212848"/>
            <a:ext cx="1920240" cy="237744"/>
          </a:xfrm>
          <a:prstGeom prst="rect">
            <a:avLst/>
          </a:prstGeom>
          <a:noFill/>
        </p:spPr>
        <p:txBody>
          <a:bodyPr wrap="square" anchor="t" lIns="18288" rIns="18288" tIns="9144" bIns="9144">
            <a:spAutoFit/>
          </a:bodyPr>
          <a:lstStyle/>
          <a:p>
            <a:pPr algn="l">
              <a:lnSpc>
                <a:spcPct val="100000"/>
              </a:lnSpc>
            </a:pPr>
            <a:r>
              <a:rPr sz="1150" b="1">
                <a:solidFill>
                  <a:srgbClr val="121826"/>
                </a:solidFill>
                <a:latin typeface="Poppins SemiBold"/>
              </a:rPr>
              <a:t>Auto-Filling Framework</a:t>
            </a:r>
          </a:p>
        </p:txBody>
      </p:sp>
      <p:sp>
        <p:nvSpPr>
          <p:cNvPr id="13" name="Oval 12"/>
          <p:cNvSpPr/>
          <p:nvPr/>
        </p:nvSpPr>
        <p:spPr>
          <a:xfrm>
            <a:off x="877824" y="2560320"/>
            <a:ext cx="73152" cy="73152"/>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2487168"/>
            <a:ext cx="1737360" cy="384048"/>
          </a:xfrm>
          <a:prstGeom prst="rect">
            <a:avLst/>
          </a:prstGeom>
          <a:noFill/>
        </p:spPr>
        <p:txBody>
          <a:bodyPr wrap="square" anchor="t" lIns="18288" rIns="18288" tIns="9144" bIns="9144">
            <a:spAutoFit/>
          </a:bodyPr>
          <a:lstStyle/>
          <a:p>
            <a:pPr algn="l">
              <a:lnSpc>
                <a:spcPct val="100000"/>
              </a:lnSpc>
            </a:pPr>
            <a:r>
              <a:rPr sz="850" b="0">
                <a:solidFill>
                  <a:srgbClr val="5D6675"/>
                </a:solidFill>
                <a:latin typeface="Inter"/>
              </a:rPr>
              <a:t>Rule-based web form autofill</a:t>
            </a:r>
          </a:p>
        </p:txBody>
      </p:sp>
      <p:sp>
        <p:nvSpPr>
          <p:cNvPr id="15" name="Oval 14"/>
          <p:cNvSpPr/>
          <p:nvPr/>
        </p:nvSpPr>
        <p:spPr>
          <a:xfrm>
            <a:off x="877824" y="2980944"/>
            <a:ext cx="73152" cy="7315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2907791"/>
            <a:ext cx="1737360" cy="384048"/>
          </a:xfrm>
          <a:prstGeom prst="rect">
            <a:avLst/>
          </a:prstGeom>
          <a:noFill/>
        </p:spPr>
        <p:txBody>
          <a:bodyPr wrap="square" anchor="t" lIns="18288" rIns="18288" tIns="9144" bIns="9144">
            <a:spAutoFit/>
          </a:bodyPr>
          <a:lstStyle/>
          <a:p>
            <a:pPr algn="l">
              <a:lnSpc>
                <a:spcPct val="100000"/>
              </a:lnSpc>
            </a:pPr>
            <a:r>
              <a:rPr sz="850" b="0">
                <a:solidFill>
                  <a:srgbClr val="5D6675"/>
                </a:solidFill>
                <a:latin typeface="Inter"/>
              </a:rPr>
              <a:t>Breaks on unseen layouts</a:t>
            </a:r>
          </a:p>
        </p:txBody>
      </p:sp>
      <p:cxnSp>
        <p:nvCxnSpPr>
          <p:cNvPr id="17" name="Connector 16"/>
          <p:cNvCxnSpPr/>
          <p:nvPr/>
        </p:nvCxnSpPr>
        <p:spPr>
          <a:xfrm>
            <a:off x="2788920" y="3694176"/>
            <a:ext cx="0" cy="347472"/>
          </a:xfrm>
          <a:prstGeom prst="line">
            <a:avLst/>
          </a:prstGeom>
          <a:ln w="9525">
            <a:solidFill>
              <a:srgbClr val="9AA3B2">
                <a:alpha val="90000"/>
              </a:srgbClr>
            </a:solidFill>
          </a:ln>
          <a:effectLst/>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2724912" y="3575304"/>
            <a:ext cx="128016" cy="128016"/>
          </a:xfrm>
          <a:prstGeom prst="ellipse">
            <a:avLst/>
          </a:prstGeom>
          <a:solidFill>
            <a:srgbClr val="FFFFFF"/>
          </a:solidFill>
          <a:ln w="12700">
            <a:solidFill>
              <a:srgbClr val="9AA3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682495" y="4041648"/>
            <a:ext cx="2212848" cy="1572768"/>
          </a:xfrm>
          <a:prstGeom prst="roundRect">
            <a:avLst>
              <a:gd name="adj" fmla="val 9000"/>
            </a:avLst>
          </a:prstGeom>
          <a:solidFill>
            <a:srgbClr val="FFFFFF"/>
          </a:solidFill>
          <a:ln w="9525">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828799" y="4169663"/>
            <a:ext cx="603504" cy="219456"/>
          </a:xfrm>
          <a:prstGeom prst="roundRect">
            <a:avLst>
              <a:gd name="adj" fmla="val 50000"/>
            </a:avLst>
          </a:prstGeom>
          <a:solidFill>
            <a:srgbClr val="4F46E5">
              <a:alpha val="16000"/>
            </a:srgbClr>
          </a:solidFill>
          <a:ln w="6350">
            <a:solidFill>
              <a:srgbClr val="4F46E5">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850" b="0" spc="100">
                <a:solidFill>
                  <a:srgbClr val="4338CA"/>
                </a:solidFill>
                <a:latin typeface="Inter Medium"/>
              </a:rPr>
              <a:t>2020</a:t>
            </a:r>
          </a:p>
        </p:txBody>
      </p:sp>
      <p:sp>
        <p:nvSpPr>
          <p:cNvPr id="21" name="TextBox 20"/>
          <p:cNvSpPr txBox="1"/>
          <p:nvPr/>
        </p:nvSpPr>
        <p:spPr>
          <a:xfrm>
            <a:off x="1828799" y="4443984"/>
            <a:ext cx="1920240" cy="237744"/>
          </a:xfrm>
          <a:prstGeom prst="rect">
            <a:avLst/>
          </a:prstGeom>
          <a:noFill/>
        </p:spPr>
        <p:txBody>
          <a:bodyPr wrap="square" anchor="t" lIns="18288" rIns="18288" tIns="9144" bIns="9144">
            <a:spAutoFit/>
          </a:bodyPr>
          <a:lstStyle/>
          <a:p>
            <a:pPr algn="l">
              <a:lnSpc>
                <a:spcPct val="100000"/>
              </a:lnSpc>
            </a:pPr>
            <a:r>
              <a:rPr sz="1150" b="1">
                <a:solidFill>
                  <a:srgbClr val="121826"/>
                </a:solidFill>
                <a:latin typeface="Poppins SemiBold"/>
              </a:rPr>
              <a:t>Digital Identity (SSI)</a:t>
            </a:r>
          </a:p>
        </p:txBody>
      </p:sp>
      <p:sp>
        <p:nvSpPr>
          <p:cNvPr id="22" name="Oval 21"/>
          <p:cNvSpPr/>
          <p:nvPr/>
        </p:nvSpPr>
        <p:spPr>
          <a:xfrm>
            <a:off x="1847088" y="4791456"/>
            <a:ext cx="73152" cy="73152"/>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011679" y="4718304"/>
            <a:ext cx="1737360" cy="384048"/>
          </a:xfrm>
          <a:prstGeom prst="rect">
            <a:avLst/>
          </a:prstGeom>
          <a:noFill/>
        </p:spPr>
        <p:txBody>
          <a:bodyPr wrap="square" anchor="t" lIns="18288" rIns="18288" tIns="9144" bIns="9144">
            <a:spAutoFit/>
          </a:bodyPr>
          <a:lstStyle/>
          <a:p>
            <a:pPr algn="l">
              <a:lnSpc>
                <a:spcPct val="100000"/>
              </a:lnSpc>
            </a:pPr>
            <a:r>
              <a:rPr sz="850" b="0">
                <a:solidFill>
                  <a:srgbClr val="5D6675"/>
                </a:solidFill>
                <a:latin typeface="Inter"/>
              </a:rPr>
              <a:t>User-controlled credentials</a:t>
            </a:r>
          </a:p>
        </p:txBody>
      </p:sp>
      <p:sp>
        <p:nvSpPr>
          <p:cNvPr id="24" name="Oval 23"/>
          <p:cNvSpPr/>
          <p:nvPr/>
        </p:nvSpPr>
        <p:spPr>
          <a:xfrm>
            <a:off x="1847088" y="5212080"/>
            <a:ext cx="73152" cy="7315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011679" y="5138928"/>
            <a:ext cx="1737360" cy="384048"/>
          </a:xfrm>
          <a:prstGeom prst="rect">
            <a:avLst/>
          </a:prstGeom>
          <a:noFill/>
        </p:spPr>
        <p:txBody>
          <a:bodyPr wrap="square" anchor="t" lIns="18288" rIns="18288" tIns="9144" bIns="9144">
            <a:spAutoFit/>
          </a:bodyPr>
          <a:lstStyle/>
          <a:p>
            <a:pPr algn="l">
              <a:lnSpc>
                <a:spcPct val="100000"/>
              </a:lnSpc>
            </a:pPr>
            <a:r>
              <a:rPr sz="850" b="0">
                <a:solidFill>
                  <a:srgbClr val="5D6675"/>
                </a:solidFill>
                <a:latin typeface="Inter"/>
              </a:rPr>
              <a:t>Not applied to recruitment</a:t>
            </a:r>
          </a:p>
        </p:txBody>
      </p:sp>
      <p:cxnSp>
        <p:nvCxnSpPr>
          <p:cNvPr id="26" name="Connector 25"/>
          <p:cNvCxnSpPr/>
          <p:nvPr/>
        </p:nvCxnSpPr>
        <p:spPr>
          <a:xfrm>
            <a:off x="4160520" y="3383280"/>
            <a:ext cx="0" cy="201168"/>
          </a:xfrm>
          <a:prstGeom prst="line">
            <a:avLst/>
          </a:prstGeom>
          <a:ln w="9525">
            <a:solidFill>
              <a:srgbClr val="9AA3B2">
                <a:alpha val="90000"/>
              </a:srgbClr>
            </a:solidFill>
          </a:ln>
          <a:effectLst/>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4096511" y="3575304"/>
            <a:ext cx="128016" cy="128016"/>
          </a:xfrm>
          <a:prstGeom prst="ellipse">
            <a:avLst/>
          </a:prstGeom>
          <a:solidFill>
            <a:srgbClr val="FFFFFF"/>
          </a:solidFill>
          <a:ln w="12700">
            <a:solidFill>
              <a:srgbClr val="9AA3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054096" y="1810512"/>
            <a:ext cx="2212848" cy="1572768"/>
          </a:xfrm>
          <a:prstGeom prst="roundRect">
            <a:avLst>
              <a:gd name="adj" fmla="val 9000"/>
            </a:avLst>
          </a:prstGeom>
          <a:solidFill>
            <a:srgbClr val="FFFFFF"/>
          </a:solidFill>
          <a:ln w="9525">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200400" y="1938528"/>
            <a:ext cx="603504" cy="219456"/>
          </a:xfrm>
          <a:prstGeom prst="roundRect">
            <a:avLst>
              <a:gd name="adj" fmla="val 50000"/>
            </a:avLst>
          </a:prstGeom>
          <a:solidFill>
            <a:srgbClr val="4F46E5">
              <a:alpha val="16000"/>
            </a:srgbClr>
          </a:solidFill>
          <a:ln w="6350">
            <a:solidFill>
              <a:srgbClr val="4F46E5">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850" b="0" spc="100">
                <a:solidFill>
                  <a:srgbClr val="4338CA"/>
                </a:solidFill>
                <a:latin typeface="Inter Medium"/>
              </a:rPr>
              <a:t>2020</a:t>
            </a:r>
          </a:p>
        </p:txBody>
      </p:sp>
      <p:sp>
        <p:nvSpPr>
          <p:cNvPr id="30" name="TextBox 29"/>
          <p:cNvSpPr txBox="1"/>
          <p:nvPr/>
        </p:nvSpPr>
        <p:spPr>
          <a:xfrm>
            <a:off x="3200400" y="2212848"/>
            <a:ext cx="1920240" cy="237744"/>
          </a:xfrm>
          <a:prstGeom prst="rect">
            <a:avLst/>
          </a:prstGeom>
          <a:noFill/>
        </p:spPr>
        <p:txBody>
          <a:bodyPr wrap="square" anchor="t" lIns="18288" rIns="18288" tIns="9144" bIns="9144">
            <a:spAutoFit/>
          </a:bodyPr>
          <a:lstStyle/>
          <a:p>
            <a:pPr algn="l">
              <a:lnSpc>
                <a:spcPct val="100000"/>
              </a:lnSpc>
            </a:pPr>
            <a:r>
              <a:rPr sz="1150" b="1">
                <a:solidFill>
                  <a:srgbClr val="121826"/>
                </a:solidFill>
                <a:latin typeface="Poppins SemiBold"/>
              </a:rPr>
              <a:t>Autofill Security</a:t>
            </a:r>
          </a:p>
        </p:txBody>
      </p:sp>
      <p:sp>
        <p:nvSpPr>
          <p:cNvPr id="31" name="Oval 30"/>
          <p:cNvSpPr/>
          <p:nvPr/>
        </p:nvSpPr>
        <p:spPr>
          <a:xfrm>
            <a:off x="3218688" y="2560320"/>
            <a:ext cx="73152" cy="73152"/>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383279" y="2487168"/>
            <a:ext cx="1737360" cy="384048"/>
          </a:xfrm>
          <a:prstGeom prst="rect">
            <a:avLst/>
          </a:prstGeom>
          <a:noFill/>
        </p:spPr>
        <p:txBody>
          <a:bodyPr wrap="square" anchor="t" lIns="18288" rIns="18288" tIns="9144" bIns="9144">
            <a:spAutoFit/>
          </a:bodyPr>
          <a:lstStyle/>
          <a:p>
            <a:pPr algn="l">
              <a:lnSpc>
                <a:spcPct val="100000"/>
              </a:lnSpc>
            </a:pPr>
            <a:r>
              <a:rPr sz="850" b="0">
                <a:solidFill>
                  <a:srgbClr val="5D6675"/>
                </a:solidFill>
                <a:latin typeface="Inter"/>
              </a:rPr>
              <a:t>Attack-surface analysis</a:t>
            </a:r>
          </a:p>
        </p:txBody>
      </p:sp>
      <p:sp>
        <p:nvSpPr>
          <p:cNvPr id="33" name="Oval 32"/>
          <p:cNvSpPr/>
          <p:nvPr/>
        </p:nvSpPr>
        <p:spPr>
          <a:xfrm>
            <a:off x="3218688" y="2980944"/>
            <a:ext cx="73152" cy="7315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383279" y="2907791"/>
            <a:ext cx="1737360" cy="384048"/>
          </a:xfrm>
          <a:prstGeom prst="rect">
            <a:avLst/>
          </a:prstGeom>
          <a:noFill/>
        </p:spPr>
        <p:txBody>
          <a:bodyPr wrap="square" anchor="t" lIns="18288" rIns="18288" tIns="9144" bIns="9144">
            <a:spAutoFit/>
          </a:bodyPr>
          <a:lstStyle/>
          <a:p>
            <a:pPr algn="l">
              <a:lnSpc>
                <a:spcPct val="100000"/>
              </a:lnSpc>
            </a:pPr>
            <a:r>
              <a:rPr sz="850" b="0">
                <a:solidFill>
                  <a:srgbClr val="5D6675"/>
                </a:solidFill>
                <a:latin typeface="Inter"/>
              </a:rPr>
              <a:t>Generic fields only</a:t>
            </a:r>
          </a:p>
        </p:txBody>
      </p:sp>
      <p:cxnSp>
        <p:nvCxnSpPr>
          <p:cNvPr id="35" name="Connector 34"/>
          <p:cNvCxnSpPr/>
          <p:nvPr/>
        </p:nvCxnSpPr>
        <p:spPr>
          <a:xfrm>
            <a:off x="5532120" y="3694176"/>
            <a:ext cx="0" cy="347472"/>
          </a:xfrm>
          <a:prstGeom prst="line">
            <a:avLst/>
          </a:prstGeom>
          <a:ln w="9525">
            <a:solidFill>
              <a:srgbClr val="9AA3B2">
                <a:alpha val="90000"/>
              </a:srgbClr>
            </a:solidFill>
          </a:ln>
          <a:effectLst/>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5468112" y="3575304"/>
            <a:ext cx="128016" cy="128016"/>
          </a:xfrm>
          <a:prstGeom prst="ellipse">
            <a:avLst/>
          </a:prstGeom>
          <a:solidFill>
            <a:srgbClr val="FFFFFF"/>
          </a:solidFill>
          <a:ln w="12700">
            <a:solidFill>
              <a:srgbClr val="9AA3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425696" y="4041648"/>
            <a:ext cx="2212848" cy="1572768"/>
          </a:xfrm>
          <a:prstGeom prst="roundRect">
            <a:avLst>
              <a:gd name="adj" fmla="val 9000"/>
            </a:avLst>
          </a:prstGeom>
          <a:solidFill>
            <a:srgbClr val="FFFFFF"/>
          </a:solidFill>
          <a:ln w="9525">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4572000" y="4169663"/>
            <a:ext cx="603504" cy="219456"/>
          </a:xfrm>
          <a:prstGeom prst="roundRect">
            <a:avLst>
              <a:gd name="adj" fmla="val 50000"/>
            </a:avLst>
          </a:prstGeom>
          <a:solidFill>
            <a:srgbClr val="4F46E5">
              <a:alpha val="16000"/>
            </a:srgbClr>
          </a:solidFill>
          <a:ln w="6350">
            <a:solidFill>
              <a:srgbClr val="4F46E5">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850" b="0" spc="100">
                <a:solidFill>
                  <a:srgbClr val="4338CA"/>
                </a:solidFill>
                <a:latin typeface="Inter Medium"/>
              </a:rPr>
              <a:t>2024</a:t>
            </a:r>
          </a:p>
        </p:txBody>
      </p:sp>
      <p:sp>
        <p:nvSpPr>
          <p:cNvPr id="39" name="TextBox 38"/>
          <p:cNvSpPr txBox="1"/>
          <p:nvPr/>
        </p:nvSpPr>
        <p:spPr>
          <a:xfrm>
            <a:off x="4572000" y="4443984"/>
            <a:ext cx="1920240" cy="237744"/>
          </a:xfrm>
          <a:prstGeom prst="rect">
            <a:avLst/>
          </a:prstGeom>
          <a:noFill/>
        </p:spPr>
        <p:txBody>
          <a:bodyPr wrap="square" anchor="t" lIns="18288" rIns="18288" tIns="9144" bIns="9144">
            <a:spAutoFit/>
          </a:bodyPr>
          <a:lstStyle/>
          <a:p>
            <a:pPr algn="l">
              <a:lnSpc>
                <a:spcPct val="100000"/>
              </a:lnSpc>
            </a:pPr>
            <a:r>
              <a:rPr sz="1150" b="1">
                <a:solidFill>
                  <a:srgbClr val="121826"/>
                </a:solidFill>
                <a:latin typeface="Poppins SemiBold"/>
              </a:rPr>
              <a:t>Sentence Embeddings</a:t>
            </a:r>
          </a:p>
        </p:txBody>
      </p:sp>
      <p:sp>
        <p:nvSpPr>
          <p:cNvPr id="40" name="Oval 39"/>
          <p:cNvSpPr/>
          <p:nvPr/>
        </p:nvSpPr>
        <p:spPr>
          <a:xfrm>
            <a:off x="4590288" y="4791456"/>
            <a:ext cx="73152" cy="73152"/>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754880" y="4718304"/>
            <a:ext cx="1737360" cy="384048"/>
          </a:xfrm>
          <a:prstGeom prst="rect">
            <a:avLst/>
          </a:prstGeom>
          <a:noFill/>
        </p:spPr>
        <p:txBody>
          <a:bodyPr wrap="square" anchor="t" lIns="18288" rIns="18288" tIns="9144" bIns="9144">
            <a:spAutoFit/>
          </a:bodyPr>
          <a:lstStyle/>
          <a:p>
            <a:pPr algn="l">
              <a:lnSpc>
                <a:spcPct val="100000"/>
              </a:lnSpc>
            </a:pPr>
            <a:r>
              <a:rPr sz="850" b="0">
                <a:solidFill>
                  <a:srgbClr val="5D6675"/>
                </a:solidFill>
                <a:latin typeface="Inter"/>
              </a:rPr>
              <a:t>Cheap semantic similarity</a:t>
            </a:r>
          </a:p>
        </p:txBody>
      </p:sp>
      <p:sp>
        <p:nvSpPr>
          <p:cNvPr id="42" name="Oval 41"/>
          <p:cNvSpPr/>
          <p:nvPr/>
        </p:nvSpPr>
        <p:spPr>
          <a:xfrm>
            <a:off x="4590288" y="5212080"/>
            <a:ext cx="73152" cy="7315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754880" y="5138928"/>
            <a:ext cx="1737360" cy="384048"/>
          </a:xfrm>
          <a:prstGeom prst="rect">
            <a:avLst/>
          </a:prstGeom>
          <a:noFill/>
        </p:spPr>
        <p:txBody>
          <a:bodyPr wrap="square" anchor="t" lIns="18288" rIns="18288" tIns="9144" bIns="9144">
            <a:spAutoFit/>
          </a:bodyPr>
          <a:lstStyle/>
          <a:p>
            <a:pPr algn="l">
              <a:lnSpc>
                <a:spcPct val="100000"/>
              </a:lnSpc>
            </a:pPr>
            <a:r>
              <a:rPr sz="850" b="0">
                <a:solidFill>
                  <a:srgbClr val="5D6675"/>
                </a:solidFill>
                <a:latin typeface="Inter"/>
              </a:rPr>
              <a:t>Not used on form fields</a:t>
            </a:r>
          </a:p>
        </p:txBody>
      </p:sp>
      <p:cxnSp>
        <p:nvCxnSpPr>
          <p:cNvPr id="44" name="Connector 43"/>
          <p:cNvCxnSpPr/>
          <p:nvPr/>
        </p:nvCxnSpPr>
        <p:spPr>
          <a:xfrm>
            <a:off x="6903720" y="3383280"/>
            <a:ext cx="0" cy="201168"/>
          </a:xfrm>
          <a:prstGeom prst="line">
            <a:avLst/>
          </a:prstGeom>
          <a:ln w="9525">
            <a:solidFill>
              <a:srgbClr val="9AA3B2">
                <a:alpha val="90000"/>
              </a:srgbClr>
            </a:solidFill>
          </a:ln>
          <a:effectLst/>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6839712" y="3575304"/>
            <a:ext cx="128016" cy="128016"/>
          </a:xfrm>
          <a:prstGeom prst="ellipse">
            <a:avLst/>
          </a:prstGeom>
          <a:solidFill>
            <a:srgbClr val="FFFFFF"/>
          </a:solidFill>
          <a:ln w="12700">
            <a:solidFill>
              <a:srgbClr val="9AA3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5797296" y="1810512"/>
            <a:ext cx="2212848" cy="1572768"/>
          </a:xfrm>
          <a:prstGeom prst="roundRect">
            <a:avLst>
              <a:gd name="adj" fmla="val 9000"/>
            </a:avLst>
          </a:prstGeom>
          <a:solidFill>
            <a:srgbClr val="FFFFFF"/>
          </a:solidFill>
          <a:ln w="9525">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5943600" y="1938528"/>
            <a:ext cx="603504" cy="219456"/>
          </a:xfrm>
          <a:prstGeom prst="roundRect">
            <a:avLst>
              <a:gd name="adj" fmla="val 50000"/>
            </a:avLst>
          </a:prstGeom>
          <a:solidFill>
            <a:srgbClr val="4F46E5">
              <a:alpha val="16000"/>
            </a:srgbClr>
          </a:solidFill>
          <a:ln w="6350">
            <a:solidFill>
              <a:srgbClr val="4F46E5">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850" b="0" spc="100">
                <a:solidFill>
                  <a:srgbClr val="4338CA"/>
                </a:solidFill>
                <a:latin typeface="Inter Medium"/>
              </a:rPr>
              <a:t>2024</a:t>
            </a:r>
          </a:p>
        </p:txBody>
      </p:sp>
      <p:sp>
        <p:nvSpPr>
          <p:cNvPr id="48" name="TextBox 47"/>
          <p:cNvSpPr txBox="1"/>
          <p:nvPr/>
        </p:nvSpPr>
        <p:spPr>
          <a:xfrm>
            <a:off x="5943600" y="2212848"/>
            <a:ext cx="1920240" cy="237744"/>
          </a:xfrm>
          <a:prstGeom prst="rect">
            <a:avLst/>
          </a:prstGeom>
          <a:noFill/>
        </p:spPr>
        <p:txBody>
          <a:bodyPr wrap="square" anchor="t" lIns="18288" rIns="18288" tIns="9144" bIns="9144">
            <a:spAutoFit/>
          </a:bodyPr>
          <a:lstStyle/>
          <a:p>
            <a:pPr algn="l">
              <a:lnSpc>
                <a:spcPct val="100000"/>
              </a:lnSpc>
            </a:pPr>
            <a:r>
              <a:rPr sz="1150" b="1">
                <a:solidFill>
                  <a:srgbClr val="121826"/>
                </a:solidFill>
                <a:latin typeface="Poppins SemiBold"/>
              </a:rPr>
              <a:t>Resume Parsing</a:t>
            </a:r>
          </a:p>
        </p:txBody>
      </p:sp>
      <p:sp>
        <p:nvSpPr>
          <p:cNvPr id="49" name="Oval 48"/>
          <p:cNvSpPr/>
          <p:nvPr/>
        </p:nvSpPr>
        <p:spPr>
          <a:xfrm>
            <a:off x="5961888" y="2560320"/>
            <a:ext cx="73152" cy="73152"/>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126480" y="2487168"/>
            <a:ext cx="1737360" cy="384048"/>
          </a:xfrm>
          <a:prstGeom prst="rect">
            <a:avLst/>
          </a:prstGeom>
          <a:noFill/>
        </p:spPr>
        <p:txBody>
          <a:bodyPr wrap="square" anchor="t" lIns="18288" rIns="18288" tIns="9144" bIns="9144">
            <a:spAutoFit/>
          </a:bodyPr>
          <a:lstStyle/>
          <a:p>
            <a:pPr algn="l">
              <a:lnSpc>
                <a:spcPct val="100000"/>
              </a:lnSpc>
            </a:pPr>
            <a:r>
              <a:rPr sz="850" b="0">
                <a:solidFill>
                  <a:srgbClr val="5D6675"/>
                </a:solidFill>
                <a:latin typeface="Inter"/>
              </a:rPr>
              <a:t>Structured CV extraction</a:t>
            </a:r>
          </a:p>
        </p:txBody>
      </p:sp>
      <p:sp>
        <p:nvSpPr>
          <p:cNvPr id="51" name="Oval 50"/>
          <p:cNvSpPr/>
          <p:nvPr/>
        </p:nvSpPr>
        <p:spPr>
          <a:xfrm>
            <a:off x="5961888" y="2980944"/>
            <a:ext cx="73152" cy="7315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126480" y="2907791"/>
            <a:ext cx="1737360" cy="384048"/>
          </a:xfrm>
          <a:prstGeom prst="rect">
            <a:avLst/>
          </a:prstGeom>
          <a:noFill/>
        </p:spPr>
        <p:txBody>
          <a:bodyPr wrap="square" anchor="t" lIns="18288" rIns="18288" tIns="9144" bIns="9144">
            <a:spAutoFit/>
          </a:bodyPr>
          <a:lstStyle/>
          <a:p>
            <a:pPr algn="l">
              <a:lnSpc>
                <a:spcPct val="100000"/>
              </a:lnSpc>
            </a:pPr>
            <a:r>
              <a:rPr sz="850" b="0">
                <a:solidFill>
                  <a:srgbClr val="5D6675"/>
                </a:solidFill>
                <a:latin typeface="Inter"/>
              </a:rPr>
              <a:t>One-way · no form mapping</a:t>
            </a:r>
          </a:p>
        </p:txBody>
      </p:sp>
      <p:cxnSp>
        <p:nvCxnSpPr>
          <p:cNvPr id="53" name="Connector 52"/>
          <p:cNvCxnSpPr/>
          <p:nvPr/>
        </p:nvCxnSpPr>
        <p:spPr>
          <a:xfrm>
            <a:off x="8275320" y="3694176"/>
            <a:ext cx="0" cy="347472"/>
          </a:xfrm>
          <a:prstGeom prst="line">
            <a:avLst/>
          </a:prstGeom>
          <a:ln w="9525">
            <a:solidFill>
              <a:srgbClr val="9AA3B2">
                <a:alpha val="90000"/>
              </a:srgbClr>
            </a:solidFill>
          </a:ln>
          <a:effectLst/>
        </p:spPr>
        <p:style>
          <a:lnRef idx="2">
            <a:schemeClr val="accent1"/>
          </a:lnRef>
          <a:fillRef idx="0">
            <a:schemeClr val="accent1"/>
          </a:fillRef>
          <a:effectRef idx="1">
            <a:schemeClr val="accent1"/>
          </a:effectRef>
          <a:fontRef idx="minor">
            <a:schemeClr val="tx1"/>
          </a:fontRef>
        </p:style>
      </p:cxnSp>
      <p:sp>
        <p:nvSpPr>
          <p:cNvPr id="54" name="Oval 53"/>
          <p:cNvSpPr/>
          <p:nvPr/>
        </p:nvSpPr>
        <p:spPr>
          <a:xfrm>
            <a:off x="8211312" y="3575304"/>
            <a:ext cx="128016" cy="128016"/>
          </a:xfrm>
          <a:prstGeom prst="ellipse">
            <a:avLst/>
          </a:prstGeom>
          <a:solidFill>
            <a:srgbClr val="FFFFFF"/>
          </a:solidFill>
          <a:ln w="12700">
            <a:solidFill>
              <a:srgbClr val="9AA3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7168896" y="4041648"/>
            <a:ext cx="2212848" cy="1572768"/>
          </a:xfrm>
          <a:prstGeom prst="roundRect">
            <a:avLst>
              <a:gd name="adj" fmla="val 9000"/>
            </a:avLst>
          </a:prstGeom>
          <a:solidFill>
            <a:srgbClr val="FFFFFF"/>
          </a:solidFill>
          <a:ln w="9525">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7315200" y="4169663"/>
            <a:ext cx="603504" cy="219456"/>
          </a:xfrm>
          <a:prstGeom prst="roundRect">
            <a:avLst>
              <a:gd name="adj" fmla="val 50000"/>
            </a:avLst>
          </a:prstGeom>
          <a:solidFill>
            <a:srgbClr val="4F46E5">
              <a:alpha val="16000"/>
            </a:srgbClr>
          </a:solidFill>
          <a:ln w="6350">
            <a:solidFill>
              <a:srgbClr val="4F46E5">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850" b="0" spc="100">
                <a:solidFill>
                  <a:srgbClr val="4338CA"/>
                </a:solidFill>
                <a:latin typeface="Inter Medium"/>
              </a:rPr>
              <a:t>2026</a:t>
            </a:r>
          </a:p>
        </p:txBody>
      </p:sp>
      <p:sp>
        <p:nvSpPr>
          <p:cNvPr id="57" name="TextBox 56"/>
          <p:cNvSpPr txBox="1"/>
          <p:nvPr/>
        </p:nvSpPr>
        <p:spPr>
          <a:xfrm>
            <a:off x="7315200" y="4443984"/>
            <a:ext cx="1920240" cy="237744"/>
          </a:xfrm>
          <a:prstGeom prst="rect">
            <a:avLst/>
          </a:prstGeom>
          <a:noFill/>
        </p:spPr>
        <p:txBody>
          <a:bodyPr wrap="square" anchor="t" lIns="18288" rIns="18288" tIns="9144" bIns="9144">
            <a:spAutoFit/>
          </a:bodyPr>
          <a:lstStyle/>
          <a:p>
            <a:pPr algn="l">
              <a:lnSpc>
                <a:spcPct val="100000"/>
              </a:lnSpc>
            </a:pPr>
            <a:r>
              <a:rPr sz="1150" b="1">
                <a:solidFill>
                  <a:srgbClr val="121826"/>
                </a:solidFill>
                <a:latin typeface="Poppins SemiBold"/>
              </a:rPr>
              <a:t>PageGuide</a:t>
            </a:r>
          </a:p>
        </p:txBody>
      </p:sp>
      <p:sp>
        <p:nvSpPr>
          <p:cNvPr id="58" name="Oval 57"/>
          <p:cNvSpPr/>
          <p:nvPr/>
        </p:nvSpPr>
        <p:spPr>
          <a:xfrm>
            <a:off x="7333488" y="4791456"/>
            <a:ext cx="73152" cy="73152"/>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498080" y="4718304"/>
            <a:ext cx="1737360" cy="384048"/>
          </a:xfrm>
          <a:prstGeom prst="rect">
            <a:avLst/>
          </a:prstGeom>
          <a:noFill/>
        </p:spPr>
        <p:txBody>
          <a:bodyPr wrap="square" anchor="t" lIns="18288" rIns="18288" tIns="9144" bIns="9144">
            <a:spAutoFit/>
          </a:bodyPr>
          <a:lstStyle/>
          <a:p>
            <a:pPr algn="l">
              <a:lnSpc>
                <a:spcPct val="100000"/>
              </a:lnSpc>
            </a:pPr>
            <a:r>
              <a:rPr sz="850" b="0">
                <a:solidFill>
                  <a:srgbClr val="5D6675"/>
                </a:solidFill>
                <a:latin typeface="Inter"/>
              </a:rPr>
              <a:t>LLM page understanding</a:t>
            </a:r>
          </a:p>
        </p:txBody>
      </p:sp>
      <p:sp>
        <p:nvSpPr>
          <p:cNvPr id="60" name="Oval 59"/>
          <p:cNvSpPr/>
          <p:nvPr/>
        </p:nvSpPr>
        <p:spPr>
          <a:xfrm>
            <a:off x="7333488" y="5212080"/>
            <a:ext cx="73152" cy="7315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498080" y="5138928"/>
            <a:ext cx="1737360" cy="384048"/>
          </a:xfrm>
          <a:prstGeom prst="rect">
            <a:avLst/>
          </a:prstGeom>
          <a:noFill/>
        </p:spPr>
        <p:txBody>
          <a:bodyPr wrap="square" anchor="t" lIns="18288" rIns="18288" tIns="9144" bIns="9144">
            <a:spAutoFit/>
          </a:bodyPr>
          <a:lstStyle/>
          <a:p>
            <a:pPr algn="l">
              <a:lnSpc>
                <a:spcPct val="100000"/>
              </a:lnSpc>
            </a:pPr>
            <a:r>
              <a:rPr sz="850" b="0">
                <a:solidFill>
                  <a:srgbClr val="5D6675"/>
                </a:solidFill>
                <a:latin typeface="Inter"/>
              </a:rPr>
              <a:t>No profile ontology</a:t>
            </a:r>
          </a:p>
        </p:txBody>
      </p:sp>
      <p:cxnSp>
        <p:nvCxnSpPr>
          <p:cNvPr id="62" name="Connector 61"/>
          <p:cNvCxnSpPr/>
          <p:nvPr/>
        </p:nvCxnSpPr>
        <p:spPr>
          <a:xfrm>
            <a:off x="9646920" y="3383280"/>
            <a:ext cx="0" cy="201168"/>
          </a:xfrm>
          <a:prstGeom prst="line">
            <a:avLst/>
          </a:prstGeom>
          <a:ln w="9525">
            <a:solidFill>
              <a:srgbClr val="9AA3B2">
                <a:alpha val="90000"/>
              </a:srgbClr>
            </a:solidFill>
          </a:ln>
          <a:effectLst/>
        </p:spPr>
        <p:style>
          <a:lnRef idx="2">
            <a:schemeClr val="accent1"/>
          </a:lnRef>
          <a:fillRef idx="0">
            <a:schemeClr val="accent1"/>
          </a:fillRef>
          <a:effectRef idx="1">
            <a:schemeClr val="accent1"/>
          </a:effectRef>
          <a:fontRef idx="minor">
            <a:schemeClr val="tx1"/>
          </a:fontRef>
        </p:style>
      </p:cxnSp>
      <p:sp>
        <p:nvSpPr>
          <p:cNvPr id="63" name="Oval 62"/>
          <p:cNvSpPr/>
          <p:nvPr/>
        </p:nvSpPr>
        <p:spPr>
          <a:xfrm>
            <a:off x="9582912" y="3575304"/>
            <a:ext cx="128016" cy="128016"/>
          </a:xfrm>
          <a:prstGeom prst="ellipse">
            <a:avLst/>
          </a:prstGeom>
          <a:solidFill>
            <a:srgbClr val="FFFFFF"/>
          </a:solidFill>
          <a:ln w="12700">
            <a:solidFill>
              <a:srgbClr val="9AA3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8540496" y="1810512"/>
            <a:ext cx="2212848" cy="1572768"/>
          </a:xfrm>
          <a:prstGeom prst="roundRect">
            <a:avLst>
              <a:gd name="adj" fmla="val 9000"/>
            </a:avLst>
          </a:prstGeom>
          <a:solidFill>
            <a:srgbClr val="FFFFFF"/>
          </a:solidFill>
          <a:ln w="9525">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8686800" y="1938528"/>
            <a:ext cx="603504" cy="219456"/>
          </a:xfrm>
          <a:prstGeom prst="roundRect">
            <a:avLst>
              <a:gd name="adj" fmla="val 50000"/>
            </a:avLst>
          </a:prstGeom>
          <a:solidFill>
            <a:srgbClr val="4F46E5">
              <a:alpha val="16000"/>
            </a:srgbClr>
          </a:solidFill>
          <a:ln w="6350">
            <a:solidFill>
              <a:srgbClr val="4F46E5">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850" b="0" spc="100">
                <a:solidFill>
                  <a:srgbClr val="4338CA"/>
                </a:solidFill>
                <a:latin typeface="Inter Medium"/>
              </a:rPr>
              <a:t>2026</a:t>
            </a:r>
          </a:p>
        </p:txBody>
      </p:sp>
      <p:sp>
        <p:nvSpPr>
          <p:cNvPr id="66" name="TextBox 65"/>
          <p:cNvSpPr txBox="1"/>
          <p:nvPr/>
        </p:nvSpPr>
        <p:spPr>
          <a:xfrm>
            <a:off x="8686800" y="2212848"/>
            <a:ext cx="1920240" cy="237744"/>
          </a:xfrm>
          <a:prstGeom prst="rect">
            <a:avLst/>
          </a:prstGeom>
          <a:noFill/>
        </p:spPr>
        <p:txBody>
          <a:bodyPr wrap="square" anchor="t" lIns="18288" rIns="18288" tIns="9144" bIns="9144">
            <a:spAutoFit/>
          </a:bodyPr>
          <a:lstStyle/>
          <a:p>
            <a:pPr algn="l">
              <a:lnSpc>
                <a:spcPct val="100000"/>
              </a:lnSpc>
            </a:pPr>
            <a:r>
              <a:rPr sz="1150" b="1">
                <a:solidFill>
                  <a:srgbClr val="121826"/>
                </a:solidFill>
                <a:latin typeface="Poppins SemiBold"/>
              </a:rPr>
              <a:t>CommonForms</a:t>
            </a:r>
          </a:p>
        </p:txBody>
      </p:sp>
      <p:sp>
        <p:nvSpPr>
          <p:cNvPr id="67" name="Oval 66"/>
          <p:cNvSpPr/>
          <p:nvPr/>
        </p:nvSpPr>
        <p:spPr>
          <a:xfrm>
            <a:off x="8705088" y="2560320"/>
            <a:ext cx="73152" cy="73152"/>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869680" y="2487168"/>
            <a:ext cx="1737360" cy="384048"/>
          </a:xfrm>
          <a:prstGeom prst="rect">
            <a:avLst/>
          </a:prstGeom>
          <a:noFill/>
        </p:spPr>
        <p:txBody>
          <a:bodyPr wrap="square" anchor="t" lIns="18288" rIns="18288" tIns="9144" bIns="9144">
            <a:spAutoFit/>
          </a:bodyPr>
          <a:lstStyle/>
          <a:p>
            <a:pPr algn="l">
              <a:lnSpc>
                <a:spcPct val="100000"/>
              </a:lnSpc>
            </a:pPr>
            <a:r>
              <a:rPr sz="850" b="0">
                <a:solidFill>
                  <a:srgbClr val="5D6675"/>
                </a:solidFill>
                <a:latin typeface="Inter"/>
              </a:rPr>
              <a:t>Large-scale form corpus</a:t>
            </a:r>
          </a:p>
        </p:txBody>
      </p:sp>
      <p:sp>
        <p:nvSpPr>
          <p:cNvPr id="69" name="Oval 68"/>
          <p:cNvSpPr/>
          <p:nvPr/>
        </p:nvSpPr>
        <p:spPr>
          <a:xfrm>
            <a:off x="8705088" y="2980944"/>
            <a:ext cx="73152" cy="7315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869680" y="2907791"/>
            <a:ext cx="1737360" cy="384048"/>
          </a:xfrm>
          <a:prstGeom prst="rect">
            <a:avLst/>
          </a:prstGeom>
          <a:noFill/>
        </p:spPr>
        <p:txBody>
          <a:bodyPr wrap="square" anchor="t" lIns="18288" rIns="18288" tIns="9144" bIns="9144">
            <a:spAutoFit/>
          </a:bodyPr>
          <a:lstStyle/>
          <a:p>
            <a:pPr algn="l">
              <a:lnSpc>
                <a:spcPct val="100000"/>
              </a:lnSpc>
            </a:pPr>
            <a:r>
              <a:rPr sz="850" b="0">
                <a:solidFill>
                  <a:srgbClr val="5D6675"/>
                </a:solidFill>
                <a:latin typeface="Inter"/>
              </a:rPr>
              <a:t>Not recruitment-specific</a:t>
            </a:r>
          </a:p>
        </p:txBody>
      </p:sp>
      <p:cxnSp>
        <p:nvCxnSpPr>
          <p:cNvPr id="71" name="Connector 70"/>
          <p:cNvCxnSpPr/>
          <p:nvPr/>
        </p:nvCxnSpPr>
        <p:spPr>
          <a:xfrm>
            <a:off x="11018520" y="3694176"/>
            <a:ext cx="0" cy="347472"/>
          </a:xfrm>
          <a:prstGeom prst="line">
            <a:avLst/>
          </a:prstGeom>
          <a:ln w="9525">
            <a:solidFill>
              <a:srgbClr val="9AA3B2">
                <a:alpha val="90000"/>
              </a:srgbClr>
            </a:solidFill>
          </a:ln>
          <a:effectLst/>
        </p:spPr>
        <p:style>
          <a:lnRef idx="2">
            <a:schemeClr val="accent1"/>
          </a:lnRef>
          <a:fillRef idx="0">
            <a:schemeClr val="accent1"/>
          </a:fillRef>
          <a:effectRef idx="1">
            <a:schemeClr val="accent1"/>
          </a:effectRef>
          <a:fontRef idx="minor">
            <a:schemeClr val="tx1"/>
          </a:fontRef>
        </p:style>
      </p:cxnSp>
      <p:sp>
        <p:nvSpPr>
          <p:cNvPr id="72" name="Oval 71"/>
          <p:cNvSpPr/>
          <p:nvPr/>
        </p:nvSpPr>
        <p:spPr>
          <a:xfrm>
            <a:off x="10954512" y="3575304"/>
            <a:ext cx="128016" cy="128016"/>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9262872" y="4041648"/>
            <a:ext cx="2212848" cy="1572768"/>
          </a:xfrm>
          <a:prstGeom prst="roundRect">
            <a:avLst>
              <a:gd name="adj" fmla="val 9000"/>
            </a:avLst>
          </a:prstGeom>
          <a:solidFill>
            <a:srgbClr val="4F46E5"/>
          </a:solidFill>
          <a:ln>
            <a:no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9409176" y="4169663"/>
            <a:ext cx="603504" cy="219456"/>
          </a:xfrm>
          <a:prstGeom prst="roundRect">
            <a:avLst>
              <a:gd name="adj" fmla="val 50000"/>
            </a:avLst>
          </a:prstGeom>
          <a:solidFill>
            <a:srgbClr val="FFFFFF">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850" b="0" spc="100">
                <a:solidFill>
                  <a:srgbClr val="FFFFFF"/>
                </a:solidFill>
                <a:latin typeface="Inter Medium"/>
              </a:rPr>
              <a:t>2026+</a:t>
            </a:r>
          </a:p>
        </p:txBody>
      </p:sp>
      <p:sp>
        <p:nvSpPr>
          <p:cNvPr id="75" name="TextBox 74"/>
          <p:cNvSpPr txBox="1"/>
          <p:nvPr/>
        </p:nvSpPr>
        <p:spPr>
          <a:xfrm>
            <a:off x="9409176" y="4443984"/>
            <a:ext cx="1920240" cy="237744"/>
          </a:xfrm>
          <a:prstGeom prst="rect">
            <a:avLst/>
          </a:prstGeom>
          <a:noFill/>
        </p:spPr>
        <p:txBody>
          <a:bodyPr wrap="square" anchor="t" lIns="18288" rIns="18288" tIns="9144" bIns="9144">
            <a:spAutoFit/>
          </a:bodyPr>
          <a:lstStyle/>
          <a:p>
            <a:pPr algn="l">
              <a:lnSpc>
                <a:spcPct val="100000"/>
              </a:lnSpc>
            </a:pPr>
            <a:r>
              <a:rPr sz="1150" b="1">
                <a:solidFill>
                  <a:srgbClr val="FFFFFF"/>
                </a:solidFill>
                <a:latin typeface="Poppins SemiBold"/>
              </a:rPr>
              <a:t>Our Research</a:t>
            </a:r>
          </a:p>
        </p:txBody>
      </p:sp>
      <p:sp>
        <p:nvSpPr>
          <p:cNvPr id="76" name="Oval 75"/>
          <p:cNvSpPr/>
          <p:nvPr/>
        </p:nvSpPr>
        <p:spPr>
          <a:xfrm>
            <a:off x="9427464" y="4791456"/>
            <a:ext cx="73152" cy="7315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592056" y="4718304"/>
            <a:ext cx="1737360" cy="384048"/>
          </a:xfrm>
          <a:prstGeom prst="rect">
            <a:avLst/>
          </a:prstGeom>
          <a:noFill/>
        </p:spPr>
        <p:txBody>
          <a:bodyPr wrap="square" anchor="t" lIns="18288" rIns="18288" tIns="9144" bIns="9144">
            <a:spAutoFit/>
          </a:bodyPr>
          <a:lstStyle/>
          <a:p>
            <a:pPr algn="l">
              <a:lnSpc>
                <a:spcPct val="100000"/>
              </a:lnSpc>
            </a:pPr>
            <a:r>
              <a:rPr sz="850" b="0">
                <a:solidFill>
                  <a:srgbClr val="E0E7FF"/>
                </a:solidFill>
                <a:latin typeface="Inter"/>
              </a:rPr>
              <a:t>Unifies all eight domains</a:t>
            </a:r>
          </a:p>
        </p:txBody>
      </p:sp>
      <p:sp>
        <p:nvSpPr>
          <p:cNvPr id="78" name="Oval 77"/>
          <p:cNvSpPr/>
          <p:nvPr/>
        </p:nvSpPr>
        <p:spPr>
          <a:xfrm>
            <a:off x="9427464" y="5212080"/>
            <a:ext cx="73152" cy="7315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9592056" y="5138928"/>
            <a:ext cx="1737360" cy="384048"/>
          </a:xfrm>
          <a:prstGeom prst="rect">
            <a:avLst/>
          </a:prstGeom>
          <a:noFill/>
        </p:spPr>
        <p:txBody>
          <a:bodyPr wrap="square" anchor="t" lIns="18288" rIns="18288" tIns="9144" bIns="9144">
            <a:spAutoFit/>
          </a:bodyPr>
          <a:lstStyle/>
          <a:p>
            <a:pPr algn="l">
              <a:lnSpc>
                <a:spcPct val="100000"/>
              </a:lnSpc>
            </a:pPr>
            <a:r>
              <a:rPr sz="850" b="0">
                <a:solidFill>
                  <a:srgbClr val="E0E7FF"/>
                </a:solidFill>
                <a:latin typeface="Inter"/>
              </a:rPr>
              <a:t>Recruitment-native ontology</a:t>
            </a:r>
          </a:p>
        </p:txBody>
      </p:sp>
      <p:sp>
        <p:nvSpPr>
          <p:cNvPr id="80" name="Rounded Rectangle 79"/>
          <p:cNvSpPr/>
          <p:nvPr/>
        </p:nvSpPr>
        <p:spPr>
          <a:xfrm>
            <a:off x="822960" y="5833872"/>
            <a:ext cx="10561320" cy="530352"/>
          </a:xfrm>
          <a:prstGeom prst="roundRect">
            <a:avLst>
              <a:gd name="adj" fmla="val 10000"/>
            </a:avLst>
          </a:prstGeom>
          <a:solidFill>
            <a:srgbClr val="FFFFFF"/>
          </a:solidFill>
          <a:ln w="9525">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822960" y="5833872"/>
            <a:ext cx="64008" cy="530352"/>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188720" y="5833872"/>
            <a:ext cx="9966960" cy="530352"/>
          </a:xfrm>
          <a:prstGeom prst="rect">
            <a:avLst/>
          </a:prstGeom>
          <a:noFill/>
        </p:spPr>
        <p:txBody>
          <a:bodyPr wrap="square" anchor="ctr" lIns="18288" rIns="18288" tIns="9144" bIns="9144">
            <a:spAutoFit/>
          </a:bodyPr>
          <a:lstStyle/>
          <a:p>
            <a:pPr algn="l">
              <a:lnSpc>
                <a:spcPct val="100000"/>
              </a:lnSpc>
            </a:pPr>
            <a:r>
              <a:rPr sz="1350" b="0">
                <a:solidFill>
                  <a:srgbClr val="121826"/>
                </a:solidFill>
                <a:latin typeface="Poppins SemiBold"/>
              </a:rPr>
              <a:t>No existing research integrates all of these technologies into a unified recruitment-focused intelligent professional identity framework.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7FA"/>
        </a:solidFill>
        <a:effectLst/>
      </p:bgPr>
    </p:bg>
    <p:spTree>
      <p:nvGrpSpPr>
        <p:cNvPr id="1" name=""/>
        <p:cNvGrpSpPr/>
        <p:nvPr/>
      </p:nvGrpSpPr>
      <p:grpSpPr/>
      <p:sp>
        <p:nvSpPr>
          <p:cNvPr id="2" name="TextBox 1"/>
          <p:cNvSpPr txBox="1"/>
          <p:nvPr/>
        </p:nvSpPr>
        <p:spPr>
          <a:xfrm>
            <a:off x="841248" y="347472"/>
            <a:ext cx="7315200" cy="274320"/>
          </a:xfrm>
          <a:prstGeom prst="rect">
            <a:avLst/>
          </a:prstGeom>
          <a:noFill/>
        </p:spPr>
        <p:txBody>
          <a:bodyPr wrap="square" anchor="t" lIns="18288" rIns="18288" tIns="9144" bIns="9144">
            <a:spAutoFit/>
          </a:bodyPr>
          <a:lstStyle/>
          <a:p>
            <a:pPr algn="l">
              <a:lnSpc>
                <a:spcPct val="100000"/>
              </a:lnSpc>
            </a:pPr>
            <a:r>
              <a:rPr sz="1100" b="0" spc="300">
                <a:solidFill>
                  <a:srgbClr val="4338CA"/>
                </a:solidFill>
                <a:latin typeface="Inter Medium"/>
              </a:rPr>
              <a:t>EVALUATION</a:t>
            </a:r>
          </a:p>
        </p:txBody>
      </p:sp>
      <p:sp>
        <p:nvSpPr>
          <p:cNvPr id="3" name="TextBox 2"/>
          <p:cNvSpPr txBox="1"/>
          <p:nvPr/>
        </p:nvSpPr>
        <p:spPr>
          <a:xfrm>
            <a:off x="822960" y="566928"/>
            <a:ext cx="10607040" cy="566928"/>
          </a:xfrm>
          <a:prstGeom prst="rect">
            <a:avLst/>
          </a:prstGeom>
          <a:noFill/>
        </p:spPr>
        <p:txBody>
          <a:bodyPr wrap="square" anchor="t" lIns="18288" rIns="18288" tIns="9144" bIns="9144">
            <a:spAutoFit/>
          </a:bodyPr>
          <a:lstStyle/>
          <a:p>
            <a:pPr algn="l">
              <a:lnSpc>
                <a:spcPct val="100000"/>
              </a:lnSpc>
            </a:pPr>
            <a:r>
              <a:rPr sz="3000" b="1">
                <a:solidFill>
                  <a:srgbClr val="121826"/>
                </a:solidFill>
                <a:latin typeface="Poppins ExtraBold"/>
              </a:rPr>
              <a:t>Expected Outcomes &amp; Evaluation</a:t>
            </a:r>
          </a:p>
        </p:txBody>
      </p:sp>
      <p:sp>
        <p:nvSpPr>
          <p:cNvPr id="4" name="Rounded Rectangle 3"/>
          <p:cNvSpPr/>
          <p:nvPr/>
        </p:nvSpPr>
        <p:spPr>
          <a:xfrm>
            <a:off x="841248" y="1133856"/>
            <a:ext cx="868680" cy="45720"/>
          </a:xfrm>
          <a:prstGeom prst="roundRect">
            <a:avLst>
              <a:gd name="adj" fmla="val 50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81360" y="6473952"/>
            <a:ext cx="1005840" cy="274320"/>
          </a:xfrm>
          <a:prstGeom prst="rect">
            <a:avLst/>
          </a:prstGeom>
          <a:noFill/>
        </p:spPr>
        <p:txBody>
          <a:bodyPr wrap="square" anchor="t" lIns="18288" rIns="18288" tIns="9144" bIns="9144">
            <a:spAutoFit/>
          </a:bodyPr>
          <a:lstStyle/>
          <a:p>
            <a:pPr algn="r">
              <a:lnSpc>
                <a:spcPct val="100000"/>
              </a:lnSpc>
            </a:pPr>
            <a:r>
              <a:rPr sz="1000" b="0">
                <a:solidFill>
                  <a:srgbClr val="5D6675"/>
                </a:solidFill>
                <a:latin typeface="Inter Medium"/>
              </a:rPr>
              <a:t>11 / 13</a:t>
            </a:r>
          </a:p>
        </p:txBody>
      </p:sp>
      <p:sp>
        <p:nvSpPr>
          <p:cNvPr id="6" name="TextBox 5"/>
          <p:cNvSpPr txBox="1"/>
          <p:nvPr/>
        </p:nvSpPr>
        <p:spPr>
          <a:xfrm>
            <a:off x="841248" y="6473952"/>
            <a:ext cx="4572000" cy="274320"/>
          </a:xfrm>
          <a:prstGeom prst="rect">
            <a:avLst/>
          </a:prstGeom>
          <a:noFill/>
        </p:spPr>
        <p:txBody>
          <a:bodyPr wrap="square" anchor="t" lIns="18288" rIns="18288" tIns="9144" bIns="9144">
            <a:spAutoFit/>
          </a:bodyPr>
          <a:lstStyle/>
          <a:p>
            <a:pPr algn="l">
              <a:lnSpc>
                <a:spcPct val="100000"/>
              </a:lnSpc>
            </a:pPr>
            <a:r>
              <a:rPr sz="950" b="0" spc="100">
                <a:solidFill>
                  <a:srgbClr val="5D6675"/>
                </a:solidFill>
                <a:latin typeface="Inter Medium"/>
              </a:rPr>
              <a:t>CareerHub · Semantic Professional Identity Framework</a:t>
            </a:r>
          </a:p>
        </p:txBody>
      </p:sp>
      <p:sp>
        <p:nvSpPr>
          <p:cNvPr id="7" name="Rounded Rectangle 6"/>
          <p:cNvSpPr/>
          <p:nvPr/>
        </p:nvSpPr>
        <p:spPr>
          <a:xfrm>
            <a:off x="822960" y="1371600"/>
            <a:ext cx="5074920" cy="3474720"/>
          </a:xfrm>
          <a:prstGeom prst="roundRect">
            <a:avLst>
              <a:gd name="adj" fmla="val 7000"/>
            </a:avLst>
          </a:prstGeom>
          <a:solidFill>
            <a:srgbClr val="FFFFFF"/>
          </a:solidFill>
          <a:ln w="9525">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572768"/>
            <a:ext cx="3657600" cy="237744"/>
          </a:xfrm>
          <a:prstGeom prst="rect">
            <a:avLst/>
          </a:prstGeom>
          <a:noFill/>
        </p:spPr>
        <p:txBody>
          <a:bodyPr wrap="square" anchor="t" lIns="18288" rIns="18288" tIns="9144" bIns="9144">
            <a:spAutoFit/>
          </a:bodyPr>
          <a:lstStyle/>
          <a:p>
            <a:pPr algn="l">
              <a:lnSpc>
                <a:spcPct val="100000"/>
              </a:lnSpc>
            </a:pPr>
            <a:r>
              <a:rPr sz="1050" b="0" spc="250">
                <a:solidFill>
                  <a:srgbClr val="5D6675"/>
                </a:solidFill>
                <a:latin typeface="Inter Medium"/>
              </a:rPr>
              <a:t>MACHINE LEARNING METRICS</a:t>
            </a:r>
          </a:p>
        </p:txBody>
      </p:sp>
      <p:sp>
        <p:nvSpPr>
          <p:cNvPr id="9" name="TextBox 8"/>
          <p:cNvSpPr txBox="1"/>
          <p:nvPr/>
        </p:nvSpPr>
        <p:spPr>
          <a:xfrm>
            <a:off x="1097280" y="1956816"/>
            <a:ext cx="3108960" cy="219456"/>
          </a:xfrm>
          <a:prstGeom prst="rect">
            <a:avLst/>
          </a:prstGeom>
          <a:noFill/>
        </p:spPr>
        <p:txBody>
          <a:bodyPr wrap="square" anchor="t" lIns="18288" rIns="18288" tIns="9144" bIns="9144">
            <a:spAutoFit/>
          </a:bodyPr>
          <a:lstStyle/>
          <a:p>
            <a:pPr algn="l">
              <a:lnSpc>
                <a:spcPct val="100000"/>
              </a:lnSpc>
            </a:pPr>
            <a:r>
              <a:rPr sz="1100" b="0">
                <a:solidFill>
                  <a:srgbClr val="121826"/>
                </a:solidFill>
                <a:latin typeface="Inter Medium"/>
              </a:rPr>
              <a:t>Accuracy</a:t>
            </a:r>
          </a:p>
        </p:txBody>
      </p:sp>
      <p:sp>
        <p:nvSpPr>
          <p:cNvPr id="10" name="TextBox 9"/>
          <p:cNvSpPr txBox="1"/>
          <p:nvPr/>
        </p:nvSpPr>
        <p:spPr>
          <a:xfrm>
            <a:off x="4572000" y="1956816"/>
            <a:ext cx="1051560" cy="219456"/>
          </a:xfrm>
          <a:prstGeom prst="rect">
            <a:avLst/>
          </a:prstGeom>
          <a:noFill/>
        </p:spPr>
        <p:txBody>
          <a:bodyPr wrap="square" anchor="t" lIns="18288" rIns="18288" tIns="9144" bIns="9144">
            <a:spAutoFit/>
          </a:bodyPr>
          <a:lstStyle/>
          <a:p>
            <a:pPr algn="r">
              <a:lnSpc>
                <a:spcPct val="100000"/>
              </a:lnSpc>
            </a:pPr>
            <a:r>
              <a:rPr sz="1100" b="0">
                <a:solidFill>
                  <a:srgbClr val="4338CA"/>
                </a:solidFill>
                <a:latin typeface="Inter Medium"/>
              </a:rPr>
              <a:t>≥ 95%</a:t>
            </a:r>
          </a:p>
        </p:txBody>
      </p:sp>
      <p:sp>
        <p:nvSpPr>
          <p:cNvPr id="11" name="Rounded Rectangle 10"/>
          <p:cNvSpPr/>
          <p:nvPr/>
        </p:nvSpPr>
        <p:spPr>
          <a:xfrm>
            <a:off x="1097280" y="2231136"/>
            <a:ext cx="4526280" cy="118872"/>
          </a:xfrm>
          <a:prstGeom prst="roundRect">
            <a:avLst>
              <a:gd name="adj" fmla="val 50000"/>
            </a:avLst>
          </a:prstGeom>
          <a:solidFill>
            <a:srgbClr val="EDF0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97280" y="2231136"/>
            <a:ext cx="4299966" cy="118872"/>
          </a:xfrm>
          <a:prstGeom prst="roundRect">
            <a:avLst>
              <a:gd name="adj" fmla="val 50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2523744"/>
            <a:ext cx="3108960" cy="219456"/>
          </a:xfrm>
          <a:prstGeom prst="rect">
            <a:avLst/>
          </a:prstGeom>
          <a:noFill/>
        </p:spPr>
        <p:txBody>
          <a:bodyPr wrap="square" anchor="t" lIns="18288" rIns="18288" tIns="9144" bIns="9144">
            <a:spAutoFit/>
          </a:bodyPr>
          <a:lstStyle/>
          <a:p>
            <a:pPr algn="l">
              <a:lnSpc>
                <a:spcPct val="100000"/>
              </a:lnSpc>
            </a:pPr>
            <a:r>
              <a:rPr sz="1100" b="0">
                <a:solidFill>
                  <a:srgbClr val="121826"/>
                </a:solidFill>
                <a:latin typeface="Inter Medium"/>
              </a:rPr>
              <a:t>Precision</a:t>
            </a:r>
          </a:p>
        </p:txBody>
      </p:sp>
      <p:sp>
        <p:nvSpPr>
          <p:cNvPr id="14" name="TextBox 13"/>
          <p:cNvSpPr txBox="1"/>
          <p:nvPr/>
        </p:nvSpPr>
        <p:spPr>
          <a:xfrm>
            <a:off x="4572000" y="2523744"/>
            <a:ext cx="1051560" cy="219456"/>
          </a:xfrm>
          <a:prstGeom prst="rect">
            <a:avLst/>
          </a:prstGeom>
          <a:noFill/>
        </p:spPr>
        <p:txBody>
          <a:bodyPr wrap="square" anchor="t" lIns="18288" rIns="18288" tIns="9144" bIns="9144">
            <a:spAutoFit/>
          </a:bodyPr>
          <a:lstStyle/>
          <a:p>
            <a:pPr algn="r">
              <a:lnSpc>
                <a:spcPct val="100000"/>
              </a:lnSpc>
            </a:pPr>
            <a:r>
              <a:rPr sz="1100" b="0">
                <a:solidFill>
                  <a:srgbClr val="4338CA"/>
                </a:solidFill>
                <a:latin typeface="Inter Medium"/>
              </a:rPr>
              <a:t>≥ 93%</a:t>
            </a:r>
          </a:p>
        </p:txBody>
      </p:sp>
      <p:sp>
        <p:nvSpPr>
          <p:cNvPr id="15" name="Rounded Rectangle 14"/>
          <p:cNvSpPr/>
          <p:nvPr/>
        </p:nvSpPr>
        <p:spPr>
          <a:xfrm>
            <a:off x="1097280" y="2798064"/>
            <a:ext cx="4526280" cy="118872"/>
          </a:xfrm>
          <a:prstGeom prst="roundRect">
            <a:avLst>
              <a:gd name="adj" fmla="val 50000"/>
            </a:avLst>
          </a:prstGeom>
          <a:solidFill>
            <a:srgbClr val="EDF0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97280" y="2798064"/>
            <a:ext cx="4209440" cy="118872"/>
          </a:xfrm>
          <a:prstGeom prst="roundRect">
            <a:avLst>
              <a:gd name="adj" fmla="val 50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3090672"/>
            <a:ext cx="3108960" cy="219456"/>
          </a:xfrm>
          <a:prstGeom prst="rect">
            <a:avLst/>
          </a:prstGeom>
          <a:noFill/>
        </p:spPr>
        <p:txBody>
          <a:bodyPr wrap="square" anchor="t" lIns="18288" rIns="18288" tIns="9144" bIns="9144">
            <a:spAutoFit/>
          </a:bodyPr>
          <a:lstStyle/>
          <a:p>
            <a:pPr algn="l">
              <a:lnSpc>
                <a:spcPct val="100000"/>
              </a:lnSpc>
            </a:pPr>
            <a:r>
              <a:rPr sz="1100" b="0">
                <a:solidFill>
                  <a:srgbClr val="121826"/>
                </a:solidFill>
                <a:latin typeface="Inter Medium"/>
              </a:rPr>
              <a:t>Recall</a:t>
            </a:r>
          </a:p>
        </p:txBody>
      </p:sp>
      <p:sp>
        <p:nvSpPr>
          <p:cNvPr id="18" name="TextBox 17"/>
          <p:cNvSpPr txBox="1"/>
          <p:nvPr/>
        </p:nvSpPr>
        <p:spPr>
          <a:xfrm>
            <a:off x="4572000" y="3090672"/>
            <a:ext cx="1051560" cy="219456"/>
          </a:xfrm>
          <a:prstGeom prst="rect">
            <a:avLst/>
          </a:prstGeom>
          <a:noFill/>
        </p:spPr>
        <p:txBody>
          <a:bodyPr wrap="square" anchor="t" lIns="18288" rIns="18288" tIns="9144" bIns="9144">
            <a:spAutoFit/>
          </a:bodyPr>
          <a:lstStyle/>
          <a:p>
            <a:pPr algn="r">
              <a:lnSpc>
                <a:spcPct val="100000"/>
              </a:lnSpc>
            </a:pPr>
            <a:r>
              <a:rPr sz="1100" b="0">
                <a:solidFill>
                  <a:srgbClr val="4338CA"/>
                </a:solidFill>
                <a:latin typeface="Inter Medium"/>
              </a:rPr>
              <a:t>≥ 90%</a:t>
            </a:r>
          </a:p>
        </p:txBody>
      </p:sp>
      <p:sp>
        <p:nvSpPr>
          <p:cNvPr id="19" name="Rounded Rectangle 18"/>
          <p:cNvSpPr/>
          <p:nvPr/>
        </p:nvSpPr>
        <p:spPr>
          <a:xfrm>
            <a:off x="1097280" y="3364991"/>
            <a:ext cx="4526280" cy="118872"/>
          </a:xfrm>
          <a:prstGeom prst="roundRect">
            <a:avLst>
              <a:gd name="adj" fmla="val 50000"/>
            </a:avLst>
          </a:prstGeom>
          <a:solidFill>
            <a:srgbClr val="EDF0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97280" y="3364991"/>
            <a:ext cx="4073652" cy="118872"/>
          </a:xfrm>
          <a:prstGeom prst="roundRect">
            <a:avLst>
              <a:gd name="adj" fmla="val 50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 y="3657600"/>
            <a:ext cx="3108960" cy="219456"/>
          </a:xfrm>
          <a:prstGeom prst="rect">
            <a:avLst/>
          </a:prstGeom>
          <a:noFill/>
        </p:spPr>
        <p:txBody>
          <a:bodyPr wrap="square" anchor="t" lIns="18288" rIns="18288" tIns="9144" bIns="9144">
            <a:spAutoFit/>
          </a:bodyPr>
          <a:lstStyle/>
          <a:p>
            <a:pPr algn="l">
              <a:lnSpc>
                <a:spcPct val="100000"/>
              </a:lnSpc>
            </a:pPr>
            <a:r>
              <a:rPr sz="1100" b="0">
                <a:solidFill>
                  <a:srgbClr val="121826"/>
                </a:solidFill>
                <a:latin typeface="Inter Medium"/>
              </a:rPr>
              <a:t>F1 Score</a:t>
            </a:r>
          </a:p>
        </p:txBody>
      </p:sp>
      <p:sp>
        <p:nvSpPr>
          <p:cNvPr id="22" name="TextBox 21"/>
          <p:cNvSpPr txBox="1"/>
          <p:nvPr/>
        </p:nvSpPr>
        <p:spPr>
          <a:xfrm>
            <a:off x="4572000" y="3657600"/>
            <a:ext cx="1051560" cy="219456"/>
          </a:xfrm>
          <a:prstGeom prst="rect">
            <a:avLst/>
          </a:prstGeom>
          <a:noFill/>
        </p:spPr>
        <p:txBody>
          <a:bodyPr wrap="square" anchor="t" lIns="18288" rIns="18288" tIns="9144" bIns="9144">
            <a:spAutoFit/>
          </a:bodyPr>
          <a:lstStyle/>
          <a:p>
            <a:pPr algn="r">
              <a:lnSpc>
                <a:spcPct val="100000"/>
              </a:lnSpc>
            </a:pPr>
            <a:r>
              <a:rPr sz="1100" b="0">
                <a:solidFill>
                  <a:srgbClr val="4338CA"/>
                </a:solidFill>
                <a:latin typeface="Inter Medium"/>
              </a:rPr>
              <a:t>≥ 0.92</a:t>
            </a:r>
          </a:p>
        </p:txBody>
      </p:sp>
      <p:sp>
        <p:nvSpPr>
          <p:cNvPr id="23" name="Rounded Rectangle 22"/>
          <p:cNvSpPr/>
          <p:nvPr/>
        </p:nvSpPr>
        <p:spPr>
          <a:xfrm>
            <a:off x="1097280" y="3931920"/>
            <a:ext cx="4526280" cy="118872"/>
          </a:xfrm>
          <a:prstGeom prst="roundRect">
            <a:avLst>
              <a:gd name="adj" fmla="val 50000"/>
            </a:avLst>
          </a:prstGeom>
          <a:solidFill>
            <a:srgbClr val="EDF0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97280" y="3931920"/>
            <a:ext cx="4164177" cy="118872"/>
          </a:xfrm>
          <a:prstGeom prst="roundRect">
            <a:avLst>
              <a:gd name="adj" fmla="val 50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4224528"/>
            <a:ext cx="3108960" cy="219456"/>
          </a:xfrm>
          <a:prstGeom prst="rect">
            <a:avLst/>
          </a:prstGeom>
          <a:noFill/>
        </p:spPr>
        <p:txBody>
          <a:bodyPr wrap="square" anchor="t" lIns="18288" rIns="18288" tIns="9144" bIns="9144">
            <a:spAutoFit/>
          </a:bodyPr>
          <a:lstStyle/>
          <a:p>
            <a:pPr algn="l">
              <a:lnSpc>
                <a:spcPct val="100000"/>
              </a:lnSpc>
            </a:pPr>
            <a:r>
              <a:rPr sz="1100" b="0">
                <a:solidFill>
                  <a:srgbClr val="121826"/>
                </a:solidFill>
                <a:latin typeface="Inter Medium"/>
              </a:rPr>
              <a:t>Semantic Matching Accuracy</a:t>
            </a:r>
          </a:p>
        </p:txBody>
      </p:sp>
      <p:sp>
        <p:nvSpPr>
          <p:cNvPr id="26" name="TextBox 25"/>
          <p:cNvSpPr txBox="1"/>
          <p:nvPr/>
        </p:nvSpPr>
        <p:spPr>
          <a:xfrm>
            <a:off x="4572000" y="4224528"/>
            <a:ext cx="1051560" cy="219456"/>
          </a:xfrm>
          <a:prstGeom prst="rect">
            <a:avLst/>
          </a:prstGeom>
          <a:noFill/>
        </p:spPr>
        <p:txBody>
          <a:bodyPr wrap="square" anchor="t" lIns="18288" rIns="18288" tIns="9144" bIns="9144">
            <a:spAutoFit/>
          </a:bodyPr>
          <a:lstStyle/>
          <a:p>
            <a:pPr algn="r">
              <a:lnSpc>
                <a:spcPct val="100000"/>
              </a:lnSpc>
            </a:pPr>
            <a:r>
              <a:rPr sz="1100" b="0">
                <a:solidFill>
                  <a:srgbClr val="4338CA"/>
                </a:solidFill>
                <a:latin typeface="Inter Medium"/>
              </a:rPr>
              <a:t>≥ 95%</a:t>
            </a:r>
          </a:p>
        </p:txBody>
      </p:sp>
      <p:sp>
        <p:nvSpPr>
          <p:cNvPr id="27" name="Rounded Rectangle 26"/>
          <p:cNvSpPr/>
          <p:nvPr/>
        </p:nvSpPr>
        <p:spPr>
          <a:xfrm>
            <a:off x="1097280" y="4498848"/>
            <a:ext cx="4526280" cy="118872"/>
          </a:xfrm>
          <a:prstGeom prst="roundRect">
            <a:avLst>
              <a:gd name="adj" fmla="val 50000"/>
            </a:avLst>
          </a:prstGeom>
          <a:solidFill>
            <a:srgbClr val="EDF0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097280" y="4498848"/>
            <a:ext cx="4299966" cy="118872"/>
          </a:xfrm>
          <a:prstGeom prst="roundRect">
            <a:avLst>
              <a:gd name="adj" fmla="val 50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0" y="1371600"/>
            <a:ext cx="5257800" cy="3474720"/>
          </a:xfrm>
          <a:prstGeom prst="roundRect">
            <a:avLst>
              <a:gd name="adj" fmla="val 7000"/>
            </a:avLst>
          </a:prstGeom>
          <a:solidFill>
            <a:srgbClr val="FFFFFF"/>
          </a:solidFill>
          <a:ln w="9525">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0" y="1572768"/>
            <a:ext cx="3657600" cy="237744"/>
          </a:xfrm>
          <a:prstGeom prst="rect">
            <a:avLst/>
          </a:prstGeom>
          <a:noFill/>
        </p:spPr>
        <p:txBody>
          <a:bodyPr wrap="square" anchor="t" lIns="18288" rIns="18288" tIns="9144" bIns="9144">
            <a:spAutoFit/>
          </a:bodyPr>
          <a:lstStyle/>
          <a:p>
            <a:pPr algn="l">
              <a:lnSpc>
                <a:spcPct val="100000"/>
              </a:lnSpc>
            </a:pPr>
            <a:r>
              <a:rPr sz="1050" b="0" spc="250">
                <a:solidFill>
                  <a:srgbClr val="5D6675"/>
                </a:solidFill>
                <a:latin typeface="Inter Medium"/>
              </a:rPr>
              <a:t>PRODUCT METRICS</a:t>
            </a:r>
          </a:p>
        </p:txBody>
      </p:sp>
      <p:sp>
        <p:nvSpPr>
          <p:cNvPr id="31" name="Oval 30"/>
          <p:cNvSpPr/>
          <p:nvPr/>
        </p:nvSpPr>
        <p:spPr>
          <a:xfrm>
            <a:off x="6419088" y="2039112"/>
            <a:ext cx="82296" cy="82296"/>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20256" y="1956816"/>
            <a:ext cx="3017520" cy="256032"/>
          </a:xfrm>
          <a:prstGeom prst="rect">
            <a:avLst/>
          </a:prstGeom>
          <a:noFill/>
        </p:spPr>
        <p:txBody>
          <a:bodyPr wrap="square" anchor="t" lIns="18288" rIns="18288" tIns="9144" bIns="9144">
            <a:spAutoFit/>
          </a:bodyPr>
          <a:lstStyle/>
          <a:p>
            <a:pPr algn="l">
              <a:lnSpc>
                <a:spcPct val="100000"/>
              </a:lnSpc>
            </a:pPr>
            <a:r>
              <a:rPr sz="1100" b="0">
                <a:solidFill>
                  <a:srgbClr val="121826"/>
                </a:solidFill>
                <a:latin typeface="Inter Medium"/>
              </a:rPr>
              <a:t>Time Saved</a:t>
            </a:r>
          </a:p>
        </p:txBody>
      </p:sp>
      <p:sp>
        <p:nvSpPr>
          <p:cNvPr id="33" name="Rounded Rectangle 32"/>
          <p:cNvSpPr/>
          <p:nvPr/>
        </p:nvSpPr>
        <p:spPr>
          <a:xfrm>
            <a:off x="9921240" y="1938528"/>
            <a:ext cx="1188720" cy="292608"/>
          </a:xfrm>
          <a:prstGeom prst="roundRect">
            <a:avLst>
              <a:gd name="adj" fmla="val 40000"/>
            </a:avLst>
          </a:prstGeom>
          <a:solidFill>
            <a:srgbClr val="EDF0F5"/>
          </a:solidFill>
          <a:ln w="6350">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047857"/>
                </a:solidFill>
                <a:latin typeface="Inter Medium"/>
              </a:rPr>
              <a:t>≥ 80%</a:t>
            </a:r>
          </a:p>
        </p:txBody>
      </p:sp>
      <p:sp>
        <p:nvSpPr>
          <p:cNvPr id="34" name="Oval 33"/>
          <p:cNvSpPr/>
          <p:nvPr/>
        </p:nvSpPr>
        <p:spPr>
          <a:xfrm>
            <a:off x="6419088" y="2505456"/>
            <a:ext cx="82296" cy="82296"/>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20256" y="2423160"/>
            <a:ext cx="3017520" cy="256032"/>
          </a:xfrm>
          <a:prstGeom prst="rect">
            <a:avLst/>
          </a:prstGeom>
          <a:noFill/>
        </p:spPr>
        <p:txBody>
          <a:bodyPr wrap="square" anchor="t" lIns="18288" rIns="18288" tIns="9144" bIns="9144">
            <a:spAutoFit/>
          </a:bodyPr>
          <a:lstStyle/>
          <a:p>
            <a:pPr algn="l">
              <a:lnSpc>
                <a:spcPct val="100000"/>
              </a:lnSpc>
            </a:pPr>
            <a:r>
              <a:rPr sz="1100" b="0">
                <a:solidFill>
                  <a:srgbClr val="121826"/>
                </a:solidFill>
                <a:latin typeface="Inter Medium"/>
              </a:rPr>
              <a:t>Autofill Success Rate</a:t>
            </a:r>
          </a:p>
        </p:txBody>
      </p:sp>
      <p:sp>
        <p:nvSpPr>
          <p:cNvPr id="36" name="Rounded Rectangle 35"/>
          <p:cNvSpPr/>
          <p:nvPr/>
        </p:nvSpPr>
        <p:spPr>
          <a:xfrm>
            <a:off x="9921240" y="2404872"/>
            <a:ext cx="1188720" cy="292608"/>
          </a:xfrm>
          <a:prstGeom prst="roundRect">
            <a:avLst>
              <a:gd name="adj" fmla="val 40000"/>
            </a:avLst>
          </a:prstGeom>
          <a:solidFill>
            <a:srgbClr val="EDF0F5"/>
          </a:solidFill>
          <a:ln w="6350">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047857"/>
                </a:solidFill>
                <a:latin typeface="Inter Medium"/>
              </a:rPr>
              <a:t>≥ 90%</a:t>
            </a:r>
          </a:p>
        </p:txBody>
      </p:sp>
      <p:sp>
        <p:nvSpPr>
          <p:cNvPr id="37" name="Oval 36"/>
          <p:cNvSpPr/>
          <p:nvPr/>
        </p:nvSpPr>
        <p:spPr>
          <a:xfrm>
            <a:off x="6419088" y="2971800"/>
            <a:ext cx="82296" cy="82296"/>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620256" y="2889504"/>
            <a:ext cx="3017520" cy="256032"/>
          </a:xfrm>
          <a:prstGeom prst="rect">
            <a:avLst/>
          </a:prstGeom>
          <a:noFill/>
        </p:spPr>
        <p:txBody>
          <a:bodyPr wrap="square" anchor="t" lIns="18288" rIns="18288" tIns="9144" bIns="9144">
            <a:spAutoFit/>
          </a:bodyPr>
          <a:lstStyle/>
          <a:p>
            <a:pPr algn="l">
              <a:lnSpc>
                <a:spcPct val="100000"/>
              </a:lnSpc>
            </a:pPr>
            <a:r>
              <a:rPr sz="1100" b="0">
                <a:solidFill>
                  <a:srgbClr val="121826"/>
                </a:solidFill>
                <a:latin typeface="Inter Medium"/>
              </a:rPr>
              <a:t>Manual Corrections</a:t>
            </a:r>
          </a:p>
        </p:txBody>
      </p:sp>
      <p:sp>
        <p:nvSpPr>
          <p:cNvPr id="39" name="Rounded Rectangle 38"/>
          <p:cNvSpPr/>
          <p:nvPr/>
        </p:nvSpPr>
        <p:spPr>
          <a:xfrm>
            <a:off x="9921240" y="2871216"/>
            <a:ext cx="1188720" cy="292608"/>
          </a:xfrm>
          <a:prstGeom prst="roundRect">
            <a:avLst>
              <a:gd name="adj" fmla="val 40000"/>
            </a:avLst>
          </a:prstGeom>
          <a:solidFill>
            <a:srgbClr val="EDF0F5"/>
          </a:solidFill>
          <a:ln w="6350">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92400E"/>
                </a:solidFill>
                <a:latin typeface="Inter Medium"/>
              </a:rPr>
              <a:t>≤ 2 / form</a:t>
            </a:r>
          </a:p>
        </p:txBody>
      </p:sp>
      <p:sp>
        <p:nvSpPr>
          <p:cNvPr id="40" name="Oval 39"/>
          <p:cNvSpPr/>
          <p:nvPr/>
        </p:nvSpPr>
        <p:spPr>
          <a:xfrm>
            <a:off x="6419088" y="3438144"/>
            <a:ext cx="82296" cy="82296"/>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20256" y="3355848"/>
            <a:ext cx="3017520" cy="256032"/>
          </a:xfrm>
          <a:prstGeom prst="rect">
            <a:avLst/>
          </a:prstGeom>
          <a:noFill/>
        </p:spPr>
        <p:txBody>
          <a:bodyPr wrap="square" anchor="t" lIns="18288" rIns="18288" tIns="9144" bIns="9144">
            <a:spAutoFit/>
          </a:bodyPr>
          <a:lstStyle/>
          <a:p>
            <a:pPr algn="l">
              <a:lnSpc>
                <a:spcPct val="100000"/>
              </a:lnSpc>
            </a:pPr>
            <a:r>
              <a:rPr sz="1100" b="0">
                <a:solidFill>
                  <a:srgbClr val="121826"/>
                </a:solidFill>
                <a:latin typeface="Inter Medium"/>
              </a:rPr>
              <a:t>Cross-Platform Coverage</a:t>
            </a:r>
          </a:p>
        </p:txBody>
      </p:sp>
      <p:sp>
        <p:nvSpPr>
          <p:cNvPr id="42" name="Rounded Rectangle 41"/>
          <p:cNvSpPr/>
          <p:nvPr/>
        </p:nvSpPr>
        <p:spPr>
          <a:xfrm>
            <a:off x="9921240" y="3337560"/>
            <a:ext cx="1188720" cy="292608"/>
          </a:xfrm>
          <a:prstGeom prst="roundRect">
            <a:avLst>
              <a:gd name="adj" fmla="val 40000"/>
            </a:avLst>
          </a:prstGeom>
          <a:solidFill>
            <a:srgbClr val="EDF0F5"/>
          </a:solidFill>
          <a:ln w="6350">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4338CA"/>
                </a:solidFill>
                <a:latin typeface="Inter Medium"/>
              </a:rPr>
              <a:t>50+ portals</a:t>
            </a:r>
          </a:p>
        </p:txBody>
      </p:sp>
      <p:sp>
        <p:nvSpPr>
          <p:cNvPr id="43" name="Oval 42"/>
          <p:cNvSpPr/>
          <p:nvPr/>
        </p:nvSpPr>
        <p:spPr>
          <a:xfrm>
            <a:off x="6419088" y="3904487"/>
            <a:ext cx="82296" cy="82296"/>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620256" y="3822191"/>
            <a:ext cx="3017520" cy="256032"/>
          </a:xfrm>
          <a:prstGeom prst="rect">
            <a:avLst/>
          </a:prstGeom>
          <a:noFill/>
        </p:spPr>
        <p:txBody>
          <a:bodyPr wrap="square" anchor="t" lIns="18288" rIns="18288" tIns="9144" bIns="9144">
            <a:spAutoFit/>
          </a:bodyPr>
          <a:lstStyle/>
          <a:p>
            <a:pPr algn="l">
              <a:lnSpc>
                <a:spcPct val="100000"/>
              </a:lnSpc>
            </a:pPr>
            <a:r>
              <a:rPr sz="1100" b="0">
                <a:solidFill>
                  <a:srgbClr val="121826"/>
                </a:solidFill>
                <a:latin typeface="Inter Medium"/>
              </a:rPr>
              <a:t>User Satisfaction</a:t>
            </a:r>
          </a:p>
        </p:txBody>
      </p:sp>
      <p:sp>
        <p:nvSpPr>
          <p:cNvPr id="45" name="Rounded Rectangle 44"/>
          <p:cNvSpPr/>
          <p:nvPr/>
        </p:nvSpPr>
        <p:spPr>
          <a:xfrm>
            <a:off x="9921240" y="3803904"/>
            <a:ext cx="1188720" cy="292608"/>
          </a:xfrm>
          <a:prstGeom prst="roundRect">
            <a:avLst>
              <a:gd name="adj" fmla="val 40000"/>
            </a:avLst>
          </a:prstGeom>
          <a:solidFill>
            <a:srgbClr val="EDF0F5"/>
          </a:solidFill>
          <a:ln w="6350">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047857"/>
                </a:solidFill>
                <a:latin typeface="Inter Medium"/>
              </a:rPr>
              <a:t>≥ 4.5 / 5</a:t>
            </a:r>
          </a:p>
        </p:txBody>
      </p:sp>
      <p:sp>
        <p:nvSpPr>
          <p:cNvPr id="46" name="Oval 45"/>
          <p:cNvSpPr/>
          <p:nvPr/>
        </p:nvSpPr>
        <p:spPr>
          <a:xfrm>
            <a:off x="6419088" y="4370831"/>
            <a:ext cx="82296" cy="82296"/>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620256" y="4288536"/>
            <a:ext cx="3017520" cy="256032"/>
          </a:xfrm>
          <a:prstGeom prst="rect">
            <a:avLst/>
          </a:prstGeom>
          <a:noFill/>
        </p:spPr>
        <p:txBody>
          <a:bodyPr wrap="square" anchor="t" lIns="18288" rIns="18288" tIns="9144" bIns="9144">
            <a:spAutoFit/>
          </a:bodyPr>
          <a:lstStyle/>
          <a:p>
            <a:pPr algn="l">
              <a:lnSpc>
                <a:spcPct val="100000"/>
              </a:lnSpc>
            </a:pPr>
            <a:r>
              <a:rPr sz="1100" b="0">
                <a:solidFill>
                  <a:srgbClr val="121826"/>
                </a:solidFill>
                <a:latin typeface="Inter Medium"/>
              </a:rPr>
              <a:t>Collection Coverage</a:t>
            </a:r>
          </a:p>
        </p:txBody>
      </p:sp>
      <p:sp>
        <p:nvSpPr>
          <p:cNvPr id="48" name="Rounded Rectangle 47"/>
          <p:cNvSpPr/>
          <p:nvPr/>
        </p:nvSpPr>
        <p:spPr>
          <a:xfrm>
            <a:off x="9921240" y="4270248"/>
            <a:ext cx="1188720" cy="292608"/>
          </a:xfrm>
          <a:prstGeom prst="roundRect">
            <a:avLst>
              <a:gd name="adj" fmla="val 40000"/>
            </a:avLst>
          </a:prstGeom>
          <a:solidFill>
            <a:srgbClr val="EDF0F5"/>
          </a:solidFill>
          <a:ln w="6350">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4338CA"/>
                </a:solidFill>
                <a:latin typeface="Inter Medium"/>
              </a:rPr>
              <a:t>20K+ fields</a:t>
            </a:r>
          </a:p>
        </p:txBody>
      </p:sp>
      <p:sp>
        <p:nvSpPr>
          <p:cNvPr id="49" name="TextBox 48"/>
          <p:cNvSpPr txBox="1"/>
          <p:nvPr/>
        </p:nvSpPr>
        <p:spPr>
          <a:xfrm>
            <a:off x="841248" y="5010912"/>
            <a:ext cx="4572000" cy="219456"/>
          </a:xfrm>
          <a:prstGeom prst="rect">
            <a:avLst/>
          </a:prstGeom>
          <a:noFill/>
        </p:spPr>
        <p:txBody>
          <a:bodyPr wrap="square" anchor="t" lIns="18288" rIns="18288" tIns="9144" bIns="9144">
            <a:spAutoFit/>
          </a:bodyPr>
          <a:lstStyle/>
          <a:p>
            <a:pPr algn="l">
              <a:lnSpc>
                <a:spcPct val="100000"/>
              </a:lnSpc>
            </a:pPr>
            <a:r>
              <a:rPr sz="1000" b="0" spc="300">
                <a:solidFill>
                  <a:srgbClr val="4338CA"/>
                </a:solidFill>
                <a:latin typeface="Inter Medium"/>
              </a:rPr>
              <a:t>SUCCESS CRITERIA DASHBOARD</a:t>
            </a:r>
          </a:p>
        </p:txBody>
      </p:sp>
      <p:sp>
        <p:nvSpPr>
          <p:cNvPr id="50" name="Rounded Rectangle 49"/>
          <p:cNvSpPr/>
          <p:nvPr/>
        </p:nvSpPr>
        <p:spPr>
          <a:xfrm>
            <a:off x="822960" y="5303520"/>
            <a:ext cx="2542032" cy="987552"/>
          </a:xfrm>
          <a:prstGeom prst="roundRect">
            <a:avLst>
              <a:gd name="adj" fmla="val 10000"/>
            </a:avLst>
          </a:prstGeom>
          <a:solidFill>
            <a:srgbClr val="FFFFFF"/>
          </a:solidFill>
          <a:ln w="9525">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24128" y="5413248"/>
            <a:ext cx="2194560" cy="457200"/>
          </a:xfrm>
          <a:prstGeom prst="rect">
            <a:avLst/>
          </a:prstGeom>
          <a:noFill/>
        </p:spPr>
        <p:txBody>
          <a:bodyPr wrap="square" anchor="t" lIns="18288" rIns="18288" tIns="9144" bIns="9144">
            <a:spAutoFit/>
          </a:bodyPr>
          <a:lstStyle/>
          <a:p>
            <a:pPr algn="l">
              <a:lnSpc>
                <a:spcPct val="100000"/>
              </a:lnSpc>
            </a:pPr>
            <a:r>
              <a:rPr sz="2400" b="1">
                <a:solidFill>
                  <a:srgbClr val="4338CA"/>
                </a:solidFill>
                <a:latin typeface="Poppins ExtraBold"/>
              </a:rPr>
              <a:t>95%+</a:t>
            </a:r>
          </a:p>
        </p:txBody>
      </p:sp>
      <p:sp>
        <p:nvSpPr>
          <p:cNvPr id="52" name="TextBox 51"/>
          <p:cNvSpPr txBox="1"/>
          <p:nvPr/>
        </p:nvSpPr>
        <p:spPr>
          <a:xfrm>
            <a:off x="1024128" y="5943600"/>
            <a:ext cx="2240280" cy="274320"/>
          </a:xfrm>
          <a:prstGeom prst="rect">
            <a:avLst/>
          </a:prstGeom>
          <a:noFill/>
        </p:spPr>
        <p:txBody>
          <a:bodyPr wrap="square" anchor="t" lIns="18288" rIns="18288" tIns="9144" bIns="9144">
            <a:spAutoFit/>
          </a:bodyPr>
          <a:lstStyle/>
          <a:p>
            <a:pPr algn="l">
              <a:lnSpc>
                <a:spcPct val="100000"/>
              </a:lnSpc>
            </a:pPr>
            <a:r>
              <a:rPr sz="950" b="0">
                <a:solidFill>
                  <a:srgbClr val="5D6675"/>
                </a:solidFill>
                <a:latin typeface="Inter Medium"/>
              </a:rPr>
              <a:t>Semantic Mapping Accuracy</a:t>
            </a:r>
          </a:p>
        </p:txBody>
      </p:sp>
      <p:sp>
        <p:nvSpPr>
          <p:cNvPr id="53" name="Rounded Rectangle 52"/>
          <p:cNvSpPr/>
          <p:nvPr/>
        </p:nvSpPr>
        <p:spPr>
          <a:xfrm>
            <a:off x="3497579" y="5303520"/>
            <a:ext cx="2542032" cy="987552"/>
          </a:xfrm>
          <a:prstGeom prst="roundRect">
            <a:avLst>
              <a:gd name="adj" fmla="val 10000"/>
            </a:avLst>
          </a:prstGeom>
          <a:solidFill>
            <a:srgbClr val="FFFFFF"/>
          </a:solidFill>
          <a:ln w="9525">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698748" y="5413248"/>
            <a:ext cx="2194560" cy="457200"/>
          </a:xfrm>
          <a:prstGeom prst="rect">
            <a:avLst/>
          </a:prstGeom>
          <a:noFill/>
        </p:spPr>
        <p:txBody>
          <a:bodyPr wrap="square" anchor="t" lIns="18288" rIns="18288" tIns="9144" bIns="9144">
            <a:spAutoFit/>
          </a:bodyPr>
          <a:lstStyle/>
          <a:p>
            <a:pPr algn="l">
              <a:lnSpc>
                <a:spcPct val="100000"/>
              </a:lnSpc>
            </a:pPr>
            <a:r>
              <a:rPr sz="2400" b="1">
                <a:solidFill>
                  <a:srgbClr val="121826"/>
                </a:solidFill>
                <a:latin typeface="Poppins ExtraBold"/>
              </a:rPr>
              <a:t>20K+</a:t>
            </a:r>
          </a:p>
        </p:txBody>
      </p:sp>
      <p:sp>
        <p:nvSpPr>
          <p:cNvPr id="55" name="TextBox 54"/>
          <p:cNvSpPr txBox="1"/>
          <p:nvPr/>
        </p:nvSpPr>
        <p:spPr>
          <a:xfrm>
            <a:off x="3698748" y="5943600"/>
            <a:ext cx="2240280" cy="274320"/>
          </a:xfrm>
          <a:prstGeom prst="rect">
            <a:avLst/>
          </a:prstGeom>
          <a:noFill/>
        </p:spPr>
        <p:txBody>
          <a:bodyPr wrap="square" anchor="t" lIns="18288" rIns="18288" tIns="9144" bIns="9144">
            <a:spAutoFit/>
          </a:bodyPr>
          <a:lstStyle/>
          <a:p>
            <a:pPr algn="l">
              <a:lnSpc>
                <a:spcPct val="100000"/>
              </a:lnSpc>
            </a:pPr>
            <a:r>
              <a:rPr sz="950" b="0">
                <a:solidFill>
                  <a:srgbClr val="5D6675"/>
                </a:solidFill>
                <a:latin typeface="Inter Medium"/>
              </a:rPr>
              <a:t>Dataset Records</a:t>
            </a:r>
          </a:p>
        </p:txBody>
      </p:sp>
      <p:sp>
        <p:nvSpPr>
          <p:cNvPr id="56" name="Rounded Rectangle 55"/>
          <p:cNvSpPr/>
          <p:nvPr/>
        </p:nvSpPr>
        <p:spPr>
          <a:xfrm>
            <a:off x="6172200" y="5303520"/>
            <a:ext cx="2542032" cy="987552"/>
          </a:xfrm>
          <a:prstGeom prst="roundRect">
            <a:avLst>
              <a:gd name="adj" fmla="val 10000"/>
            </a:avLst>
          </a:prstGeom>
          <a:solidFill>
            <a:srgbClr val="FFFFFF"/>
          </a:solidFill>
          <a:ln w="9525">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373368" y="5413248"/>
            <a:ext cx="2194560" cy="457200"/>
          </a:xfrm>
          <a:prstGeom prst="rect">
            <a:avLst/>
          </a:prstGeom>
          <a:noFill/>
        </p:spPr>
        <p:txBody>
          <a:bodyPr wrap="square" anchor="t" lIns="18288" rIns="18288" tIns="9144" bIns="9144">
            <a:spAutoFit/>
          </a:bodyPr>
          <a:lstStyle/>
          <a:p>
            <a:pPr algn="l">
              <a:lnSpc>
                <a:spcPct val="100000"/>
              </a:lnSpc>
            </a:pPr>
            <a:r>
              <a:rPr sz="2400" b="1">
                <a:solidFill>
                  <a:srgbClr val="047857"/>
                </a:solidFill>
                <a:latin typeface="Poppins ExtraBold"/>
              </a:rPr>
              <a:t>50+</a:t>
            </a:r>
          </a:p>
        </p:txBody>
      </p:sp>
      <p:sp>
        <p:nvSpPr>
          <p:cNvPr id="58" name="TextBox 57"/>
          <p:cNvSpPr txBox="1"/>
          <p:nvPr/>
        </p:nvSpPr>
        <p:spPr>
          <a:xfrm>
            <a:off x="6373368" y="5943600"/>
            <a:ext cx="2240280" cy="274320"/>
          </a:xfrm>
          <a:prstGeom prst="rect">
            <a:avLst/>
          </a:prstGeom>
          <a:noFill/>
        </p:spPr>
        <p:txBody>
          <a:bodyPr wrap="square" anchor="t" lIns="18288" rIns="18288" tIns="9144" bIns="9144">
            <a:spAutoFit/>
          </a:bodyPr>
          <a:lstStyle/>
          <a:p>
            <a:pPr algn="l">
              <a:lnSpc>
                <a:spcPct val="100000"/>
              </a:lnSpc>
            </a:pPr>
            <a:r>
              <a:rPr sz="950" b="0">
                <a:solidFill>
                  <a:srgbClr val="5D6675"/>
                </a:solidFill>
                <a:latin typeface="Inter Medium"/>
              </a:rPr>
              <a:t>Websites</a:t>
            </a:r>
          </a:p>
        </p:txBody>
      </p:sp>
      <p:sp>
        <p:nvSpPr>
          <p:cNvPr id="59" name="Rounded Rectangle 58"/>
          <p:cNvSpPr/>
          <p:nvPr/>
        </p:nvSpPr>
        <p:spPr>
          <a:xfrm>
            <a:off x="8846819" y="5303520"/>
            <a:ext cx="2542032" cy="987552"/>
          </a:xfrm>
          <a:prstGeom prst="roundRect">
            <a:avLst>
              <a:gd name="adj" fmla="val 10000"/>
            </a:avLst>
          </a:prstGeom>
          <a:solidFill>
            <a:srgbClr val="FFFFFF"/>
          </a:solidFill>
          <a:ln w="9525">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047988" y="5413248"/>
            <a:ext cx="2194560" cy="457200"/>
          </a:xfrm>
          <a:prstGeom prst="rect">
            <a:avLst/>
          </a:prstGeom>
          <a:noFill/>
        </p:spPr>
        <p:txBody>
          <a:bodyPr wrap="square" anchor="t" lIns="18288" rIns="18288" tIns="9144" bIns="9144">
            <a:spAutoFit/>
          </a:bodyPr>
          <a:lstStyle/>
          <a:p>
            <a:pPr algn="l">
              <a:lnSpc>
                <a:spcPct val="100000"/>
              </a:lnSpc>
            </a:pPr>
            <a:r>
              <a:rPr sz="2400" b="1">
                <a:solidFill>
                  <a:srgbClr val="92400E"/>
                </a:solidFill>
                <a:latin typeface="Poppins ExtraBold"/>
              </a:rPr>
              <a:t>100+</a:t>
            </a:r>
          </a:p>
        </p:txBody>
      </p:sp>
      <p:sp>
        <p:nvSpPr>
          <p:cNvPr id="61" name="TextBox 60"/>
          <p:cNvSpPr txBox="1"/>
          <p:nvPr/>
        </p:nvSpPr>
        <p:spPr>
          <a:xfrm>
            <a:off x="9047988" y="5943600"/>
            <a:ext cx="2240280" cy="274320"/>
          </a:xfrm>
          <a:prstGeom prst="rect">
            <a:avLst/>
          </a:prstGeom>
          <a:noFill/>
        </p:spPr>
        <p:txBody>
          <a:bodyPr wrap="square" anchor="t" lIns="18288" rIns="18288" tIns="9144" bIns="9144">
            <a:spAutoFit/>
          </a:bodyPr>
          <a:lstStyle/>
          <a:p>
            <a:pPr algn="l">
              <a:lnSpc>
                <a:spcPct val="100000"/>
              </a:lnSpc>
            </a:pPr>
            <a:r>
              <a:rPr sz="950" b="0">
                <a:solidFill>
                  <a:srgbClr val="5D6675"/>
                </a:solidFill>
                <a:latin typeface="Inter Medium"/>
              </a:rPr>
              <a:t>Semantic Categories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7FA"/>
        </a:solidFill>
        <a:effectLst/>
      </p:bgPr>
    </p:bg>
    <p:spTree>
      <p:nvGrpSpPr>
        <p:cNvPr id="1" name=""/>
        <p:cNvGrpSpPr/>
        <p:nvPr/>
      </p:nvGrpSpPr>
      <p:grpSpPr/>
      <p:sp>
        <p:nvSpPr>
          <p:cNvPr id="2" name="TextBox 1"/>
          <p:cNvSpPr txBox="1"/>
          <p:nvPr/>
        </p:nvSpPr>
        <p:spPr>
          <a:xfrm>
            <a:off x="841248" y="347472"/>
            <a:ext cx="7315200" cy="274320"/>
          </a:xfrm>
          <a:prstGeom prst="rect">
            <a:avLst/>
          </a:prstGeom>
          <a:noFill/>
        </p:spPr>
        <p:txBody>
          <a:bodyPr wrap="square" anchor="t" lIns="18288" rIns="18288" tIns="9144" bIns="9144">
            <a:spAutoFit/>
          </a:bodyPr>
          <a:lstStyle/>
          <a:p>
            <a:pPr algn="l">
              <a:lnSpc>
                <a:spcPct val="100000"/>
              </a:lnSpc>
            </a:pPr>
            <a:r>
              <a:rPr sz="1100" b="0" spc="300">
                <a:solidFill>
                  <a:srgbClr val="4338CA"/>
                </a:solidFill>
                <a:latin typeface="Inter Medium"/>
              </a:rPr>
              <a:t>CONTRIBUTIONS &amp; ROADMAP</a:t>
            </a:r>
          </a:p>
        </p:txBody>
      </p:sp>
      <p:sp>
        <p:nvSpPr>
          <p:cNvPr id="3" name="TextBox 2"/>
          <p:cNvSpPr txBox="1"/>
          <p:nvPr/>
        </p:nvSpPr>
        <p:spPr>
          <a:xfrm>
            <a:off x="822960" y="566928"/>
            <a:ext cx="10607040" cy="566928"/>
          </a:xfrm>
          <a:prstGeom prst="rect">
            <a:avLst/>
          </a:prstGeom>
          <a:noFill/>
        </p:spPr>
        <p:txBody>
          <a:bodyPr wrap="square" anchor="t" lIns="18288" rIns="18288" tIns="9144" bIns="9144">
            <a:spAutoFit/>
          </a:bodyPr>
          <a:lstStyle/>
          <a:p>
            <a:pPr algn="l">
              <a:lnSpc>
                <a:spcPct val="100000"/>
              </a:lnSpc>
            </a:pPr>
            <a:r>
              <a:rPr sz="3000" b="1">
                <a:solidFill>
                  <a:srgbClr val="121826"/>
                </a:solidFill>
                <a:latin typeface="Poppins ExtraBold"/>
              </a:rPr>
              <a:t>Research Contributions &amp; Future Roadmap</a:t>
            </a:r>
          </a:p>
        </p:txBody>
      </p:sp>
      <p:sp>
        <p:nvSpPr>
          <p:cNvPr id="4" name="Rounded Rectangle 3"/>
          <p:cNvSpPr/>
          <p:nvPr/>
        </p:nvSpPr>
        <p:spPr>
          <a:xfrm>
            <a:off x="841248" y="1133856"/>
            <a:ext cx="868680" cy="45720"/>
          </a:xfrm>
          <a:prstGeom prst="roundRect">
            <a:avLst>
              <a:gd name="adj" fmla="val 50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81360" y="6473952"/>
            <a:ext cx="1005840" cy="274320"/>
          </a:xfrm>
          <a:prstGeom prst="rect">
            <a:avLst/>
          </a:prstGeom>
          <a:noFill/>
        </p:spPr>
        <p:txBody>
          <a:bodyPr wrap="square" anchor="t" lIns="18288" rIns="18288" tIns="9144" bIns="9144">
            <a:spAutoFit/>
          </a:bodyPr>
          <a:lstStyle/>
          <a:p>
            <a:pPr algn="r">
              <a:lnSpc>
                <a:spcPct val="100000"/>
              </a:lnSpc>
            </a:pPr>
            <a:r>
              <a:rPr sz="1000" b="0">
                <a:solidFill>
                  <a:srgbClr val="5D6675"/>
                </a:solidFill>
                <a:latin typeface="Inter Medium"/>
              </a:rPr>
              <a:t>12 / 13</a:t>
            </a:r>
          </a:p>
        </p:txBody>
      </p:sp>
      <p:sp>
        <p:nvSpPr>
          <p:cNvPr id="6" name="TextBox 5"/>
          <p:cNvSpPr txBox="1"/>
          <p:nvPr/>
        </p:nvSpPr>
        <p:spPr>
          <a:xfrm>
            <a:off x="841248" y="6473952"/>
            <a:ext cx="4572000" cy="274320"/>
          </a:xfrm>
          <a:prstGeom prst="rect">
            <a:avLst/>
          </a:prstGeom>
          <a:noFill/>
        </p:spPr>
        <p:txBody>
          <a:bodyPr wrap="square" anchor="t" lIns="18288" rIns="18288" tIns="9144" bIns="9144">
            <a:spAutoFit/>
          </a:bodyPr>
          <a:lstStyle/>
          <a:p>
            <a:pPr algn="l">
              <a:lnSpc>
                <a:spcPct val="100000"/>
              </a:lnSpc>
            </a:pPr>
            <a:r>
              <a:rPr sz="950" b="0" spc="100">
                <a:solidFill>
                  <a:srgbClr val="5D6675"/>
                </a:solidFill>
                <a:latin typeface="Inter Medium"/>
              </a:rPr>
              <a:t>CareerHub · Semantic Professional Identity Framework</a:t>
            </a:r>
          </a:p>
        </p:txBody>
      </p:sp>
      <p:sp>
        <p:nvSpPr>
          <p:cNvPr id="7" name="Rounded Rectangle 6"/>
          <p:cNvSpPr/>
          <p:nvPr/>
        </p:nvSpPr>
        <p:spPr>
          <a:xfrm>
            <a:off x="822960" y="1353312"/>
            <a:ext cx="2029968" cy="1207008"/>
          </a:xfrm>
          <a:prstGeom prst="roundRect">
            <a:avLst>
              <a:gd name="adj" fmla="val 10000"/>
            </a:avLst>
          </a:prstGeom>
          <a:solidFill>
            <a:srgbClr val="FFFFFF"/>
          </a:solidFill>
          <a:ln w="9525">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87552" y="1499616"/>
            <a:ext cx="347472" cy="347472"/>
          </a:xfrm>
          <a:prstGeom prst="roundRect">
            <a:avLst>
              <a:gd name="adj" fmla="val 30000"/>
            </a:avLst>
          </a:prstGeom>
          <a:solidFill>
            <a:srgbClr val="4F46E5">
              <a:alpha val="16000"/>
            </a:srgbClr>
          </a:solidFill>
          <a:ln w="9525">
            <a:solidFill>
              <a:srgbClr val="4F46E5">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n 8"/>
          <p:cNvSpPr/>
          <p:nvPr/>
        </p:nvSpPr>
        <p:spPr>
          <a:xfrm>
            <a:off x="1077894" y="1589958"/>
            <a:ext cx="166786" cy="166786"/>
          </a:xfrm>
          <a:prstGeom prst="can">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1481328"/>
            <a:ext cx="365760" cy="201168"/>
          </a:xfrm>
          <a:prstGeom prst="rect">
            <a:avLst/>
          </a:prstGeom>
          <a:noFill/>
        </p:spPr>
        <p:txBody>
          <a:bodyPr wrap="square" anchor="t" lIns="18288" rIns="18288" tIns="9144" bIns="9144">
            <a:spAutoFit/>
          </a:bodyPr>
          <a:lstStyle/>
          <a:p>
            <a:pPr algn="r">
              <a:lnSpc>
                <a:spcPct val="100000"/>
              </a:lnSpc>
            </a:pPr>
            <a:r>
              <a:rPr sz="850" b="0" spc="100">
                <a:solidFill>
                  <a:srgbClr val="5D6675"/>
                </a:solidFill>
                <a:latin typeface="Inter Medium"/>
              </a:rPr>
              <a:t>C1</a:t>
            </a:r>
          </a:p>
        </p:txBody>
      </p:sp>
      <p:sp>
        <p:nvSpPr>
          <p:cNvPr id="11" name="TextBox 10"/>
          <p:cNvSpPr txBox="1"/>
          <p:nvPr/>
        </p:nvSpPr>
        <p:spPr>
          <a:xfrm>
            <a:off x="987552" y="1938528"/>
            <a:ext cx="1737360" cy="548640"/>
          </a:xfrm>
          <a:prstGeom prst="rect">
            <a:avLst/>
          </a:prstGeom>
          <a:noFill/>
        </p:spPr>
        <p:txBody>
          <a:bodyPr wrap="square" anchor="t" lIns="18288" rIns="18288" tIns="9144" bIns="9144">
            <a:spAutoFit/>
          </a:bodyPr>
          <a:lstStyle/>
          <a:p>
            <a:pPr algn="l">
              <a:lnSpc>
                <a:spcPct val="105000"/>
              </a:lnSpc>
            </a:pPr>
            <a:r>
              <a:rPr sz="1100" b="0">
                <a:solidFill>
                  <a:srgbClr val="121826"/>
                </a:solidFill>
                <a:latin typeface="Poppins SemiBold"/>
              </a:rPr>
              <a:t>Universal Professional Identity</a:t>
            </a:r>
          </a:p>
        </p:txBody>
      </p:sp>
      <p:sp>
        <p:nvSpPr>
          <p:cNvPr id="12" name="Rounded Rectangle 11"/>
          <p:cNvSpPr/>
          <p:nvPr/>
        </p:nvSpPr>
        <p:spPr>
          <a:xfrm>
            <a:off x="2953512" y="1353312"/>
            <a:ext cx="2029968" cy="1207008"/>
          </a:xfrm>
          <a:prstGeom prst="roundRect">
            <a:avLst>
              <a:gd name="adj" fmla="val 10000"/>
            </a:avLst>
          </a:prstGeom>
          <a:solidFill>
            <a:srgbClr val="FFFFFF"/>
          </a:solidFill>
          <a:ln w="9525">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118104" y="1499616"/>
            <a:ext cx="347472" cy="347472"/>
          </a:xfrm>
          <a:prstGeom prst="roundRect">
            <a:avLst>
              <a:gd name="adj" fmla="val 30000"/>
            </a:avLst>
          </a:prstGeom>
          <a:solidFill>
            <a:srgbClr val="4338CA">
              <a:alpha val="16000"/>
            </a:srgbClr>
          </a:solidFill>
          <a:ln w="9525">
            <a:solidFill>
              <a:srgbClr val="4338CA">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Hexagon 13"/>
          <p:cNvSpPr/>
          <p:nvPr/>
        </p:nvSpPr>
        <p:spPr>
          <a:xfrm>
            <a:off x="3208446" y="1589958"/>
            <a:ext cx="166786" cy="166786"/>
          </a:xfrm>
          <a:prstGeom prst="hexagon">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7992" y="1481328"/>
            <a:ext cx="365760" cy="201168"/>
          </a:xfrm>
          <a:prstGeom prst="rect">
            <a:avLst/>
          </a:prstGeom>
          <a:noFill/>
        </p:spPr>
        <p:txBody>
          <a:bodyPr wrap="square" anchor="t" lIns="18288" rIns="18288" tIns="9144" bIns="9144">
            <a:spAutoFit/>
          </a:bodyPr>
          <a:lstStyle/>
          <a:p>
            <a:pPr algn="r">
              <a:lnSpc>
                <a:spcPct val="100000"/>
              </a:lnSpc>
            </a:pPr>
            <a:r>
              <a:rPr sz="850" b="0" spc="100">
                <a:solidFill>
                  <a:srgbClr val="5D6675"/>
                </a:solidFill>
                <a:latin typeface="Inter Medium"/>
              </a:rPr>
              <a:t>C2</a:t>
            </a:r>
          </a:p>
        </p:txBody>
      </p:sp>
      <p:sp>
        <p:nvSpPr>
          <p:cNvPr id="16" name="TextBox 15"/>
          <p:cNvSpPr txBox="1"/>
          <p:nvPr/>
        </p:nvSpPr>
        <p:spPr>
          <a:xfrm>
            <a:off x="3118104" y="1938528"/>
            <a:ext cx="1737360" cy="548640"/>
          </a:xfrm>
          <a:prstGeom prst="rect">
            <a:avLst/>
          </a:prstGeom>
          <a:noFill/>
        </p:spPr>
        <p:txBody>
          <a:bodyPr wrap="square" anchor="t" lIns="18288" rIns="18288" tIns="9144" bIns="9144">
            <a:spAutoFit/>
          </a:bodyPr>
          <a:lstStyle/>
          <a:p>
            <a:pPr algn="l">
              <a:lnSpc>
                <a:spcPct val="105000"/>
              </a:lnSpc>
            </a:pPr>
            <a:r>
              <a:rPr sz="1100" b="0">
                <a:solidFill>
                  <a:srgbClr val="121826"/>
                </a:solidFill>
                <a:latin typeface="Poppins SemiBold"/>
              </a:rPr>
              <a:t>Semantic HTML Understanding</a:t>
            </a:r>
          </a:p>
        </p:txBody>
      </p:sp>
      <p:sp>
        <p:nvSpPr>
          <p:cNvPr id="17" name="Rounded Rectangle 16"/>
          <p:cNvSpPr/>
          <p:nvPr/>
        </p:nvSpPr>
        <p:spPr>
          <a:xfrm>
            <a:off x="5084064" y="1353312"/>
            <a:ext cx="2029968" cy="1207008"/>
          </a:xfrm>
          <a:prstGeom prst="roundRect">
            <a:avLst>
              <a:gd name="adj" fmla="val 10000"/>
            </a:avLst>
          </a:prstGeom>
          <a:solidFill>
            <a:srgbClr val="FFFFFF"/>
          </a:solidFill>
          <a:ln w="9525">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248656" y="1499616"/>
            <a:ext cx="347472" cy="347472"/>
          </a:xfrm>
          <a:prstGeom prst="roundRect">
            <a:avLst>
              <a:gd name="adj" fmla="val 30000"/>
            </a:avLst>
          </a:prstGeom>
          <a:solidFill>
            <a:srgbClr val="059669">
              <a:alpha val="16000"/>
            </a:srgbClr>
          </a:solidFill>
          <a:ln w="9525">
            <a:solidFill>
              <a:srgbClr val="059669">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ame 18"/>
          <p:cNvSpPr/>
          <p:nvPr/>
        </p:nvSpPr>
        <p:spPr>
          <a:xfrm>
            <a:off x="5338998" y="1589958"/>
            <a:ext cx="166786" cy="166786"/>
          </a:xfrm>
          <a:prstGeom prst="fram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38544" y="1481328"/>
            <a:ext cx="365760" cy="201168"/>
          </a:xfrm>
          <a:prstGeom prst="rect">
            <a:avLst/>
          </a:prstGeom>
          <a:noFill/>
        </p:spPr>
        <p:txBody>
          <a:bodyPr wrap="square" anchor="t" lIns="18288" rIns="18288" tIns="9144" bIns="9144">
            <a:spAutoFit/>
          </a:bodyPr>
          <a:lstStyle/>
          <a:p>
            <a:pPr algn="r">
              <a:lnSpc>
                <a:spcPct val="100000"/>
              </a:lnSpc>
            </a:pPr>
            <a:r>
              <a:rPr sz="850" b="0" spc="100">
                <a:solidFill>
                  <a:srgbClr val="5D6675"/>
                </a:solidFill>
                <a:latin typeface="Inter Medium"/>
              </a:rPr>
              <a:t>C3</a:t>
            </a:r>
          </a:p>
        </p:txBody>
      </p:sp>
      <p:sp>
        <p:nvSpPr>
          <p:cNvPr id="21" name="TextBox 20"/>
          <p:cNvSpPr txBox="1"/>
          <p:nvPr/>
        </p:nvSpPr>
        <p:spPr>
          <a:xfrm>
            <a:off x="5248656" y="1938528"/>
            <a:ext cx="1737360" cy="548640"/>
          </a:xfrm>
          <a:prstGeom prst="rect">
            <a:avLst/>
          </a:prstGeom>
          <a:noFill/>
        </p:spPr>
        <p:txBody>
          <a:bodyPr wrap="square" anchor="t" lIns="18288" rIns="18288" tIns="9144" bIns="9144">
            <a:spAutoFit/>
          </a:bodyPr>
          <a:lstStyle/>
          <a:p>
            <a:pPr algn="l">
              <a:lnSpc>
                <a:spcPct val="105000"/>
              </a:lnSpc>
            </a:pPr>
            <a:r>
              <a:rPr sz="1100" b="0">
                <a:solidFill>
                  <a:srgbClr val="121826"/>
                </a:solidFill>
                <a:latin typeface="Poppins SemiBold"/>
              </a:rPr>
              <a:t>Browser Extension</a:t>
            </a:r>
          </a:p>
        </p:txBody>
      </p:sp>
      <p:sp>
        <p:nvSpPr>
          <p:cNvPr id="22" name="Rounded Rectangle 21"/>
          <p:cNvSpPr/>
          <p:nvPr/>
        </p:nvSpPr>
        <p:spPr>
          <a:xfrm>
            <a:off x="7214616" y="1353312"/>
            <a:ext cx="2029968" cy="1207008"/>
          </a:xfrm>
          <a:prstGeom prst="roundRect">
            <a:avLst>
              <a:gd name="adj" fmla="val 10000"/>
            </a:avLst>
          </a:prstGeom>
          <a:solidFill>
            <a:srgbClr val="FFFFFF"/>
          </a:solidFill>
          <a:ln w="9525">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379208" y="1499616"/>
            <a:ext cx="347472" cy="347472"/>
          </a:xfrm>
          <a:prstGeom prst="roundRect">
            <a:avLst>
              <a:gd name="adj" fmla="val 30000"/>
            </a:avLst>
          </a:prstGeom>
          <a:solidFill>
            <a:srgbClr val="D97706">
              <a:alpha val="16000"/>
            </a:srgbClr>
          </a:solidFill>
          <a:ln w="9525">
            <a:solidFill>
              <a:srgbClr val="D97706">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iamond 23"/>
          <p:cNvSpPr/>
          <p:nvPr/>
        </p:nvSpPr>
        <p:spPr>
          <a:xfrm>
            <a:off x="7469550" y="1589958"/>
            <a:ext cx="166786" cy="166786"/>
          </a:xfrm>
          <a:prstGeom prst="diamond">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69096" y="1481328"/>
            <a:ext cx="365760" cy="201168"/>
          </a:xfrm>
          <a:prstGeom prst="rect">
            <a:avLst/>
          </a:prstGeom>
          <a:noFill/>
        </p:spPr>
        <p:txBody>
          <a:bodyPr wrap="square" anchor="t" lIns="18288" rIns="18288" tIns="9144" bIns="9144">
            <a:spAutoFit/>
          </a:bodyPr>
          <a:lstStyle/>
          <a:p>
            <a:pPr algn="r">
              <a:lnSpc>
                <a:spcPct val="100000"/>
              </a:lnSpc>
            </a:pPr>
            <a:r>
              <a:rPr sz="850" b="0" spc="100">
                <a:solidFill>
                  <a:srgbClr val="5D6675"/>
                </a:solidFill>
                <a:latin typeface="Inter Medium"/>
              </a:rPr>
              <a:t>C4</a:t>
            </a:r>
          </a:p>
        </p:txBody>
      </p:sp>
      <p:sp>
        <p:nvSpPr>
          <p:cNvPr id="26" name="TextBox 25"/>
          <p:cNvSpPr txBox="1"/>
          <p:nvPr/>
        </p:nvSpPr>
        <p:spPr>
          <a:xfrm>
            <a:off x="7379208" y="1938528"/>
            <a:ext cx="1737360" cy="548640"/>
          </a:xfrm>
          <a:prstGeom prst="rect">
            <a:avLst/>
          </a:prstGeom>
          <a:noFill/>
        </p:spPr>
        <p:txBody>
          <a:bodyPr wrap="square" anchor="t" lIns="18288" rIns="18288" tIns="9144" bIns="9144">
            <a:spAutoFit/>
          </a:bodyPr>
          <a:lstStyle/>
          <a:p>
            <a:pPr algn="l">
              <a:lnSpc>
                <a:spcPct val="105000"/>
              </a:lnSpc>
            </a:pPr>
            <a:r>
              <a:rPr sz="1100" b="0">
                <a:solidFill>
                  <a:srgbClr val="121826"/>
                </a:solidFill>
                <a:latin typeface="Poppins SemiBold"/>
              </a:rPr>
              <a:t>AI Field Mapping</a:t>
            </a:r>
          </a:p>
        </p:txBody>
      </p:sp>
      <p:sp>
        <p:nvSpPr>
          <p:cNvPr id="27" name="Rounded Rectangle 26"/>
          <p:cNvSpPr/>
          <p:nvPr/>
        </p:nvSpPr>
        <p:spPr>
          <a:xfrm>
            <a:off x="9345168" y="1353312"/>
            <a:ext cx="2029968" cy="1207008"/>
          </a:xfrm>
          <a:prstGeom prst="roundRect">
            <a:avLst>
              <a:gd name="adj" fmla="val 10000"/>
            </a:avLst>
          </a:prstGeom>
          <a:solidFill>
            <a:srgbClr val="FFFFFF"/>
          </a:solidFill>
          <a:ln w="9525">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509760" y="1499616"/>
            <a:ext cx="347472" cy="347472"/>
          </a:xfrm>
          <a:prstGeom prst="roundRect">
            <a:avLst>
              <a:gd name="adj" fmla="val 30000"/>
            </a:avLst>
          </a:prstGeom>
          <a:solidFill>
            <a:srgbClr val="4F46E5">
              <a:alpha val="16000"/>
            </a:srgbClr>
          </a:solidFill>
          <a:ln w="9525">
            <a:solidFill>
              <a:srgbClr val="4F46E5">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lock Arc 28"/>
          <p:cNvSpPr/>
          <p:nvPr/>
        </p:nvSpPr>
        <p:spPr>
          <a:xfrm>
            <a:off x="9600102" y="1589958"/>
            <a:ext cx="166786" cy="166786"/>
          </a:xfrm>
          <a:prstGeom prst="blockArc">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899648" y="1481328"/>
            <a:ext cx="365760" cy="201168"/>
          </a:xfrm>
          <a:prstGeom prst="rect">
            <a:avLst/>
          </a:prstGeom>
          <a:noFill/>
        </p:spPr>
        <p:txBody>
          <a:bodyPr wrap="square" anchor="t" lIns="18288" rIns="18288" tIns="9144" bIns="9144">
            <a:spAutoFit/>
          </a:bodyPr>
          <a:lstStyle/>
          <a:p>
            <a:pPr algn="r">
              <a:lnSpc>
                <a:spcPct val="100000"/>
              </a:lnSpc>
            </a:pPr>
            <a:r>
              <a:rPr sz="850" b="0" spc="100">
                <a:solidFill>
                  <a:srgbClr val="5D6675"/>
                </a:solidFill>
                <a:latin typeface="Inter Medium"/>
              </a:rPr>
              <a:t>C5</a:t>
            </a:r>
          </a:p>
        </p:txBody>
      </p:sp>
      <p:sp>
        <p:nvSpPr>
          <p:cNvPr id="31" name="TextBox 30"/>
          <p:cNvSpPr txBox="1"/>
          <p:nvPr/>
        </p:nvSpPr>
        <p:spPr>
          <a:xfrm>
            <a:off x="9509760" y="1938528"/>
            <a:ext cx="1737360" cy="548640"/>
          </a:xfrm>
          <a:prstGeom prst="rect">
            <a:avLst/>
          </a:prstGeom>
          <a:noFill/>
        </p:spPr>
        <p:txBody>
          <a:bodyPr wrap="square" anchor="t" lIns="18288" rIns="18288" tIns="9144" bIns="9144">
            <a:spAutoFit/>
          </a:bodyPr>
          <a:lstStyle/>
          <a:p>
            <a:pPr algn="l">
              <a:lnSpc>
                <a:spcPct val="105000"/>
              </a:lnSpc>
            </a:pPr>
            <a:r>
              <a:rPr sz="1100" b="0">
                <a:solidFill>
                  <a:srgbClr val="121826"/>
                </a:solidFill>
                <a:latin typeface="Poppins SemiBold"/>
              </a:rPr>
              <a:t>Cross-Platform Autofill</a:t>
            </a:r>
          </a:p>
        </p:txBody>
      </p:sp>
      <p:sp>
        <p:nvSpPr>
          <p:cNvPr id="32" name="TextBox 31"/>
          <p:cNvSpPr txBox="1"/>
          <p:nvPr/>
        </p:nvSpPr>
        <p:spPr>
          <a:xfrm>
            <a:off x="841248" y="2798064"/>
            <a:ext cx="3657600" cy="219456"/>
          </a:xfrm>
          <a:prstGeom prst="rect">
            <a:avLst/>
          </a:prstGeom>
          <a:noFill/>
        </p:spPr>
        <p:txBody>
          <a:bodyPr wrap="square" anchor="t" lIns="18288" rIns="18288" tIns="9144" bIns="9144">
            <a:spAutoFit/>
          </a:bodyPr>
          <a:lstStyle/>
          <a:p>
            <a:pPr algn="l">
              <a:lnSpc>
                <a:spcPct val="100000"/>
              </a:lnSpc>
            </a:pPr>
            <a:r>
              <a:rPr sz="1000" b="0" spc="300">
                <a:solidFill>
                  <a:srgbClr val="4338CA"/>
                </a:solidFill>
                <a:latin typeface="Inter Medium"/>
              </a:rPr>
              <a:t>EXECUTION ROADMAP</a:t>
            </a:r>
          </a:p>
        </p:txBody>
      </p:sp>
      <p:sp>
        <p:nvSpPr>
          <p:cNvPr id="33" name="Rounded Rectangle 32"/>
          <p:cNvSpPr/>
          <p:nvPr/>
        </p:nvSpPr>
        <p:spPr>
          <a:xfrm>
            <a:off x="822960" y="3090672"/>
            <a:ext cx="1609344" cy="841248"/>
          </a:xfrm>
          <a:prstGeom prst="roundRect">
            <a:avLst>
              <a:gd name="adj" fmla="val 14000"/>
            </a:avLst>
          </a:prstGeom>
          <a:solidFill>
            <a:srgbClr val="059669">
              <a:alpha val="12000"/>
            </a:srgbClr>
          </a:solidFill>
          <a:ln w="12700">
            <a:solidFill>
              <a:srgbClr val="059669">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2194560" y="3200400"/>
            <a:ext cx="109728" cy="109728"/>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9264" y="3200400"/>
            <a:ext cx="1325880" cy="182880"/>
          </a:xfrm>
          <a:prstGeom prst="rect">
            <a:avLst/>
          </a:prstGeom>
          <a:noFill/>
        </p:spPr>
        <p:txBody>
          <a:bodyPr wrap="square" anchor="t" lIns="18288" rIns="18288" tIns="9144" bIns="9144">
            <a:spAutoFit/>
          </a:bodyPr>
          <a:lstStyle/>
          <a:p>
            <a:pPr algn="l">
              <a:lnSpc>
                <a:spcPct val="100000"/>
              </a:lnSpc>
            </a:pPr>
            <a:r>
              <a:rPr sz="750" b="0" spc="200">
                <a:solidFill>
                  <a:srgbClr val="047857"/>
                </a:solidFill>
                <a:latin typeface="Inter Medium"/>
              </a:rPr>
              <a:t>PHASE 1</a:t>
            </a:r>
          </a:p>
        </p:txBody>
      </p:sp>
      <p:sp>
        <p:nvSpPr>
          <p:cNvPr id="36" name="TextBox 35"/>
          <p:cNvSpPr txBox="1"/>
          <p:nvPr/>
        </p:nvSpPr>
        <p:spPr>
          <a:xfrm>
            <a:off x="969264" y="3401568"/>
            <a:ext cx="1371600" cy="457200"/>
          </a:xfrm>
          <a:prstGeom prst="rect">
            <a:avLst/>
          </a:prstGeom>
          <a:noFill/>
        </p:spPr>
        <p:txBody>
          <a:bodyPr wrap="square" anchor="t" lIns="18288" rIns="18288" tIns="9144" bIns="9144">
            <a:spAutoFit/>
          </a:bodyPr>
          <a:lstStyle/>
          <a:p>
            <a:pPr algn="l">
              <a:lnSpc>
                <a:spcPct val="100000"/>
              </a:lnSpc>
            </a:pPr>
            <a:r>
              <a:rPr sz="1050" b="0">
                <a:solidFill>
                  <a:srgbClr val="121826"/>
                </a:solidFill>
                <a:latin typeface="Poppins SemiBold"/>
              </a:rPr>
              <a:t>Dataset Collection</a:t>
            </a:r>
          </a:p>
        </p:txBody>
      </p:sp>
      <p:sp>
        <p:nvSpPr>
          <p:cNvPr id="37" name="TextBox 36"/>
          <p:cNvSpPr txBox="1"/>
          <p:nvPr/>
        </p:nvSpPr>
        <p:spPr>
          <a:xfrm>
            <a:off x="822960" y="4005072"/>
            <a:ext cx="1609344" cy="201168"/>
          </a:xfrm>
          <a:prstGeom prst="rect">
            <a:avLst/>
          </a:prstGeom>
          <a:noFill/>
        </p:spPr>
        <p:txBody>
          <a:bodyPr wrap="square" anchor="t" lIns="18288" rIns="18288" tIns="9144" bIns="9144">
            <a:spAutoFit/>
          </a:bodyPr>
          <a:lstStyle/>
          <a:p>
            <a:pPr algn="ctr">
              <a:lnSpc>
                <a:spcPct val="100000"/>
              </a:lnSpc>
            </a:pPr>
            <a:r>
              <a:rPr sz="800" b="0">
                <a:solidFill>
                  <a:srgbClr val="5D6675"/>
                </a:solidFill>
                <a:latin typeface="Inter Medium"/>
              </a:rPr>
              <a:t>Jun–Jul 2026</a:t>
            </a:r>
          </a:p>
        </p:txBody>
      </p:sp>
      <p:sp>
        <p:nvSpPr>
          <p:cNvPr id="38" name="Isosceles Triangle 37"/>
          <p:cNvSpPr/>
          <p:nvPr/>
        </p:nvSpPr>
        <p:spPr>
          <a:xfrm rot="5400000">
            <a:off x="2459736" y="3456432"/>
            <a:ext cx="93268" cy="109728"/>
          </a:xfrm>
          <a:prstGeom prst="triangle">
            <a:avLst/>
          </a:prstGeom>
          <a:solidFill>
            <a:srgbClr val="4F46E5">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2601468" y="3090672"/>
            <a:ext cx="1609344" cy="841248"/>
          </a:xfrm>
          <a:prstGeom prst="roundRect">
            <a:avLst>
              <a:gd name="adj" fmla="val 14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47772" y="3200400"/>
            <a:ext cx="1325880" cy="182880"/>
          </a:xfrm>
          <a:prstGeom prst="rect">
            <a:avLst/>
          </a:prstGeom>
          <a:noFill/>
        </p:spPr>
        <p:txBody>
          <a:bodyPr wrap="square" anchor="t" lIns="18288" rIns="18288" tIns="9144" bIns="9144">
            <a:spAutoFit/>
          </a:bodyPr>
          <a:lstStyle/>
          <a:p>
            <a:pPr algn="l">
              <a:lnSpc>
                <a:spcPct val="100000"/>
              </a:lnSpc>
            </a:pPr>
            <a:r>
              <a:rPr sz="750" b="0" spc="200">
                <a:solidFill>
                  <a:srgbClr val="4338CA"/>
                </a:solidFill>
                <a:latin typeface="Inter Medium"/>
              </a:rPr>
              <a:t>PHASE 2</a:t>
            </a:r>
          </a:p>
        </p:txBody>
      </p:sp>
      <p:sp>
        <p:nvSpPr>
          <p:cNvPr id="41" name="TextBox 40"/>
          <p:cNvSpPr txBox="1"/>
          <p:nvPr/>
        </p:nvSpPr>
        <p:spPr>
          <a:xfrm>
            <a:off x="2747772" y="3401568"/>
            <a:ext cx="1371600" cy="457200"/>
          </a:xfrm>
          <a:prstGeom prst="rect">
            <a:avLst/>
          </a:prstGeom>
          <a:noFill/>
        </p:spPr>
        <p:txBody>
          <a:bodyPr wrap="square" anchor="t" lIns="18288" rIns="18288" tIns="9144" bIns="9144">
            <a:spAutoFit/>
          </a:bodyPr>
          <a:lstStyle/>
          <a:p>
            <a:pPr algn="l">
              <a:lnSpc>
                <a:spcPct val="100000"/>
              </a:lnSpc>
            </a:pPr>
            <a:r>
              <a:rPr sz="1050" b="0">
                <a:solidFill>
                  <a:srgbClr val="121826"/>
                </a:solidFill>
                <a:latin typeface="Poppins SemiBold"/>
              </a:rPr>
              <a:t>Annotation</a:t>
            </a:r>
          </a:p>
        </p:txBody>
      </p:sp>
      <p:sp>
        <p:nvSpPr>
          <p:cNvPr id="42" name="TextBox 41"/>
          <p:cNvSpPr txBox="1"/>
          <p:nvPr/>
        </p:nvSpPr>
        <p:spPr>
          <a:xfrm>
            <a:off x="2601468" y="4005072"/>
            <a:ext cx="1609344" cy="201168"/>
          </a:xfrm>
          <a:prstGeom prst="rect">
            <a:avLst/>
          </a:prstGeom>
          <a:noFill/>
        </p:spPr>
        <p:txBody>
          <a:bodyPr wrap="square" anchor="t" lIns="18288" rIns="18288" tIns="9144" bIns="9144">
            <a:spAutoFit/>
          </a:bodyPr>
          <a:lstStyle/>
          <a:p>
            <a:pPr algn="ctr">
              <a:lnSpc>
                <a:spcPct val="100000"/>
              </a:lnSpc>
            </a:pPr>
            <a:r>
              <a:rPr sz="800" b="0">
                <a:solidFill>
                  <a:srgbClr val="5D6675"/>
                </a:solidFill>
                <a:latin typeface="Inter Medium"/>
              </a:rPr>
              <a:t>Aug 2026</a:t>
            </a:r>
          </a:p>
        </p:txBody>
      </p:sp>
      <p:sp>
        <p:nvSpPr>
          <p:cNvPr id="43" name="Isosceles Triangle 42"/>
          <p:cNvSpPr/>
          <p:nvPr/>
        </p:nvSpPr>
        <p:spPr>
          <a:xfrm rot="5400000">
            <a:off x="4238244" y="3456432"/>
            <a:ext cx="93268" cy="109728"/>
          </a:xfrm>
          <a:prstGeom prst="triangle">
            <a:avLst/>
          </a:prstGeom>
          <a:solidFill>
            <a:srgbClr val="4F46E5">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379976" y="3090672"/>
            <a:ext cx="1609344" cy="841248"/>
          </a:xfrm>
          <a:prstGeom prst="roundRect">
            <a:avLst>
              <a:gd name="adj" fmla="val 14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26280" y="3200400"/>
            <a:ext cx="1325880" cy="182880"/>
          </a:xfrm>
          <a:prstGeom prst="rect">
            <a:avLst/>
          </a:prstGeom>
          <a:noFill/>
        </p:spPr>
        <p:txBody>
          <a:bodyPr wrap="square" anchor="t" lIns="18288" rIns="18288" tIns="9144" bIns="9144">
            <a:spAutoFit/>
          </a:bodyPr>
          <a:lstStyle/>
          <a:p>
            <a:pPr algn="l">
              <a:lnSpc>
                <a:spcPct val="100000"/>
              </a:lnSpc>
            </a:pPr>
            <a:r>
              <a:rPr sz="750" b="0" spc="200">
                <a:solidFill>
                  <a:srgbClr val="4338CA"/>
                </a:solidFill>
                <a:latin typeface="Inter Medium"/>
              </a:rPr>
              <a:t>PHASE 3</a:t>
            </a:r>
          </a:p>
        </p:txBody>
      </p:sp>
      <p:sp>
        <p:nvSpPr>
          <p:cNvPr id="46" name="TextBox 45"/>
          <p:cNvSpPr txBox="1"/>
          <p:nvPr/>
        </p:nvSpPr>
        <p:spPr>
          <a:xfrm>
            <a:off x="4526280" y="3401568"/>
            <a:ext cx="1371600" cy="457200"/>
          </a:xfrm>
          <a:prstGeom prst="rect">
            <a:avLst/>
          </a:prstGeom>
          <a:noFill/>
        </p:spPr>
        <p:txBody>
          <a:bodyPr wrap="square" anchor="t" lIns="18288" rIns="18288" tIns="9144" bIns="9144">
            <a:spAutoFit/>
          </a:bodyPr>
          <a:lstStyle/>
          <a:p>
            <a:pPr algn="l">
              <a:lnSpc>
                <a:spcPct val="100000"/>
              </a:lnSpc>
            </a:pPr>
            <a:r>
              <a:rPr sz="1050" b="0">
                <a:solidFill>
                  <a:srgbClr val="121826"/>
                </a:solidFill>
                <a:latin typeface="Poppins SemiBold"/>
              </a:rPr>
              <a:t>Model Training</a:t>
            </a:r>
          </a:p>
        </p:txBody>
      </p:sp>
      <p:sp>
        <p:nvSpPr>
          <p:cNvPr id="47" name="TextBox 46"/>
          <p:cNvSpPr txBox="1"/>
          <p:nvPr/>
        </p:nvSpPr>
        <p:spPr>
          <a:xfrm>
            <a:off x="4379976" y="4005072"/>
            <a:ext cx="1609344" cy="201168"/>
          </a:xfrm>
          <a:prstGeom prst="rect">
            <a:avLst/>
          </a:prstGeom>
          <a:noFill/>
        </p:spPr>
        <p:txBody>
          <a:bodyPr wrap="square" anchor="t" lIns="18288" rIns="18288" tIns="9144" bIns="9144">
            <a:spAutoFit/>
          </a:bodyPr>
          <a:lstStyle/>
          <a:p>
            <a:pPr algn="ctr">
              <a:lnSpc>
                <a:spcPct val="100000"/>
              </a:lnSpc>
            </a:pPr>
            <a:r>
              <a:rPr sz="800" b="0">
                <a:solidFill>
                  <a:srgbClr val="5D6675"/>
                </a:solidFill>
                <a:latin typeface="Inter Medium"/>
              </a:rPr>
              <a:t>Sep–Oct 2026</a:t>
            </a:r>
          </a:p>
        </p:txBody>
      </p:sp>
      <p:sp>
        <p:nvSpPr>
          <p:cNvPr id="48" name="Isosceles Triangle 47"/>
          <p:cNvSpPr/>
          <p:nvPr/>
        </p:nvSpPr>
        <p:spPr>
          <a:xfrm rot="5400000">
            <a:off x="6016752" y="3456432"/>
            <a:ext cx="93268" cy="109728"/>
          </a:xfrm>
          <a:prstGeom prst="triangle">
            <a:avLst/>
          </a:prstGeom>
          <a:solidFill>
            <a:srgbClr val="4F46E5">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6158484" y="3090672"/>
            <a:ext cx="1609344" cy="841248"/>
          </a:xfrm>
          <a:prstGeom prst="roundRect">
            <a:avLst>
              <a:gd name="adj" fmla="val 14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04788" y="3200400"/>
            <a:ext cx="1325880" cy="182880"/>
          </a:xfrm>
          <a:prstGeom prst="rect">
            <a:avLst/>
          </a:prstGeom>
          <a:noFill/>
        </p:spPr>
        <p:txBody>
          <a:bodyPr wrap="square" anchor="t" lIns="18288" rIns="18288" tIns="9144" bIns="9144">
            <a:spAutoFit/>
          </a:bodyPr>
          <a:lstStyle/>
          <a:p>
            <a:pPr algn="l">
              <a:lnSpc>
                <a:spcPct val="100000"/>
              </a:lnSpc>
            </a:pPr>
            <a:r>
              <a:rPr sz="750" b="0" spc="200">
                <a:solidFill>
                  <a:srgbClr val="4338CA"/>
                </a:solidFill>
                <a:latin typeface="Inter Medium"/>
              </a:rPr>
              <a:t>PHASE 4</a:t>
            </a:r>
          </a:p>
        </p:txBody>
      </p:sp>
      <p:sp>
        <p:nvSpPr>
          <p:cNvPr id="51" name="TextBox 50"/>
          <p:cNvSpPr txBox="1"/>
          <p:nvPr/>
        </p:nvSpPr>
        <p:spPr>
          <a:xfrm>
            <a:off x="6304788" y="3401568"/>
            <a:ext cx="1371600" cy="457200"/>
          </a:xfrm>
          <a:prstGeom prst="rect">
            <a:avLst/>
          </a:prstGeom>
          <a:noFill/>
        </p:spPr>
        <p:txBody>
          <a:bodyPr wrap="square" anchor="t" lIns="18288" rIns="18288" tIns="9144" bIns="9144">
            <a:spAutoFit/>
          </a:bodyPr>
          <a:lstStyle/>
          <a:p>
            <a:pPr algn="l">
              <a:lnSpc>
                <a:spcPct val="100000"/>
              </a:lnSpc>
            </a:pPr>
            <a:r>
              <a:rPr sz="1050" b="0">
                <a:solidFill>
                  <a:srgbClr val="121826"/>
                </a:solidFill>
                <a:latin typeface="Poppins SemiBold"/>
              </a:rPr>
              <a:t>AI Browser Autofill</a:t>
            </a:r>
          </a:p>
        </p:txBody>
      </p:sp>
      <p:sp>
        <p:nvSpPr>
          <p:cNvPr id="52" name="TextBox 51"/>
          <p:cNvSpPr txBox="1"/>
          <p:nvPr/>
        </p:nvSpPr>
        <p:spPr>
          <a:xfrm>
            <a:off x="6158484" y="4005072"/>
            <a:ext cx="1609344" cy="201168"/>
          </a:xfrm>
          <a:prstGeom prst="rect">
            <a:avLst/>
          </a:prstGeom>
          <a:noFill/>
        </p:spPr>
        <p:txBody>
          <a:bodyPr wrap="square" anchor="t" lIns="18288" rIns="18288" tIns="9144" bIns="9144">
            <a:spAutoFit/>
          </a:bodyPr>
          <a:lstStyle/>
          <a:p>
            <a:pPr algn="ctr">
              <a:lnSpc>
                <a:spcPct val="100000"/>
              </a:lnSpc>
            </a:pPr>
            <a:r>
              <a:rPr sz="800" b="0">
                <a:solidFill>
                  <a:srgbClr val="5D6675"/>
                </a:solidFill>
                <a:latin typeface="Inter Medium"/>
              </a:rPr>
              <a:t>Nov 2026</a:t>
            </a:r>
          </a:p>
        </p:txBody>
      </p:sp>
      <p:sp>
        <p:nvSpPr>
          <p:cNvPr id="53" name="Isosceles Triangle 52"/>
          <p:cNvSpPr/>
          <p:nvPr/>
        </p:nvSpPr>
        <p:spPr>
          <a:xfrm rot="5400000">
            <a:off x="7795260" y="3456432"/>
            <a:ext cx="93268" cy="109728"/>
          </a:xfrm>
          <a:prstGeom prst="triangle">
            <a:avLst/>
          </a:prstGeom>
          <a:solidFill>
            <a:srgbClr val="4F46E5">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7936992" y="3090672"/>
            <a:ext cx="1609344" cy="841248"/>
          </a:xfrm>
          <a:prstGeom prst="roundRect">
            <a:avLst>
              <a:gd name="adj" fmla="val 14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083296" y="3200400"/>
            <a:ext cx="1325880" cy="182880"/>
          </a:xfrm>
          <a:prstGeom prst="rect">
            <a:avLst/>
          </a:prstGeom>
          <a:noFill/>
        </p:spPr>
        <p:txBody>
          <a:bodyPr wrap="square" anchor="t" lIns="18288" rIns="18288" tIns="9144" bIns="9144">
            <a:spAutoFit/>
          </a:bodyPr>
          <a:lstStyle/>
          <a:p>
            <a:pPr algn="l">
              <a:lnSpc>
                <a:spcPct val="100000"/>
              </a:lnSpc>
            </a:pPr>
            <a:r>
              <a:rPr sz="750" b="0" spc="200">
                <a:solidFill>
                  <a:srgbClr val="4338CA"/>
                </a:solidFill>
                <a:latin typeface="Inter Medium"/>
              </a:rPr>
              <a:t>PHASE 5</a:t>
            </a:r>
          </a:p>
        </p:txBody>
      </p:sp>
      <p:sp>
        <p:nvSpPr>
          <p:cNvPr id="56" name="TextBox 55"/>
          <p:cNvSpPr txBox="1"/>
          <p:nvPr/>
        </p:nvSpPr>
        <p:spPr>
          <a:xfrm>
            <a:off x="8083296" y="3401568"/>
            <a:ext cx="1371600" cy="457200"/>
          </a:xfrm>
          <a:prstGeom prst="rect">
            <a:avLst/>
          </a:prstGeom>
          <a:noFill/>
        </p:spPr>
        <p:txBody>
          <a:bodyPr wrap="square" anchor="t" lIns="18288" rIns="18288" tIns="9144" bIns="9144">
            <a:spAutoFit/>
          </a:bodyPr>
          <a:lstStyle/>
          <a:p>
            <a:pPr algn="l">
              <a:lnSpc>
                <a:spcPct val="100000"/>
              </a:lnSpc>
            </a:pPr>
            <a:r>
              <a:rPr sz="1050" b="0">
                <a:solidFill>
                  <a:srgbClr val="121826"/>
                </a:solidFill>
                <a:latin typeface="Poppins SemiBold"/>
              </a:rPr>
              <a:t>Publication</a:t>
            </a:r>
          </a:p>
        </p:txBody>
      </p:sp>
      <p:sp>
        <p:nvSpPr>
          <p:cNvPr id="57" name="TextBox 56"/>
          <p:cNvSpPr txBox="1"/>
          <p:nvPr/>
        </p:nvSpPr>
        <p:spPr>
          <a:xfrm>
            <a:off x="7936992" y="4005072"/>
            <a:ext cx="1609344" cy="201168"/>
          </a:xfrm>
          <a:prstGeom prst="rect">
            <a:avLst/>
          </a:prstGeom>
          <a:noFill/>
        </p:spPr>
        <p:txBody>
          <a:bodyPr wrap="square" anchor="t" lIns="18288" rIns="18288" tIns="9144" bIns="9144">
            <a:spAutoFit/>
          </a:bodyPr>
          <a:lstStyle/>
          <a:p>
            <a:pPr algn="ctr">
              <a:lnSpc>
                <a:spcPct val="100000"/>
              </a:lnSpc>
            </a:pPr>
            <a:r>
              <a:rPr sz="800" b="0">
                <a:solidFill>
                  <a:srgbClr val="5D6675"/>
                </a:solidFill>
                <a:latin typeface="Inter Medium"/>
              </a:rPr>
              <a:t>Dec 2026</a:t>
            </a:r>
          </a:p>
        </p:txBody>
      </p:sp>
      <p:sp>
        <p:nvSpPr>
          <p:cNvPr id="58" name="Isosceles Triangle 57"/>
          <p:cNvSpPr/>
          <p:nvPr/>
        </p:nvSpPr>
        <p:spPr>
          <a:xfrm rot="5400000">
            <a:off x="9573767" y="3456432"/>
            <a:ext cx="93268" cy="109728"/>
          </a:xfrm>
          <a:prstGeom prst="triangle">
            <a:avLst/>
          </a:prstGeom>
          <a:solidFill>
            <a:srgbClr val="4F46E5">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9715500" y="3090672"/>
            <a:ext cx="1609344" cy="841248"/>
          </a:xfrm>
          <a:prstGeom prst="roundRect">
            <a:avLst>
              <a:gd name="adj" fmla="val 14000"/>
            </a:avLst>
          </a:prstGeom>
          <a:solidFill>
            <a:srgbClr val="4F46E5"/>
          </a:solidFill>
          <a:ln>
            <a:no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861804" y="3200400"/>
            <a:ext cx="1325880" cy="182880"/>
          </a:xfrm>
          <a:prstGeom prst="rect">
            <a:avLst/>
          </a:prstGeom>
          <a:noFill/>
        </p:spPr>
        <p:txBody>
          <a:bodyPr wrap="square" anchor="t" lIns="18288" rIns="18288" tIns="9144" bIns="9144">
            <a:spAutoFit/>
          </a:bodyPr>
          <a:lstStyle/>
          <a:p>
            <a:pPr algn="l">
              <a:lnSpc>
                <a:spcPct val="100000"/>
              </a:lnSpc>
            </a:pPr>
            <a:r>
              <a:rPr sz="750" b="0" spc="200">
                <a:solidFill>
                  <a:srgbClr val="E0E7FF"/>
                </a:solidFill>
                <a:latin typeface="Inter Medium"/>
              </a:rPr>
              <a:t>PHASE 6</a:t>
            </a:r>
          </a:p>
        </p:txBody>
      </p:sp>
      <p:sp>
        <p:nvSpPr>
          <p:cNvPr id="61" name="TextBox 60"/>
          <p:cNvSpPr txBox="1"/>
          <p:nvPr/>
        </p:nvSpPr>
        <p:spPr>
          <a:xfrm>
            <a:off x="9861804" y="3401568"/>
            <a:ext cx="1371600" cy="457200"/>
          </a:xfrm>
          <a:prstGeom prst="rect">
            <a:avLst/>
          </a:prstGeom>
          <a:noFill/>
        </p:spPr>
        <p:txBody>
          <a:bodyPr wrap="square" anchor="t" lIns="18288" rIns="18288" tIns="9144" bIns="9144">
            <a:spAutoFit/>
          </a:bodyPr>
          <a:lstStyle/>
          <a:p>
            <a:pPr algn="l">
              <a:lnSpc>
                <a:spcPct val="100000"/>
              </a:lnSpc>
            </a:pPr>
            <a:r>
              <a:rPr sz="1050" b="0">
                <a:solidFill>
                  <a:srgbClr val="FFFFFF"/>
                </a:solidFill>
                <a:latin typeface="Poppins SemiBold"/>
              </a:rPr>
              <a:t>Startup Product</a:t>
            </a:r>
          </a:p>
        </p:txBody>
      </p:sp>
      <p:sp>
        <p:nvSpPr>
          <p:cNvPr id="62" name="TextBox 61"/>
          <p:cNvSpPr txBox="1"/>
          <p:nvPr/>
        </p:nvSpPr>
        <p:spPr>
          <a:xfrm>
            <a:off x="9715500" y="4005072"/>
            <a:ext cx="1609344" cy="201168"/>
          </a:xfrm>
          <a:prstGeom prst="rect">
            <a:avLst/>
          </a:prstGeom>
          <a:noFill/>
        </p:spPr>
        <p:txBody>
          <a:bodyPr wrap="square" anchor="t" lIns="18288" rIns="18288" tIns="9144" bIns="9144">
            <a:spAutoFit/>
          </a:bodyPr>
          <a:lstStyle/>
          <a:p>
            <a:pPr algn="ctr">
              <a:lnSpc>
                <a:spcPct val="100000"/>
              </a:lnSpc>
            </a:pPr>
            <a:r>
              <a:rPr sz="800" b="0">
                <a:solidFill>
                  <a:srgbClr val="5D6675"/>
                </a:solidFill>
                <a:latin typeface="Inter Medium"/>
              </a:rPr>
              <a:t>2027 →</a:t>
            </a:r>
          </a:p>
        </p:txBody>
      </p:sp>
      <p:sp>
        <p:nvSpPr>
          <p:cNvPr id="63" name="TextBox 62"/>
          <p:cNvSpPr txBox="1"/>
          <p:nvPr/>
        </p:nvSpPr>
        <p:spPr>
          <a:xfrm>
            <a:off x="841248" y="4407408"/>
            <a:ext cx="3657600" cy="219456"/>
          </a:xfrm>
          <a:prstGeom prst="rect">
            <a:avLst/>
          </a:prstGeom>
          <a:noFill/>
        </p:spPr>
        <p:txBody>
          <a:bodyPr wrap="square" anchor="t" lIns="18288" rIns="18288" tIns="9144" bIns="9144">
            <a:spAutoFit/>
          </a:bodyPr>
          <a:lstStyle/>
          <a:p>
            <a:pPr algn="l">
              <a:lnSpc>
                <a:spcPct val="100000"/>
              </a:lnSpc>
            </a:pPr>
            <a:r>
              <a:rPr sz="1000" b="0" spc="300">
                <a:solidFill>
                  <a:srgbClr val="4338CA"/>
                </a:solidFill>
                <a:latin typeface="Inter Medium"/>
              </a:rPr>
              <a:t>FUTURE VERSIONS</a:t>
            </a:r>
          </a:p>
        </p:txBody>
      </p:sp>
      <p:sp>
        <p:nvSpPr>
          <p:cNvPr id="64" name="Rounded Rectangle 63"/>
          <p:cNvSpPr/>
          <p:nvPr/>
        </p:nvSpPr>
        <p:spPr>
          <a:xfrm>
            <a:off x="822960" y="4700016"/>
            <a:ext cx="5029200" cy="1481328"/>
          </a:xfrm>
          <a:prstGeom prst="roundRect">
            <a:avLst>
              <a:gd name="adj" fmla="val 8000"/>
            </a:avLst>
          </a:prstGeom>
          <a:solidFill>
            <a:srgbClr val="FFFFFF"/>
          </a:solidFill>
          <a:ln w="9525">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1024128" y="4901184"/>
            <a:ext cx="420624" cy="420624"/>
          </a:xfrm>
          <a:prstGeom prst="roundRect">
            <a:avLst>
              <a:gd name="adj" fmla="val 24000"/>
            </a:avLst>
          </a:prstGeom>
          <a:solidFill>
            <a:srgbClr val="4F46E5">
              <a:alpha val="16000"/>
            </a:srgbClr>
          </a:solidFill>
          <a:ln w="9525">
            <a:solidFill>
              <a:srgbClr val="4F46E5">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200" b="1">
                <a:solidFill>
                  <a:srgbClr val="4338CA"/>
                </a:solidFill>
                <a:latin typeface="Poppins SemiBold"/>
              </a:rPr>
              <a:t>V2</a:t>
            </a:r>
          </a:p>
        </p:txBody>
      </p:sp>
      <p:sp>
        <p:nvSpPr>
          <p:cNvPr id="66" name="TextBox 65"/>
          <p:cNvSpPr txBox="1"/>
          <p:nvPr/>
        </p:nvSpPr>
        <p:spPr>
          <a:xfrm>
            <a:off x="1572768" y="4919472"/>
            <a:ext cx="3200400" cy="256032"/>
          </a:xfrm>
          <a:prstGeom prst="rect">
            <a:avLst/>
          </a:prstGeom>
          <a:noFill/>
        </p:spPr>
        <p:txBody>
          <a:bodyPr wrap="square" anchor="t" lIns="18288" rIns="18288" tIns="9144" bIns="9144">
            <a:spAutoFit/>
          </a:bodyPr>
          <a:lstStyle/>
          <a:p>
            <a:pPr algn="l">
              <a:lnSpc>
                <a:spcPct val="100000"/>
              </a:lnSpc>
            </a:pPr>
            <a:r>
              <a:rPr sz="1300" b="1">
                <a:solidFill>
                  <a:srgbClr val="121826"/>
                </a:solidFill>
                <a:latin typeface="Poppins SemiBold"/>
              </a:rPr>
              <a:t>Browser Expansion</a:t>
            </a:r>
          </a:p>
        </p:txBody>
      </p:sp>
      <p:sp>
        <p:nvSpPr>
          <p:cNvPr id="67" name="TextBox 66"/>
          <p:cNvSpPr txBox="1"/>
          <p:nvPr/>
        </p:nvSpPr>
        <p:spPr>
          <a:xfrm>
            <a:off x="1572768" y="5175504"/>
            <a:ext cx="3200400" cy="201168"/>
          </a:xfrm>
          <a:prstGeom prst="rect">
            <a:avLst/>
          </a:prstGeom>
          <a:noFill/>
        </p:spPr>
        <p:txBody>
          <a:bodyPr wrap="square" anchor="t" lIns="18288" rIns="18288" tIns="9144" bIns="9144">
            <a:spAutoFit/>
          </a:bodyPr>
          <a:lstStyle/>
          <a:p>
            <a:pPr algn="l">
              <a:lnSpc>
                <a:spcPct val="100000"/>
              </a:lnSpc>
            </a:pPr>
            <a:r>
              <a:rPr sz="850" b="0">
                <a:solidFill>
                  <a:srgbClr val="5D6675"/>
                </a:solidFill>
                <a:latin typeface="Inter"/>
              </a:rPr>
              <a:t>beyond Chrome MV3</a:t>
            </a:r>
          </a:p>
        </p:txBody>
      </p:sp>
      <p:sp>
        <p:nvSpPr>
          <p:cNvPr id="68" name="Rounded Rectangle 67"/>
          <p:cNvSpPr/>
          <p:nvPr/>
        </p:nvSpPr>
        <p:spPr>
          <a:xfrm>
            <a:off x="1024128" y="5559552"/>
            <a:ext cx="1024128" cy="329184"/>
          </a:xfrm>
          <a:prstGeom prst="roundRect">
            <a:avLst>
              <a:gd name="adj" fmla="val 50000"/>
            </a:avLst>
          </a:prstGeom>
          <a:solidFill>
            <a:srgbClr val="EDF0F5"/>
          </a:solidFill>
          <a:ln w="6350">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5D6675"/>
                </a:solidFill>
                <a:latin typeface="Inter Medium"/>
              </a:rPr>
              <a:t>Firefox</a:t>
            </a:r>
          </a:p>
        </p:txBody>
      </p:sp>
      <p:sp>
        <p:nvSpPr>
          <p:cNvPr id="69" name="Rounded Rectangle 68"/>
          <p:cNvSpPr/>
          <p:nvPr/>
        </p:nvSpPr>
        <p:spPr>
          <a:xfrm>
            <a:off x="2157984" y="5559552"/>
            <a:ext cx="1024128" cy="329184"/>
          </a:xfrm>
          <a:prstGeom prst="roundRect">
            <a:avLst>
              <a:gd name="adj" fmla="val 50000"/>
            </a:avLst>
          </a:prstGeom>
          <a:solidFill>
            <a:srgbClr val="EDF0F5"/>
          </a:solidFill>
          <a:ln w="6350">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5D6675"/>
                </a:solidFill>
                <a:latin typeface="Inter Medium"/>
              </a:rPr>
              <a:t>Edge</a:t>
            </a:r>
          </a:p>
        </p:txBody>
      </p:sp>
      <p:sp>
        <p:nvSpPr>
          <p:cNvPr id="70" name="Rounded Rectangle 69"/>
          <p:cNvSpPr/>
          <p:nvPr/>
        </p:nvSpPr>
        <p:spPr>
          <a:xfrm>
            <a:off x="3291840" y="5559552"/>
            <a:ext cx="1024128" cy="329184"/>
          </a:xfrm>
          <a:prstGeom prst="roundRect">
            <a:avLst>
              <a:gd name="adj" fmla="val 50000"/>
            </a:avLst>
          </a:prstGeom>
          <a:solidFill>
            <a:srgbClr val="EDF0F5"/>
          </a:solidFill>
          <a:ln w="6350">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950" b="0">
                <a:solidFill>
                  <a:srgbClr val="5D6675"/>
                </a:solidFill>
                <a:latin typeface="Inter Medium"/>
              </a:rPr>
              <a:t>Safari</a:t>
            </a:r>
          </a:p>
        </p:txBody>
      </p:sp>
      <p:sp>
        <p:nvSpPr>
          <p:cNvPr id="71" name="Rounded Rectangle 70"/>
          <p:cNvSpPr/>
          <p:nvPr/>
        </p:nvSpPr>
        <p:spPr>
          <a:xfrm>
            <a:off x="6053328" y="4700016"/>
            <a:ext cx="5330952" cy="1481328"/>
          </a:xfrm>
          <a:prstGeom prst="roundRect">
            <a:avLst>
              <a:gd name="adj" fmla="val 8000"/>
            </a:avLst>
          </a:prstGeom>
          <a:solidFill>
            <a:srgbClr val="FFFFFF"/>
          </a:solidFill>
          <a:ln w="9525">
            <a:solidFill>
              <a:srgbClr val="E3E7EE"/>
            </a:solid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6254496" y="4901184"/>
            <a:ext cx="420624" cy="420624"/>
          </a:xfrm>
          <a:prstGeom prst="roundRect">
            <a:avLst>
              <a:gd name="adj" fmla="val 24000"/>
            </a:avLst>
          </a:prstGeom>
          <a:solidFill>
            <a:srgbClr val="059669">
              <a:alpha val="16000"/>
            </a:srgbClr>
          </a:solidFill>
          <a:ln w="9525">
            <a:solidFill>
              <a:srgbClr val="059669">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200" b="1">
                <a:solidFill>
                  <a:srgbClr val="047857"/>
                </a:solidFill>
                <a:latin typeface="Poppins SemiBold"/>
              </a:rPr>
              <a:t>V3</a:t>
            </a:r>
          </a:p>
        </p:txBody>
      </p:sp>
      <p:sp>
        <p:nvSpPr>
          <p:cNvPr id="73" name="TextBox 72"/>
          <p:cNvSpPr txBox="1"/>
          <p:nvPr/>
        </p:nvSpPr>
        <p:spPr>
          <a:xfrm>
            <a:off x="6803136" y="4919472"/>
            <a:ext cx="3657600" cy="256032"/>
          </a:xfrm>
          <a:prstGeom prst="rect">
            <a:avLst/>
          </a:prstGeom>
          <a:noFill/>
        </p:spPr>
        <p:txBody>
          <a:bodyPr wrap="square" anchor="t" lIns="18288" rIns="18288" tIns="9144" bIns="9144">
            <a:spAutoFit/>
          </a:bodyPr>
          <a:lstStyle/>
          <a:p>
            <a:pPr algn="l">
              <a:lnSpc>
                <a:spcPct val="100000"/>
              </a:lnSpc>
            </a:pPr>
            <a:r>
              <a:rPr sz="1300" b="1">
                <a:solidFill>
                  <a:srgbClr val="121826"/>
                </a:solidFill>
                <a:latin typeface="Poppins SemiBold"/>
              </a:rPr>
              <a:t>Intelligence Expansion</a:t>
            </a:r>
          </a:p>
        </p:txBody>
      </p:sp>
      <p:sp>
        <p:nvSpPr>
          <p:cNvPr id="74" name="TextBox 73"/>
          <p:cNvSpPr txBox="1"/>
          <p:nvPr/>
        </p:nvSpPr>
        <p:spPr>
          <a:xfrm>
            <a:off x="6803136" y="5175504"/>
            <a:ext cx="3657600" cy="201168"/>
          </a:xfrm>
          <a:prstGeom prst="rect">
            <a:avLst/>
          </a:prstGeom>
          <a:noFill/>
        </p:spPr>
        <p:txBody>
          <a:bodyPr wrap="square" anchor="t" lIns="18288" rIns="18288" tIns="9144" bIns="9144">
            <a:spAutoFit/>
          </a:bodyPr>
          <a:lstStyle/>
          <a:p>
            <a:pPr algn="l">
              <a:lnSpc>
                <a:spcPct val="100000"/>
              </a:lnSpc>
            </a:pPr>
            <a:r>
              <a:rPr sz="850" b="0">
                <a:solidFill>
                  <a:srgbClr val="5D6675"/>
                </a:solidFill>
                <a:latin typeface="Inter"/>
              </a:rPr>
              <a:t>full career platform</a:t>
            </a:r>
          </a:p>
        </p:txBody>
      </p:sp>
      <p:sp>
        <p:nvSpPr>
          <p:cNvPr id="75" name="Rounded Rectangle 74"/>
          <p:cNvSpPr/>
          <p:nvPr/>
        </p:nvSpPr>
        <p:spPr>
          <a:xfrm>
            <a:off x="6254496" y="5504688"/>
            <a:ext cx="1554480" cy="292608"/>
          </a:xfrm>
          <a:prstGeom prst="roundRect">
            <a:avLst>
              <a:gd name="adj" fmla="val 50000"/>
            </a:avLst>
          </a:prstGeom>
          <a:solidFill>
            <a:srgbClr val="EDF0F5"/>
          </a:solidFill>
          <a:ln w="6350">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850" b="0">
                <a:solidFill>
                  <a:srgbClr val="5D6675"/>
                </a:solidFill>
                <a:latin typeface="Inter Medium"/>
              </a:rPr>
              <a:t>Resume Parser</a:t>
            </a:r>
          </a:p>
        </p:txBody>
      </p:sp>
      <p:sp>
        <p:nvSpPr>
          <p:cNvPr id="76" name="Rounded Rectangle 75"/>
          <p:cNvSpPr/>
          <p:nvPr/>
        </p:nvSpPr>
        <p:spPr>
          <a:xfrm>
            <a:off x="7918704" y="5504688"/>
            <a:ext cx="1554480" cy="292608"/>
          </a:xfrm>
          <a:prstGeom prst="roundRect">
            <a:avLst>
              <a:gd name="adj" fmla="val 50000"/>
            </a:avLst>
          </a:prstGeom>
          <a:solidFill>
            <a:srgbClr val="EDF0F5"/>
          </a:solidFill>
          <a:ln w="6350">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850" b="0">
                <a:solidFill>
                  <a:srgbClr val="5D6675"/>
                </a:solidFill>
                <a:latin typeface="Inter Medium"/>
              </a:rPr>
              <a:t>AI Resume Builder</a:t>
            </a:r>
          </a:p>
        </p:txBody>
      </p:sp>
      <p:sp>
        <p:nvSpPr>
          <p:cNvPr id="77" name="Rounded Rectangle 76"/>
          <p:cNvSpPr/>
          <p:nvPr/>
        </p:nvSpPr>
        <p:spPr>
          <a:xfrm>
            <a:off x="9582912" y="5504688"/>
            <a:ext cx="1554480" cy="292608"/>
          </a:xfrm>
          <a:prstGeom prst="roundRect">
            <a:avLst>
              <a:gd name="adj" fmla="val 50000"/>
            </a:avLst>
          </a:prstGeom>
          <a:solidFill>
            <a:srgbClr val="EDF0F5"/>
          </a:solidFill>
          <a:ln w="6350">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850" b="0">
                <a:solidFill>
                  <a:srgbClr val="5D6675"/>
                </a:solidFill>
                <a:latin typeface="Inter Medium"/>
              </a:rPr>
              <a:t>Job Recommendation</a:t>
            </a:r>
          </a:p>
        </p:txBody>
      </p:sp>
      <p:sp>
        <p:nvSpPr>
          <p:cNvPr id="78" name="Rounded Rectangle 77"/>
          <p:cNvSpPr/>
          <p:nvPr/>
        </p:nvSpPr>
        <p:spPr>
          <a:xfrm>
            <a:off x="6254496" y="5852160"/>
            <a:ext cx="1554480" cy="292608"/>
          </a:xfrm>
          <a:prstGeom prst="roundRect">
            <a:avLst>
              <a:gd name="adj" fmla="val 50000"/>
            </a:avLst>
          </a:prstGeom>
          <a:solidFill>
            <a:srgbClr val="EDF0F5"/>
          </a:solidFill>
          <a:ln w="6350">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850" b="0">
                <a:solidFill>
                  <a:srgbClr val="5D6675"/>
                </a:solidFill>
                <a:latin typeface="Inter Medium"/>
              </a:rPr>
              <a:t>ATS Optimization</a:t>
            </a:r>
          </a:p>
        </p:txBody>
      </p:sp>
      <p:sp>
        <p:nvSpPr>
          <p:cNvPr id="79" name="Rounded Rectangle 78"/>
          <p:cNvSpPr/>
          <p:nvPr/>
        </p:nvSpPr>
        <p:spPr>
          <a:xfrm>
            <a:off x="7918704" y="5852160"/>
            <a:ext cx="2103120" cy="292608"/>
          </a:xfrm>
          <a:prstGeom prst="roundRect">
            <a:avLst>
              <a:gd name="adj" fmla="val 50000"/>
            </a:avLst>
          </a:prstGeom>
          <a:solidFill>
            <a:srgbClr val="EDF0F5"/>
          </a:solidFill>
          <a:ln w="6350">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850" b="0">
                <a:solidFill>
                  <a:srgbClr val="5D6675"/>
                </a:solidFill>
                <a:latin typeface="Inter Medium"/>
              </a:rPr>
              <a:t>Professional Identity Cloud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7FA"/>
        </a:solidFill>
        <a:effectLst/>
      </p:bgPr>
    </p:bg>
    <p:spTree>
      <p:nvGrpSpPr>
        <p:cNvPr id="1" name=""/>
        <p:cNvGrpSpPr/>
        <p:nvPr/>
      </p:nvGrpSpPr>
      <p:grpSpPr/>
      <p:cxnSp>
        <p:nvCxnSpPr>
          <p:cNvPr id="2" name="Connector 1"/>
          <p:cNvCxnSpPr/>
          <p:nvPr/>
        </p:nvCxnSpPr>
        <p:spPr>
          <a:xfrm flipV="1">
            <a:off x="941832" y="484632"/>
            <a:ext cx="1463040" cy="182880"/>
          </a:xfrm>
          <a:prstGeom prst="line">
            <a:avLst/>
          </a:prstGeom>
          <a:ln w="9525">
            <a:solidFill>
              <a:srgbClr val="4F46E5">
                <a:alpha val="8000"/>
              </a:srgbClr>
            </a:solidFill>
          </a:ln>
          <a:effectLst/>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576072" y="667512"/>
            <a:ext cx="365760" cy="1188719"/>
          </a:xfrm>
          <a:prstGeom prst="line">
            <a:avLst/>
          </a:prstGeom>
          <a:ln w="9525">
            <a:solidFill>
              <a:srgbClr val="4F46E5">
                <a:alpha val="8000"/>
              </a:srgbClr>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0085832" y="576072"/>
            <a:ext cx="1280160" cy="274320"/>
          </a:xfrm>
          <a:prstGeom prst="line">
            <a:avLst/>
          </a:prstGeom>
          <a:ln w="9525">
            <a:solidFill>
              <a:srgbClr val="4F46E5">
                <a:alpha val="8000"/>
              </a:srgbClr>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1365992" y="576072"/>
            <a:ext cx="365760" cy="1188720"/>
          </a:xfrm>
          <a:prstGeom prst="line">
            <a:avLst/>
          </a:prstGeom>
          <a:ln w="9525">
            <a:solidFill>
              <a:srgbClr val="4F46E5">
                <a:alpha val="8000"/>
              </a:srgbClr>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67512" y="6062472"/>
            <a:ext cx="1280160" cy="365760"/>
          </a:xfrm>
          <a:prstGeom prst="line">
            <a:avLst/>
          </a:prstGeom>
          <a:ln w="9525">
            <a:solidFill>
              <a:srgbClr val="4F46E5">
                <a:alpha val="8000"/>
              </a:srgbClr>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634472" y="5422392"/>
            <a:ext cx="1005839" cy="822960"/>
          </a:xfrm>
          <a:prstGeom prst="line">
            <a:avLst/>
          </a:prstGeom>
          <a:ln w="9525">
            <a:solidFill>
              <a:srgbClr val="4F46E5">
                <a:alpha val="8000"/>
              </a:srgbClr>
            </a:solidFill>
          </a:ln>
          <a:effectLst/>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914400" y="640080"/>
            <a:ext cx="54864" cy="54864"/>
          </a:xfrm>
          <a:prstGeom prst="ellipse">
            <a:avLst/>
          </a:prstGeom>
          <a:solidFill>
            <a:srgbClr val="4F46E5">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377440" y="457200"/>
            <a:ext cx="54864" cy="54864"/>
          </a:xfrm>
          <a:prstGeom prst="ellipse">
            <a:avLst/>
          </a:prstGeom>
          <a:solidFill>
            <a:srgbClr val="4F46E5">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48640" y="1828800"/>
            <a:ext cx="54864" cy="54864"/>
          </a:xfrm>
          <a:prstGeom prst="ellipse">
            <a:avLst/>
          </a:prstGeom>
          <a:solidFill>
            <a:srgbClr val="4F46E5">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38560" y="548640"/>
            <a:ext cx="54864" cy="54864"/>
          </a:xfrm>
          <a:prstGeom prst="ellipse">
            <a:avLst/>
          </a:prstGeom>
          <a:solidFill>
            <a:srgbClr val="4F46E5">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058400" y="822960"/>
            <a:ext cx="54864" cy="54864"/>
          </a:xfrm>
          <a:prstGeom prst="ellipse">
            <a:avLst/>
          </a:prstGeom>
          <a:solidFill>
            <a:srgbClr val="4F46E5">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704320" y="1737360"/>
            <a:ext cx="54864" cy="54864"/>
          </a:xfrm>
          <a:prstGeom prst="ellipse">
            <a:avLst/>
          </a:prstGeom>
          <a:solidFill>
            <a:srgbClr val="4F46E5">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080" y="6035040"/>
            <a:ext cx="54864" cy="54864"/>
          </a:xfrm>
          <a:prstGeom prst="ellipse">
            <a:avLst/>
          </a:prstGeom>
          <a:solidFill>
            <a:srgbClr val="4F46E5">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920240" y="6400800"/>
            <a:ext cx="54864" cy="54864"/>
          </a:xfrm>
          <a:prstGeom prst="ellipse">
            <a:avLst/>
          </a:prstGeom>
          <a:solidFill>
            <a:srgbClr val="4F46E5">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607040" y="6217920"/>
            <a:ext cx="54864" cy="54864"/>
          </a:xfrm>
          <a:prstGeom prst="ellipse">
            <a:avLst/>
          </a:prstGeom>
          <a:solidFill>
            <a:srgbClr val="4F46E5">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612880" y="5394960"/>
            <a:ext cx="54864" cy="54864"/>
          </a:xfrm>
          <a:prstGeom prst="ellipse">
            <a:avLst/>
          </a:prstGeom>
          <a:solidFill>
            <a:srgbClr val="4F46E5">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818888" y="749808"/>
            <a:ext cx="2560320" cy="365760"/>
          </a:xfrm>
          <a:prstGeom prst="roundRect">
            <a:avLst>
              <a:gd name="adj" fmla="val 50000"/>
            </a:avLst>
          </a:prstGeom>
          <a:solidFill>
            <a:srgbClr val="4F46E5">
              <a:alpha val="14000"/>
            </a:srgbClr>
          </a:solidFill>
          <a:ln w="9525">
            <a:solidFill>
              <a:srgbClr val="4F46E5">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050" b="0" spc="300">
                <a:solidFill>
                  <a:srgbClr val="4338CA"/>
                </a:solidFill>
                <a:latin typeface="Inter Medium"/>
              </a:rPr>
              <a:t>CONCLUSION</a:t>
            </a:r>
          </a:p>
        </p:txBody>
      </p:sp>
      <p:sp>
        <p:nvSpPr>
          <p:cNvPr id="19" name="TextBox 18"/>
          <p:cNvSpPr txBox="1"/>
          <p:nvPr/>
        </p:nvSpPr>
        <p:spPr>
          <a:xfrm>
            <a:off x="1097280" y="1371600"/>
            <a:ext cx="9994392" cy="1554480"/>
          </a:xfrm>
          <a:prstGeom prst="rect">
            <a:avLst/>
          </a:prstGeom>
          <a:noFill/>
        </p:spPr>
        <p:txBody>
          <a:bodyPr wrap="square" anchor="t" lIns="18288" rIns="18288" tIns="9144" bIns="9144">
            <a:spAutoFit/>
          </a:bodyPr>
          <a:lstStyle/>
          <a:p>
            <a:pPr algn="ctr">
              <a:lnSpc>
                <a:spcPct val="112000"/>
              </a:lnSpc>
            </a:pPr>
            <a:r>
              <a:rPr sz="3400" b="1">
                <a:solidFill>
                  <a:srgbClr val="121826"/>
                </a:solidFill>
                <a:latin typeface="Poppins ExtraBold"/>
              </a:rPr>
              <a:t>One Professional Profile.</a:t>
            </a:r>
          </a:p>
          <a:p>
            <a:pPr algn="ctr">
              <a:lnSpc>
                <a:spcPct val="112000"/>
              </a:lnSpc>
            </a:pPr>
            <a:r>
              <a:rPr sz="3400" b="1">
                <a:solidFill>
                  <a:srgbClr val="4338CA"/>
                </a:solidFill>
                <a:latin typeface="Poppins ExtraBold"/>
              </a:rPr>
              <a:t>Unlimited Recruitment Platforms.</a:t>
            </a:r>
          </a:p>
        </p:txBody>
      </p:sp>
      <p:sp>
        <p:nvSpPr>
          <p:cNvPr id="20" name="Rounded Rectangle 19"/>
          <p:cNvSpPr/>
          <p:nvPr/>
        </p:nvSpPr>
        <p:spPr>
          <a:xfrm>
            <a:off x="822960" y="3246120"/>
            <a:ext cx="1783080" cy="548640"/>
          </a:xfrm>
          <a:prstGeom prst="roundRect">
            <a:avLst>
              <a:gd name="adj" fmla="val 20000"/>
            </a:avLst>
          </a:prstGeom>
          <a:solidFill>
            <a:srgbClr val="4F46E5"/>
          </a:solidFill>
          <a:ln>
            <a:noFill/>
          </a:ln>
          <a:effectLst/>
          <a:effectLst>
            <a:outerShdw blurRad="118872" dist="27432"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95000"/>
              </a:lnSpc>
            </a:pPr>
            <a:r>
              <a:rPr sz="1150" b="1">
                <a:solidFill>
                  <a:srgbClr val="FFFFFF"/>
                </a:solidFill>
                <a:latin typeface="Poppins SemiBold"/>
              </a:rPr>
              <a:t>Professional Identity</a:t>
            </a:r>
          </a:p>
        </p:txBody>
      </p:sp>
      <p:sp>
        <p:nvSpPr>
          <p:cNvPr id="21" name="Isosceles Triangle 20"/>
          <p:cNvSpPr/>
          <p:nvPr/>
        </p:nvSpPr>
        <p:spPr>
          <a:xfrm rot="5400000">
            <a:off x="2724912" y="3451860"/>
            <a:ext cx="116586" cy="137160"/>
          </a:xfrm>
          <a:prstGeom prst="triangle">
            <a:avLst/>
          </a:prstGeom>
          <a:solidFill>
            <a:srgbClr val="4F46E5">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017520" y="3246120"/>
            <a:ext cx="1783080" cy="548640"/>
          </a:xfrm>
          <a:prstGeom prst="roundRect">
            <a:avLst>
              <a:gd name="adj" fmla="val 20000"/>
            </a:avLst>
          </a:prstGeom>
          <a:solidFill>
            <a:srgbClr val="4F46E5">
              <a:alpha val="16000"/>
            </a:srgbClr>
          </a:solidFill>
          <a:ln w="12700">
            <a:solidFill>
              <a:srgbClr val="4F46E5">
                <a:alpha val="6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95000"/>
              </a:lnSpc>
            </a:pPr>
            <a:r>
              <a:rPr sz="1150" b="0">
                <a:solidFill>
                  <a:srgbClr val="4338CA"/>
                </a:solidFill>
                <a:latin typeface="Inter Medium"/>
              </a:rPr>
              <a:t>AI</a:t>
            </a:r>
          </a:p>
        </p:txBody>
      </p:sp>
      <p:sp>
        <p:nvSpPr>
          <p:cNvPr id="23" name="Isosceles Triangle 22"/>
          <p:cNvSpPr/>
          <p:nvPr/>
        </p:nvSpPr>
        <p:spPr>
          <a:xfrm rot="5400000">
            <a:off x="4919472" y="3451860"/>
            <a:ext cx="116586" cy="137160"/>
          </a:xfrm>
          <a:prstGeom prst="triangle">
            <a:avLst/>
          </a:prstGeom>
          <a:solidFill>
            <a:srgbClr val="4F46E5">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212080" y="3246120"/>
            <a:ext cx="1783080" cy="548640"/>
          </a:xfrm>
          <a:prstGeom prst="roundRect">
            <a:avLst>
              <a:gd name="adj" fmla="val 20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95000"/>
              </a:lnSpc>
            </a:pPr>
            <a:r>
              <a:rPr sz="1150" b="0">
                <a:solidFill>
                  <a:srgbClr val="121826"/>
                </a:solidFill>
                <a:latin typeface="Inter Medium"/>
              </a:rPr>
              <a:t>Browser</a:t>
            </a:r>
          </a:p>
        </p:txBody>
      </p:sp>
      <p:sp>
        <p:nvSpPr>
          <p:cNvPr id="25" name="Isosceles Triangle 24"/>
          <p:cNvSpPr/>
          <p:nvPr/>
        </p:nvSpPr>
        <p:spPr>
          <a:xfrm rot="5400000">
            <a:off x="7114032" y="3451860"/>
            <a:ext cx="116586" cy="137160"/>
          </a:xfrm>
          <a:prstGeom prst="triangle">
            <a:avLst/>
          </a:prstGeom>
          <a:solidFill>
            <a:srgbClr val="4F46E5">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406640" y="3246120"/>
            <a:ext cx="1783080" cy="548640"/>
          </a:xfrm>
          <a:prstGeom prst="roundRect">
            <a:avLst>
              <a:gd name="adj" fmla="val 20000"/>
            </a:avLst>
          </a:prstGeom>
          <a:solidFill>
            <a:srgbClr val="FFFFFF"/>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95000"/>
              </a:lnSpc>
            </a:pPr>
            <a:r>
              <a:rPr sz="1150" b="0">
                <a:solidFill>
                  <a:srgbClr val="121826"/>
                </a:solidFill>
                <a:latin typeface="Inter Medium"/>
              </a:rPr>
              <a:t>Recruitment</a:t>
            </a:r>
          </a:p>
        </p:txBody>
      </p:sp>
      <p:sp>
        <p:nvSpPr>
          <p:cNvPr id="27" name="Isosceles Triangle 26"/>
          <p:cNvSpPr/>
          <p:nvPr/>
        </p:nvSpPr>
        <p:spPr>
          <a:xfrm rot="5400000">
            <a:off x="9308592" y="3451860"/>
            <a:ext cx="116586" cy="137160"/>
          </a:xfrm>
          <a:prstGeom prst="triangle">
            <a:avLst/>
          </a:prstGeom>
          <a:solidFill>
            <a:srgbClr val="4F46E5">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601200" y="3246120"/>
            <a:ext cx="1783080" cy="548640"/>
          </a:xfrm>
          <a:prstGeom prst="roundRect">
            <a:avLst>
              <a:gd name="adj" fmla="val 20000"/>
            </a:avLst>
          </a:prstGeom>
          <a:solidFill>
            <a:srgbClr val="059669">
              <a:alpha val="12000"/>
            </a:srgbClr>
          </a:solidFill>
          <a:ln w="12700">
            <a:solidFill>
              <a:srgbClr val="059669">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95000"/>
              </a:lnSpc>
            </a:pPr>
            <a:r>
              <a:rPr sz="1150" b="0">
                <a:solidFill>
                  <a:srgbClr val="047857"/>
                </a:solidFill>
                <a:latin typeface="Inter Medium"/>
              </a:rPr>
              <a:t>Future</a:t>
            </a:r>
          </a:p>
        </p:txBody>
      </p:sp>
      <p:sp>
        <p:nvSpPr>
          <p:cNvPr id="29" name="TextBox 28"/>
          <p:cNvSpPr txBox="1"/>
          <p:nvPr/>
        </p:nvSpPr>
        <p:spPr>
          <a:xfrm>
            <a:off x="1097280" y="4251960"/>
            <a:ext cx="9994392" cy="457200"/>
          </a:xfrm>
          <a:prstGeom prst="rect">
            <a:avLst/>
          </a:prstGeom>
          <a:noFill/>
        </p:spPr>
        <p:txBody>
          <a:bodyPr wrap="square" anchor="t" lIns="18288" rIns="18288" tIns="9144" bIns="9144">
            <a:spAutoFit/>
          </a:bodyPr>
          <a:lstStyle/>
          <a:p>
            <a:pPr algn="ctr">
              <a:lnSpc>
                <a:spcPct val="100000"/>
              </a:lnSpc>
            </a:pPr>
            <a:r>
              <a:rPr sz="2100" b="1">
                <a:solidFill>
                  <a:srgbClr val="121826"/>
                </a:solidFill>
                <a:latin typeface="Poppins ExtraBold"/>
              </a:rPr>
              <a:t>Thank You.</a:t>
            </a:r>
          </a:p>
        </p:txBody>
      </p:sp>
      <p:sp>
        <p:nvSpPr>
          <p:cNvPr id="30" name="Rounded Rectangle 29"/>
          <p:cNvSpPr/>
          <p:nvPr/>
        </p:nvSpPr>
        <p:spPr>
          <a:xfrm>
            <a:off x="5001768" y="4892040"/>
            <a:ext cx="2194560" cy="438912"/>
          </a:xfrm>
          <a:prstGeom prst="roundRect">
            <a:avLst>
              <a:gd name="adj" fmla="val 50000"/>
            </a:avLst>
          </a:prstGeom>
          <a:solidFill>
            <a:srgbClr val="4F46E5">
              <a:alpha val="14000"/>
            </a:srgbClr>
          </a:solidFill>
          <a:ln w="9525">
            <a:solidFill>
              <a:srgbClr val="4F46E5">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200" b="0">
                <a:solidFill>
                  <a:srgbClr val="4338CA"/>
                </a:solidFill>
                <a:latin typeface="Poppins SemiBold"/>
              </a:rPr>
              <a:t>Questions &amp; Discussion</a:t>
            </a:r>
          </a:p>
        </p:txBody>
      </p:sp>
      <p:cxnSp>
        <p:nvCxnSpPr>
          <p:cNvPr id="31" name="Connector 30"/>
          <p:cNvCxnSpPr/>
          <p:nvPr/>
        </p:nvCxnSpPr>
        <p:spPr>
          <a:xfrm>
            <a:off x="3108960" y="5623560"/>
            <a:ext cx="5971032" cy="0"/>
          </a:xfrm>
          <a:prstGeom prst="line">
            <a:avLst/>
          </a:prstGeom>
          <a:ln w="9525">
            <a:solidFill>
              <a:srgbClr val="E3E7EE">
                <a:alpha val="70000"/>
              </a:srgbClr>
            </a:solidFill>
          </a:ln>
          <a:effectLst/>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5824728" y="5779008"/>
            <a:ext cx="548640" cy="548640"/>
          </a:xfrm>
          <a:prstGeom prst="roundRect">
            <a:avLst>
              <a:gd name="adj" fmla="val 22000"/>
            </a:avLst>
          </a:prstGeom>
          <a:solidFill>
            <a:srgbClr val="EDF0F5"/>
          </a:solidFill>
          <a:ln w="9525">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pPr>
            <a:r>
              <a:rPr sz="1250" b="1">
                <a:solidFill>
                  <a:srgbClr val="4338CA"/>
                </a:solidFill>
                <a:latin typeface="Poppins SemiBold"/>
              </a:rPr>
              <a:t>NIT</a:t>
            </a:r>
          </a:p>
        </p:txBody>
      </p:sp>
      <p:sp>
        <p:nvSpPr>
          <p:cNvPr id="33" name="TextBox 32"/>
          <p:cNvSpPr txBox="1"/>
          <p:nvPr/>
        </p:nvSpPr>
        <p:spPr>
          <a:xfrm>
            <a:off x="1984248" y="6419088"/>
            <a:ext cx="8229600" cy="237744"/>
          </a:xfrm>
          <a:prstGeom prst="rect">
            <a:avLst/>
          </a:prstGeom>
          <a:noFill/>
        </p:spPr>
        <p:txBody>
          <a:bodyPr wrap="square" anchor="t" lIns="18288" rIns="18288" tIns="9144" bIns="9144">
            <a:spAutoFit/>
          </a:bodyPr>
          <a:lstStyle/>
          <a:p>
            <a:pPr algn="ctr">
              <a:lnSpc>
                <a:spcPct val="100000"/>
              </a:lnSpc>
            </a:pPr>
            <a:r>
              <a:rPr sz="850" b="0">
                <a:solidFill>
                  <a:srgbClr val="5D6675"/>
                </a:solidFill>
                <a:latin typeface="Inter Medium"/>
              </a:rPr>
              <a:t>An Intelligent Semantic Professional Identity Framework for Cross-Platform Recruitment Form Understanding and Browser-Assisted Autofill</a:t>
            </a:r>
          </a:p>
        </p:txBody>
      </p:sp>
      <p:sp>
        <p:nvSpPr>
          <p:cNvPr id="34" name="TextBox 33"/>
          <p:cNvSpPr txBox="1"/>
          <p:nvPr/>
        </p:nvSpPr>
        <p:spPr>
          <a:xfrm>
            <a:off x="10881360" y="6473952"/>
            <a:ext cx="1005840" cy="274320"/>
          </a:xfrm>
          <a:prstGeom prst="rect">
            <a:avLst/>
          </a:prstGeom>
          <a:noFill/>
        </p:spPr>
        <p:txBody>
          <a:bodyPr wrap="square" anchor="t" lIns="18288" rIns="18288" tIns="9144" bIns="9144">
            <a:spAutoFit/>
          </a:bodyPr>
          <a:lstStyle/>
          <a:p>
            <a:pPr algn="r">
              <a:lnSpc>
                <a:spcPct val="100000"/>
              </a:lnSpc>
            </a:pPr>
            <a:r>
              <a:rPr sz="1000" b="0">
                <a:solidFill>
                  <a:srgbClr val="5D6675"/>
                </a:solidFill>
                <a:latin typeface="Inter Medium"/>
              </a:rPr>
              <a:t>13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